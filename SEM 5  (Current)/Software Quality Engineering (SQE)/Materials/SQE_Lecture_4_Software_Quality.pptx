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47" r:id="rId2"/>
    <p:sldId id="257" r:id="rId3"/>
    <p:sldId id="344" r:id="rId4"/>
    <p:sldId id="372" r:id="rId5"/>
    <p:sldId id="373" r:id="rId6"/>
    <p:sldId id="374" r:id="rId7"/>
    <p:sldId id="348" r:id="rId8"/>
    <p:sldId id="375" r:id="rId9"/>
    <p:sldId id="376" r:id="rId10"/>
    <p:sldId id="377" r:id="rId11"/>
    <p:sldId id="378" r:id="rId12"/>
    <p:sldId id="379" r:id="rId13"/>
    <p:sldId id="314" r:id="rId14"/>
    <p:sldId id="31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>
        <p:scale>
          <a:sx n="87" d="100"/>
          <a:sy n="87" d="100"/>
        </p:scale>
        <p:origin x="-514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CFE28-41E2-4209-938D-807C0FF82EB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8D36E-D79D-465A-9C56-D1603655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29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48CE0-F9AD-4A5F-B9CB-BD53A74CFE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19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48CE0-F9AD-4A5F-B9CB-BD53A74CFE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110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48CE0-F9AD-4A5F-B9CB-BD53A74CFE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11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C287C0-8844-43D6-82FA-5FE2D327E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DDCD7B3-F73A-4EEE-B479-B39309817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BC751E7-5BCB-4D81-B0E1-8D42813F5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A58D-2A4C-420F-8BC1-095F1DF53924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13670C0-8F2E-4627-907A-7B1C4C50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8703B08-9B62-4895-8119-C1B8C807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2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38D6461-3C5A-4A64-AD16-4A09AB7D2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D7896-8992-410F-B9F1-F6F85B60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58D9DEC-AF66-434C-9ABA-65F1BD85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D356-5C4B-47D7-AF8A-948F8C253765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087DE44-F4BF-4B94-8909-23BB15CB5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3B5DB7B-2B5B-4B32-94CF-CD9D67E3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1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4250FB-E2DF-45BB-9971-62F98AE7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5C522B-00C3-4087-91EA-58DE5769C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3985D9C-FD1E-4EC9-B299-2E9AAAD6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F68B-B82B-4ADB-9F2A-088F90DF9C3B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4C2AE4B-43F5-47E6-8187-93FDDE09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0899C0-F28E-4F92-90E3-D2482F7BB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0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BFCD8B-95C8-40E5-8A0C-E5BA3692E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19C88D-776A-40A6-8DA4-EE7B7FCCF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7F16495-6722-41DC-845D-AD80D504B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00C20AE-1AB9-4E6C-AEDD-859A3F704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9E54-BFF9-48E9-84F8-06ADFAEF8585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4350383-FECF-474D-B875-9A1274F3A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8E9C92E-F51B-4659-84B8-33A3A05D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30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50FE0F-DFF0-40B5-8928-0A2C15C2A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3A52696-C7D9-4A2B-A46F-5D70D8B43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9E35E27-1AC2-4532-BB07-8DEB57BCE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E149BD8-49B5-4FD0-B1DF-D5C8685D3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71FB2FA5-EF45-4C49-AACF-45D17CFFC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41FF247-0E79-4344-B279-E302CC3B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B253F-0CCF-40ED-948B-68FF5AEBEFDA}" type="datetime1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5D63F0FB-C346-40DB-8012-ECB08514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0353C08-DB58-4315-8868-50208379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6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559B29-3617-474A-9DEB-832003300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8447382-4B94-443B-835E-01A41378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551E-4977-4708-9D03-7BA1468D7DBB}" type="datetime1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21D8742-0860-4CBA-9471-6AA6D452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99B9260-06B7-4F3E-AC0F-2974FDF6A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62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665CFCE-E032-46A1-AD47-A3A2324E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D97C-BC33-41C0-BF1F-A2B9C695E72E}" type="datetime1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DD5BDAE-E628-495B-83A2-096A3CE9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028C6CF-8532-4D4B-8BCC-D58E3EC1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6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EE2F1B-4E3B-4DDD-A5F0-35DE06C5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2444EE9-10A2-4B62-A38A-A187A64DA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766DB3A-B449-48EB-8A7D-7A7F71964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52FC067-2261-4BF0-A481-3CC4E004F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E5555-17A4-432B-AD8A-D1F62A2F7BCA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23E7505-D7EF-4418-8958-BE1754749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B6AB268-B25E-4476-881C-FBEFA1B8A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2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CC24AC-E495-440B-A1BC-C6531022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9BF307B-DF1B-4661-91DA-240D0D07C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0AC7264-4258-4594-A543-631EDE793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6B0AF07-3D3E-4EFB-AB7E-150B50AC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ADAD-9086-42EC-8A7F-C779F381BCC1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A919445-EA65-4FEA-BF60-147F1C91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A26CF07-F013-4B00-A958-862A0D08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01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9FF7858-C58D-45A1-A065-DB629816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C00046F-3250-4186-B430-522DAA45C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76509E1-84D6-42BF-8501-1DD8743CB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923F-29BC-4418-81B4-EBA12F20B1F4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099738A-BE22-41A3-888C-CD8BE734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D521171-6904-4532-AFE0-1DA35A5A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3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B87F2E51-2AD6-43D4-9D9E-2D188D2C7C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ACF6006-BE93-4D4C-AD50-2B2800AA4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553C4C5-15E0-40B0-A83B-68416691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815-029E-4494-A115-22800C80F744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131AF6C-8BCB-4871-A9C2-6D1AE893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40C3E36-63C5-4CAF-A420-9D0C9A8B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4A36D8B5-5433-4104-A2D4-D096895E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FB8C331-67B5-42F2-95F1-6DC3B3BC6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147EBE2-792B-4BE5-9EE5-4587A7A7A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EEF0A-2703-4387-BF00-01487F7C0C78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2CAA961-1653-40F5-A49E-F92867866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4F91C4E-8687-4234-B530-3B86663C1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4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FA624D-D77F-4746-AB43-5C687792E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Box 5">
            <a:extLst>
              <a:ext uri="{FF2B5EF4-FFF2-40B4-BE49-F238E27FC236}">
                <a16:creationId xmlns="" xmlns:a16="http://schemas.microsoft.com/office/drawing/2014/main" id="{2D9AF63B-2427-4F39-93B8-2F8191EBD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498" y="1492250"/>
            <a:ext cx="8640960" cy="22247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b="1" cap="all" dirty="0" smtClean="0"/>
              <a:t>SOFTWARE QUALITY ENGINEERING</a:t>
            </a:r>
          </a:p>
          <a:p>
            <a:pPr algn="ctr"/>
            <a:r>
              <a:rPr lang="en-US" sz="2400" b="1" dirty="0" smtClean="0">
                <a:latin typeface="+mj-lt"/>
                <a:cs typeface="Times New Roman" pitchFamily="18" charset="0"/>
              </a:rPr>
              <a:t>BS </a:t>
            </a:r>
            <a:r>
              <a:rPr lang="en-US" sz="2400" b="1" dirty="0">
                <a:latin typeface="+mj-lt"/>
                <a:cs typeface="Times New Roman" pitchFamily="18" charset="0"/>
              </a:rPr>
              <a:t>Software </a:t>
            </a:r>
            <a:r>
              <a:rPr lang="en-US" sz="2400" b="1" dirty="0" smtClean="0">
                <a:latin typeface="+mj-lt"/>
                <a:cs typeface="Times New Roman" pitchFamily="18" charset="0"/>
              </a:rPr>
              <a:t>Engineering </a:t>
            </a:r>
            <a:endParaRPr lang="en-US" sz="2400" b="1" dirty="0">
              <a:latin typeface="+mj-lt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+mj-lt"/>
                <a:cs typeface="Times New Roman" pitchFamily="18" charset="0"/>
              </a:rPr>
              <a:t>Semester</a:t>
            </a:r>
            <a:r>
              <a:rPr lang="en-US" sz="2400" b="1" dirty="0">
                <a:latin typeface="+mj-lt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+mj-lt"/>
                <a:cs typeface="Times New Roman" pitchFamily="18" charset="0"/>
              </a:rPr>
              <a:t>Fall 2025</a:t>
            </a:r>
            <a:endParaRPr lang="en-US" sz="2400" b="1" dirty="0">
              <a:latin typeface="+mj-lt"/>
              <a:cs typeface="Times New Roman" pitchFamily="18" charset="0"/>
            </a:endParaRPr>
          </a:p>
          <a:p>
            <a:pPr algn="ctr"/>
            <a:r>
              <a:rPr lang="en-US" sz="2400" b="1" dirty="0">
                <a:latin typeface="+mj-lt"/>
                <a:cs typeface="Times New Roman" pitchFamily="18" charset="0"/>
              </a:rPr>
              <a:t>Credit Hours </a:t>
            </a:r>
            <a:r>
              <a:rPr lang="en-US" sz="2400" b="1" dirty="0" smtClean="0">
                <a:latin typeface="+mj-lt"/>
                <a:cs typeface="Times New Roman" pitchFamily="18" charset="0"/>
              </a:rPr>
              <a:t>2-1</a:t>
            </a:r>
            <a:endParaRPr lang="en-US" sz="2400" b="1" dirty="0">
              <a:latin typeface="+mj-lt"/>
              <a:cs typeface="Times New Roman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078E15FD-69F7-4AA8-8766-4760730F07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38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dirty="0">
                <a:latin typeface="+mj-lt"/>
                <a:cs typeface="Times New Roman" pitchFamily="18" charset="0"/>
              </a:rPr>
              <a:t>Instructor: </a:t>
            </a:r>
            <a:r>
              <a:rPr lang="en-US" sz="2400" dirty="0" err="1" smtClean="0">
                <a:latin typeface="+mj-lt"/>
                <a:cs typeface="Times New Roman" pitchFamily="18" charset="0"/>
              </a:rPr>
              <a:t>Naseer</a:t>
            </a:r>
            <a:r>
              <a:rPr lang="en-US" sz="2400" dirty="0" smtClean="0">
                <a:latin typeface="+mj-lt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  <a:cs typeface="Times New Roman" pitchFamily="18" charset="0"/>
              </a:rPr>
              <a:t>Jan</a:t>
            </a:r>
          </a:p>
          <a:p>
            <a:pPr algn="ctr"/>
            <a:r>
              <a:rPr lang="en-US" sz="2400" dirty="0">
                <a:latin typeface="+mj-lt"/>
                <a:cs typeface="Times New Roman" pitchFamily="18" charset="0"/>
              </a:rPr>
              <a:t>Department of </a:t>
            </a:r>
            <a:r>
              <a:rPr lang="en-US" sz="2400" dirty="0" smtClean="0">
                <a:latin typeface="+mj-lt"/>
                <a:cs typeface="Times New Roman" pitchFamily="18" charset="0"/>
              </a:rPr>
              <a:t>Creative Technologies</a:t>
            </a:r>
            <a:endParaRPr lang="en-US" sz="2400" dirty="0">
              <a:latin typeface="+mj-lt"/>
              <a:cs typeface="Times New Roman" pitchFamily="18" charset="0"/>
            </a:endParaRPr>
          </a:p>
          <a:p>
            <a:r>
              <a:rPr lang="en-US" dirty="0" smtClean="0">
                <a:latin typeface="+mj-lt"/>
                <a:cs typeface="Times New Roman" pitchFamily="18" charset="0"/>
              </a:rPr>
              <a:t>Air University</a:t>
            </a:r>
            <a:endParaRPr lang="en-US" sz="2400" dirty="0">
              <a:latin typeface="+mj-lt"/>
              <a:cs typeface="Times New Roman" pitchFamily="18" charset="0"/>
            </a:endParaRPr>
          </a:p>
          <a:p>
            <a:pPr algn="ctr"/>
            <a:r>
              <a:rPr lang="en-US" dirty="0" smtClean="0">
                <a:latin typeface="+mj-lt"/>
                <a:cs typeface="Times New Roman" pitchFamily="18" charset="0"/>
              </a:rPr>
              <a:t>Islamabad</a:t>
            </a:r>
            <a:r>
              <a:rPr lang="en-US" sz="2400" dirty="0" smtClean="0">
                <a:latin typeface="+mj-lt"/>
                <a:cs typeface="Times New Roman" pitchFamily="18" charset="0"/>
              </a:rPr>
              <a:t>, </a:t>
            </a:r>
            <a:r>
              <a:rPr lang="en-US" sz="2400" dirty="0">
                <a:latin typeface="+mj-lt"/>
                <a:cs typeface="Times New Roman" pitchFamily="18" charset="0"/>
              </a:rPr>
              <a:t>Pakistan</a:t>
            </a:r>
          </a:p>
          <a:p>
            <a:pPr algn="ctr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5F02262-9B1F-47CD-B14C-44FED852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010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sv-SE" sz="3200" b="1" dirty="0" smtClean="0">
                <a:cs typeface="Times New Roman" pitchFamily="18" charset="0"/>
              </a:rPr>
              <a:t>Agenda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sz="2400" dirty="0"/>
              <a:t>Week 1 Review</a:t>
            </a: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n-US" sz="2200" b="1" dirty="0" smtClean="0"/>
              <a:t>Subtopics</a:t>
            </a:r>
            <a:endParaRPr lang="en-US" sz="2200" b="1" dirty="0"/>
          </a:p>
          <a:p>
            <a:pPr marL="457200" lvl="1" indent="0" algn="just" fontAlgn="base">
              <a:buNone/>
            </a:pPr>
            <a:endParaRPr lang="en-US" sz="1800" dirty="0"/>
          </a:p>
          <a:p>
            <a:pPr marL="457200" lvl="1" indent="0" algn="just" fontAlgn="base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endParaRPr lang="sv-SE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4675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13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Software Quality Assurance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QA as Dealing with Defect </a:t>
            </a:r>
            <a:br>
              <a:rPr lang="en-US" sz="2400" b="1" dirty="0"/>
            </a:br>
            <a:endParaRPr lang="en-US" sz="24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Quality Assurance (QA) activities attempt </a:t>
            </a:r>
            <a:r>
              <a:rPr lang="en-US" sz="2400" dirty="0"/>
              <a:t>to prevent, eliminate, reduce, or contain various specific problems </a:t>
            </a:r>
            <a:r>
              <a:rPr lang="en-US" sz="2400" dirty="0" smtClean="0"/>
              <a:t>associated </a:t>
            </a:r>
            <a:r>
              <a:rPr lang="en-US" sz="2400" dirty="0"/>
              <a:t>with different aspects of defects. We can classify these </a:t>
            </a:r>
            <a:r>
              <a:rPr lang="en-US" sz="2400" b="1" dirty="0"/>
              <a:t>QA </a:t>
            </a:r>
            <a:r>
              <a:rPr lang="en-US" sz="2400" dirty="0"/>
              <a:t>alternatives into the </a:t>
            </a:r>
            <a:r>
              <a:rPr lang="en-US" sz="2400" dirty="0" smtClean="0"/>
              <a:t>following three </a:t>
            </a:r>
            <a:r>
              <a:rPr lang="en-US" sz="2400" dirty="0"/>
              <a:t>generic categories: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Defect prevention through error blocking or error source </a:t>
            </a:r>
            <a:r>
              <a:rPr lang="en-US" sz="2400" dirty="0" smtClean="0"/>
              <a:t>removal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Defect reduction </a:t>
            </a:r>
            <a:r>
              <a:rPr lang="en-US" sz="2400" dirty="0" smtClean="0"/>
              <a:t>through fault </a:t>
            </a:r>
            <a:r>
              <a:rPr lang="en-US" sz="2400" dirty="0"/>
              <a:t>detection and removal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Defect containment </a:t>
            </a:r>
            <a:r>
              <a:rPr lang="en-US" sz="2400" dirty="0" smtClean="0"/>
              <a:t>through failure </a:t>
            </a:r>
            <a:r>
              <a:rPr lang="en-US" sz="2400" dirty="0"/>
              <a:t>prevention and </a:t>
            </a:r>
            <a:r>
              <a:rPr lang="en-US" sz="2400" dirty="0" smtClean="0"/>
              <a:t>containment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v-SE" sz="22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13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cs typeface="Times New Roman" pitchFamily="18" charset="0"/>
              </a:rPr>
              <a:t>QA as Dealing with Defect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Defect </a:t>
            </a:r>
            <a:r>
              <a:rPr lang="en-US" sz="2400" b="1" dirty="0"/>
              <a:t>prevention through error blocking or error source </a:t>
            </a:r>
            <a:r>
              <a:rPr lang="en-US" sz="2400" b="1" dirty="0" smtClean="0"/>
              <a:t>removal</a:t>
            </a:r>
          </a:p>
          <a:p>
            <a:pPr marL="0" indent="0">
              <a:buNone/>
            </a:pPr>
            <a:r>
              <a:rPr lang="en-US" sz="2400" dirty="0"/>
              <a:t>These QA activities prevent certain types of faults from being injected into the software. </a:t>
            </a:r>
            <a:r>
              <a:rPr lang="en-US" sz="2400" dirty="0" smtClean="0"/>
              <a:t>Since errors </a:t>
            </a:r>
            <a:r>
              <a:rPr lang="en-US" sz="2400" dirty="0"/>
              <a:t>are the missing or incorrect human actions that lead to the injection of </a:t>
            </a:r>
            <a:r>
              <a:rPr lang="en-US" sz="2400" dirty="0" smtClean="0"/>
              <a:t>faults into </a:t>
            </a:r>
            <a:r>
              <a:rPr lang="en-US" sz="2400" dirty="0"/>
              <a:t>software systems, we can directly correct or block these actions, or remove </a:t>
            </a:r>
            <a:r>
              <a:rPr lang="en-US" sz="2400" dirty="0" smtClean="0"/>
              <a:t>the underlying </a:t>
            </a:r>
            <a:r>
              <a:rPr lang="en-US" sz="2400" dirty="0"/>
              <a:t>causes for them.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defect </a:t>
            </a:r>
            <a:r>
              <a:rPr lang="en-US" sz="2400" dirty="0"/>
              <a:t>prevention can be done in two </a:t>
            </a:r>
            <a:r>
              <a:rPr lang="en-US" sz="2400" dirty="0" smtClean="0"/>
              <a:t>generic ways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- Eliminating certain error </a:t>
            </a:r>
            <a:r>
              <a:rPr lang="en-US" sz="2400" dirty="0" smtClean="0"/>
              <a:t>sources: eliminating ambiguities or correcting human misconceptions</a:t>
            </a:r>
            <a:r>
              <a:rPr lang="en-US" sz="2400" dirty="0"/>
              <a:t>, which are the root causes for the errors.</a:t>
            </a:r>
          </a:p>
          <a:p>
            <a:pPr marL="0" indent="0">
              <a:buNone/>
            </a:pPr>
            <a:r>
              <a:rPr lang="en-US" sz="2400" dirty="0"/>
              <a:t>- </a:t>
            </a:r>
            <a:r>
              <a:rPr lang="en-US" sz="2400" dirty="0" smtClean="0"/>
              <a:t>Fault prevention </a:t>
            </a:r>
            <a:r>
              <a:rPr lang="en-US" sz="2400" dirty="0"/>
              <a:t>or </a:t>
            </a:r>
            <a:r>
              <a:rPr lang="en-US" sz="2400" dirty="0" smtClean="0"/>
              <a:t>blocking: by </a:t>
            </a:r>
            <a:r>
              <a:rPr lang="en-US" sz="2400" dirty="0"/>
              <a:t>directly </a:t>
            </a:r>
            <a:r>
              <a:rPr lang="en-US" sz="2400" dirty="0" smtClean="0"/>
              <a:t>correcting or </a:t>
            </a:r>
            <a:r>
              <a:rPr lang="en-US" sz="2400" dirty="0"/>
              <a:t>blocking these missing </a:t>
            </a:r>
            <a:r>
              <a:rPr lang="en-US" sz="2400" dirty="0" smtClean="0"/>
              <a:t>or incorrect </a:t>
            </a:r>
            <a:r>
              <a:rPr lang="en-US" sz="2400" dirty="0"/>
              <a:t>human actions. This </a:t>
            </a:r>
            <a:r>
              <a:rPr lang="en-US" sz="2400" dirty="0" smtClean="0"/>
              <a:t>group of </a:t>
            </a:r>
            <a:r>
              <a:rPr lang="en-US" sz="2400" dirty="0"/>
              <a:t>techniques breaks the causal </a:t>
            </a:r>
            <a:r>
              <a:rPr lang="en-US" sz="2400" dirty="0" smtClean="0"/>
              <a:t>relation between </a:t>
            </a:r>
            <a:r>
              <a:rPr lang="en-US" sz="2400" dirty="0"/>
              <a:t>error sources and faults through the use of certain tools and technologies</a:t>
            </a:r>
            <a:r>
              <a:rPr lang="en-US" sz="2400" dirty="0" smtClean="0"/>
              <a:t>, enforcement </a:t>
            </a:r>
            <a:r>
              <a:rPr lang="en-US" sz="2400" dirty="0"/>
              <a:t>of certain process and product standards, etc.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v-SE" sz="22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57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cs typeface="Times New Roman" pitchFamily="18" charset="0"/>
              </a:rPr>
              <a:t>QA as Dealing with Defect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Defect </a:t>
            </a:r>
            <a:r>
              <a:rPr lang="en-US" sz="2400" b="1" dirty="0"/>
              <a:t>reduction </a:t>
            </a:r>
            <a:r>
              <a:rPr lang="en-US" sz="2400" b="1" dirty="0" smtClean="0"/>
              <a:t>through fault </a:t>
            </a:r>
            <a:r>
              <a:rPr lang="en-US" sz="2400" b="1" dirty="0"/>
              <a:t>detection and removal 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dirty="0"/>
              <a:t>These QA</a:t>
            </a:r>
            <a:r>
              <a:rPr lang="en-US" sz="2400" b="1" dirty="0"/>
              <a:t> </a:t>
            </a:r>
            <a:r>
              <a:rPr lang="en-US" sz="2400" dirty="0"/>
              <a:t>alternatives </a:t>
            </a:r>
            <a:r>
              <a:rPr lang="en-US" sz="2400" dirty="0" smtClean="0"/>
              <a:t>detect and </a:t>
            </a:r>
            <a:r>
              <a:rPr lang="en-US" sz="2400" dirty="0"/>
              <a:t>remove certain faults once they have been injected into the software systems. </a:t>
            </a:r>
            <a:r>
              <a:rPr lang="en-US" sz="2400" dirty="0" smtClean="0"/>
              <a:t>In fact</a:t>
            </a:r>
            <a:r>
              <a:rPr lang="en-US" sz="2400" dirty="0"/>
              <a:t>, most traditional QA</a:t>
            </a:r>
            <a:r>
              <a:rPr lang="en-US" sz="2400" b="1" dirty="0"/>
              <a:t> </a:t>
            </a:r>
            <a:r>
              <a:rPr lang="en-US" sz="2400" dirty="0"/>
              <a:t>activities fall into this category. For example,</a:t>
            </a:r>
            <a:br>
              <a:rPr lang="en-US" sz="2400" dirty="0"/>
            </a:br>
            <a:r>
              <a:rPr lang="en-US" sz="2400" dirty="0"/>
              <a:t>- Inspection directly detects and removes faults from the software code, </a:t>
            </a:r>
            <a:r>
              <a:rPr lang="en-US" sz="2400" dirty="0" smtClean="0"/>
              <a:t>design.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- Testing removes faults based on related failure observations during </a:t>
            </a:r>
            <a:r>
              <a:rPr lang="en-US" sz="2400" dirty="0" smtClean="0"/>
              <a:t>program execution. </a:t>
            </a:r>
          </a:p>
          <a:p>
            <a:pPr marL="0" indent="0">
              <a:buNone/>
            </a:pPr>
            <a:r>
              <a:rPr lang="en-US" sz="2400" dirty="0" smtClean="0"/>
              <a:t>Various </a:t>
            </a:r>
            <a:r>
              <a:rPr lang="en-US" sz="2400" dirty="0"/>
              <a:t>other means, based on either static analyses or observations of </a:t>
            </a:r>
            <a:r>
              <a:rPr lang="en-US" sz="2400" dirty="0" smtClean="0"/>
              <a:t>dynamic executions</a:t>
            </a:r>
            <a:r>
              <a:rPr lang="en-US" sz="2400" dirty="0"/>
              <a:t>, can be applied to reduce the number of faults in a software system </a:t>
            </a:r>
            <a:br>
              <a:rPr lang="en-US" sz="2400" dirty="0"/>
            </a:b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Defect containment </a:t>
            </a:r>
            <a:r>
              <a:rPr lang="en-US" sz="2400" dirty="0" smtClean="0"/>
              <a:t>through failure </a:t>
            </a:r>
            <a:r>
              <a:rPr lang="en-US" sz="2400" dirty="0"/>
              <a:t>prevention and </a:t>
            </a:r>
            <a:r>
              <a:rPr lang="en-US" sz="2400" dirty="0" smtClean="0"/>
              <a:t>containment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v-SE" sz="22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08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cs typeface="Times New Roman" pitchFamily="18" charset="0"/>
              </a:rPr>
              <a:t>QA as Dealing with Defect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Defect </a:t>
            </a:r>
            <a:r>
              <a:rPr lang="en-US" sz="2400" dirty="0"/>
              <a:t>containment </a:t>
            </a:r>
            <a:r>
              <a:rPr lang="en-US" sz="2400" dirty="0" smtClean="0"/>
              <a:t>through failure </a:t>
            </a:r>
            <a:r>
              <a:rPr lang="en-US" sz="2400" dirty="0"/>
              <a:t>prevention and </a:t>
            </a:r>
            <a:r>
              <a:rPr lang="en-US" sz="2400" dirty="0" smtClean="0"/>
              <a:t>containment</a:t>
            </a:r>
            <a:r>
              <a:rPr lang="en-US" sz="2400" dirty="0"/>
              <a:t>: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These containment measures </a:t>
            </a:r>
            <a:r>
              <a:rPr lang="en-US" sz="2400" dirty="0"/>
              <a:t>focus on the failures by either containing them to local areas so that </a:t>
            </a:r>
            <a:r>
              <a:rPr lang="en-US" sz="2400" dirty="0" smtClean="0"/>
              <a:t>there are </a:t>
            </a:r>
            <a:r>
              <a:rPr lang="en-US" sz="2400" dirty="0"/>
              <a:t>no global failures observable to users, or limiting the damage caused by </a:t>
            </a:r>
            <a:r>
              <a:rPr lang="en-US" sz="2400" dirty="0" smtClean="0"/>
              <a:t>software system </a:t>
            </a:r>
            <a:r>
              <a:rPr lang="en-US" sz="2400" dirty="0"/>
              <a:t>failures. Therefore, defect containment can be done in two generic ways: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Some </a:t>
            </a:r>
            <a:r>
              <a:rPr lang="en-US" sz="2400" dirty="0"/>
              <a:t>QA alternatives, such as the use of fault-tolerance techniques, break </a:t>
            </a:r>
            <a:r>
              <a:rPr lang="en-US" sz="2400" dirty="0" smtClean="0"/>
              <a:t>the causal </a:t>
            </a:r>
            <a:r>
              <a:rPr lang="en-US" sz="2400" dirty="0"/>
              <a:t>relation between faults and failures so that local faults will not </a:t>
            </a:r>
            <a:r>
              <a:rPr lang="en-US" sz="2400" dirty="0" smtClean="0"/>
              <a:t>cause global </a:t>
            </a:r>
            <a:r>
              <a:rPr lang="en-US" sz="2400" dirty="0"/>
              <a:t>failures, thus “tolerating” these local faults.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A </a:t>
            </a:r>
            <a:r>
              <a:rPr lang="en-US" sz="2400" dirty="0"/>
              <a:t>related extension to fault-tolerance is containment measures to avoid catastrophic consequences, such as death, personal injury, and severe property </a:t>
            </a:r>
            <a:r>
              <a:rPr lang="en-US" sz="2400" dirty="0" smtClean="0"/>
              <a:t>or environmental </a:t>
            </a:r>
            <a:r>
              <a:rPr lang="en-US" sz="2400" dirty="0"/>
              <a:t>damages, in case of failures.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For </a:t>
            </a:r>
            <a:r>
              <a:rPr lang="en-US" sz="2400" dirty="0"/>
              <a:t>example, failure </a:t>
            </a:r>
            <a:r>
              <a:rPr lang="en-US" sz="2400" dirty="0" smtClean="0"/>
              <a:t>containment for </a:t>
            </a:r>
            <a:r>
              <a:rPr lang="en-US" sz="2400" dirty="0"/>
              <a:t>real-time control software used in nuclear reactors may include </a:t>
            </a:r>
            <a:r>
              <a:rPr lang="en-US" sz="2400" dirty="0" smtClean="0"/>
              <a:t>concrete walls </a:t>
            </a:r>
            <a:r>
              <a:rPr lang="en-US" sz="2400" dirty="0"/>
              <a:t>to encircle and contain radioactive material in case of reactor </a:t>
            </a:r>
            <a:r>
              <a:rPr lang="en-US" sz="2400" dirty="0" smtClean="0"/>
              <a:t>melt-down due </a:t>
            </a:r>
            <a:r>
              <a:rPr lang="en-US" sz="2400" dirty="0"/>
              <a:t>to software failures, in order to prevent damage to </a:t>
            </a:r>
            <a:r>
              <a:rPr lang="en-US" sz="2400" dirty="0" smtClean="0"/>
              <a:t>environment and people’s health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v-SE" sz="22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02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Dealing with pre/post release defects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Different QA alternatives </a:t>
            </a:r>
            <a:r>
              <a:rPr lang="en-US" sz="2400" dirty="0" smtClean="0"/>
              <a:t>: errors</a:t>
            </a:r>
            <a:r>
              <a:rPr lang="en-US" sz="2400" dirty="0"/>
              <a:t>, faults</a:t>
            </a:r>
            <a:r>
              <a:rPr lang="en-US" sz="2400" dirty="0" smtClean="0"/>
              <a:t>, or </a:t>
            </a:r>
            <a:r>
              <a:rPr lang="en-US" sz="2400" dirty="0"/>
              <a:t>failures, in order to achieve the common goal of quality assurance and improvement.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Defect prevention and defect reduction activities directly deal with the </a:t>
            </a:r>
            <a:r>
              <a:rPr lang="en-US" sz="2400" dirty="0" smtClean="0"/>
              <a:t>competing processes </a:t>
            </a:r>
            <a:r>
              <a:rPr lang="en-US" sz="2400" dirty="0"/>
              <a:t>of defect injection and removal during the software development </a:t>
            </a:r>
            <a:r>
              <a:rPr lang="en-US" sz="2400" dirty="0" smtClean="0"/>
              <a:t>process.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They affect the defect contents, or the number of faults, in the finished software </a:t>
            </a:r>
            <a:r>
              <a:rPr lang="en-US" sz="2400" dirty="0" smtClean="0"/>
              <a:t>products by </a:t>
            </a:r>
            <a:r>
              <a:rPr lang="en-US" sz="2400" dirty="0"/>
              <a:t>working to reduce the pre-release defect injections or to remove as many such defects </a:t>
            </a:r>
            <a:r>
              <a:rPr lang="en-US" sz="2400" dirty="0" smtClean="0"/>
              <a:t>as possible </a:t>
            </a:r>
            <a:r>
              <a:rPr lang="en-US" sz="2400" dirty="0"/>
              <a:t>before product release.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faults left in the finished software products are </a:t>
            </a:r>
            <a:r>
              <a:rPr lang="en-US" sz="2400" dirty="0" smtClean="0"/>
              <a:t>often called </a:t>
            </a:r>
            <a:r>
              <a:rPr lang="en-US" sz="2400" dirty="0"/>
              <a:t>“dormant defects”, which may stay dormant for some time, but have the </a:t>
            </a:r>
            <a:r>
              <a:rPr lang="en-US" sz="2400" dirty="0" smtClean="0"/>
              <a:t>potential of </a:t>
            </a:r>
            <a:r>
              <a:rPr lang="en-US" sz="2400" dirty="0"/>
              <a:t>causing problems to customers and users of the products-a situation that we </a:t>
            </a:r>
            <a:r>
              <a:rPr lang="en-US" sz="2400" dirty="0" smtClean="0"/>
              <a:t>would like </a:t>
            </a:r>
            <a:r>
              <a:rPr lang="en-US" sz="2400" dirty="0"/>
              <a:t>to alleviate or avoid.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Further </a:t>
            </a:r>
            <a:r>
              <a:rPr lang="en-US" sz="2400" dirty="0"/>
              <a:t>analyses of different types of defects can be found </a:t>
            </a:r>
            <a:r>
              <a:rPr lang="en-US" sz="2400" dirty="0" smtClean="0"/>
              <a:t>in Chapter </a:t>
            </a:r>
            <a:r>
              <a:rPr lang="en-US" sz="2400" dirty="0"/>
              <a:t>20.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Related </a:t>
            </a:r>
            <a:r>
              <a:rPr lang="en-US" sz="2400" dirty="0"/>
              <a:t>techniques to identify high-risk areas for focused defect reduction </a:t>
            </a:r>
            <a:r>
              <a:rPr lang="en-US" sz="2400" dirty="0" smtClean="0"/>
              <a:t>and QA </a:t>
            </a:r>
            <a:r>
              <a:rPr lang="en-US" sz="2400" dirty="0"/>
              <a:t>can be found in Chapter 21.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 smtClean="0"/>
          </a:p>
          <a:p>
            <a:pPr marL="0" indent="0" algn="just">
              <a:buNone/>
            </a:pPr>
            <a:r>
              <a:rPr lang="en-US" sz="2000" dirty="0" smtClean="0"/>
              <a:t/>
            </a:r>
            <a:br>
              <a:rPr lang="en-US" sz="2000" dirty="0" smtClean="0"/>
            </a:br>
            <a:endParaRPr lang="sv-SE" sz="18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46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Dealing with pre/post release defects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After product release, the failures observed and problems reported by customers </a:t>
            </a:r>
            <a:r>
              <a:rPr lang="en-US" sz="2400" dirty="0" smtClean="0"/>
              <a:t>and users </a:t>
            </a:r>
            <a:r>
              <a:rPr lang="en-US" sz="2400" dirty="0"/>
              <a:t>also need to be </a:t>
            </a:r>
            <a:r>
              <a:rPr lang="en-US" sz="2400" dirty="0" smtClean="0"/>
              <a:t>fixed.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However</a:t>
            </a:r>
            <a:r>
              <a:rPr lang="en-US" sz="2400" dirty="0"/>
              <a:t>, one cannot rely on these post-release problem reports and </a:t>
            </a:r>
            <a:r>
              <a:rPr lang="en-US" sz="2400" dirty="0" smtClean="0"/>
              <a:t>give up </a:t>
            </a:r>
            <a:r>
              <a:rPr lang="en-US" sz="2400" dirty="0"/>
              <a:t>pre-release defect prevention and reduction activities, because the cost of fixing </a:t>
            </a:r>
            <a:r>
              <a:rPr lang="en-US" sz="2400" dirty="0" smtClean="0"/>
              <a:t>defects after </a:t>
            </a:r>
            <a:r>
              <a:rPr lang="en-US" sz="2400" dirty="0"/>
              <a:t>product release is significantly higher than before product release due to the </a:t>
            </a:r>
            <a:r>
              <a:rPr lang="en-US" sz="2400" dirty="0" smtClean="0"/>
              <a:t>numerous installations</a:t>
            </a:r>
            <a:r>
              <a:rPr lang="en-US" sz="2400" dirty="0"/>
              <a:t>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In </a:t>
            </a:r>
            <a:r>
              <a:rPr lang="en-US" sz="2400" dirty="0"/>
              <a:t>addition, the damage to software vendors’ reputation can be devastating.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Controlled field testing, commonly referred to as “beta testing”, and similar </a:t>
            </a:r>
            <a:r>
              <a:rPr lang="en-US" sz="2400" dirty="0" smtClean="0"/>
              <a:t>techniques discussed </a:t>
            </a:r>
            <a:r>
              <a:rPr lang="en-US" sz="2400" dirty="0"/>
              <a:t>further in Chapter 12 have been suggested and used to complement </a:t>
            </a:r>
            <a:r>
              <a:rPr lang="en-US" sz="2400" dirty="0" smtClean="0"/>
              <a:t>pre-release QA </a:t>
            </a:r>
            <a:r>
              <a:rPr lang="en-US" sz="2400" dirty="0"/>
              <a:t>activities.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Related </a:t>
            </a:r>
            <a:r>
              <a:rPr lang="en-US" sz="2400" dirty="0"/>
              <a:t>process issues are discussed in Chapter 4.</a:t>
            </a:r>
            <a:endParaRPr lang="sv-SE" sz="18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21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Dealing with pre/post release defects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defect </a:t>
            </a:r>
            <a:r>
              <a:rPr lang="en-US" sz="2400" dirty="0"/>
              <a:t>containment activities aim at minimizing the negative </a:t>
            </a:r>
            <a:r>
              <a:rPr lang="en-US" sz="2400" dirty="0" smtClean="0"/>
              <a:t>impact of </a:t>
            </a:r>
            <a:r>
              <a:rPr lang="en-US" sz="2400" dirty="0"/>
              <a:t>these remaining faults during operational use after product release. However, most </a:t>
            </a:r>
            <a:r>
              <a:rPr lang="en-US" sz="2400" dirty="0" smtClean="0"/>
              <a:t>of the </a:t>
            </a:r>
            <a:r>
              <a:rPr lang="en-US" sz="2400" dirty="0"/>
              <a:t>defect containment techniques involve redundancies or duplications, and require significantly more development effort to design and implement related features.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Therefore</a:t>
            </a:r>
            <a:r>
              <a:rPr lang="en-US" sz="2400" dirty="0"/>
              <a:t>, </a:t>
            </a:r>
            <a:r>
              <a:rPr lang="en-US" sz="2400" dirty="0" smtClean="0"/>
              <a:t>they are </a:t>
            </a:r>
            <a:r>
              <a:rPr lang="en-US" sz="2400" dirty="0"/>
              <a:t>typically limited to the situations where in-field failures are associated with </a:t>
            </a:r>
            <a:r>
              <a:rPr lang="en-US" sz="2400" dirty="0" smtClean="0"/>
              <a:t>substantial damage</a:t>
            </a:r>
            <a:r>
              <a:rPr lang="en-US" sz="2400" dirty="0"/>
              <a:t>, such as in corporate-wide database for critical data, global </a:t>
            </a:r>
            <a:r>
              <a:rPr lang="en-US" sz="2400" dirty="0" smtClean="0"/>
              <a:t>telecommunication networks</a:t>
            </a:r>
            <a:r>
              <a:rPr lang="en-US" sz="2400" dirty="0"/>
              <a:t>, and various computer-controlled safety critical systems such as medical </a:t>
            </a:r>
            <a:r>
              <a:rPr lang="en-US" sz="2400" dirty="0" smtClean="0"/>
              <a:t>devices and </a:t>
            </a:r>
            <a:r>
              <a:rPr lang="en-US" sz="2400" dirty="0"/>
              <a:t>nuclear reactors.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details about these issues can be found in Chapter 16.</a:t>
            </a:r>
            <a:endParaRPr lang="sv-SE" sz="1800" b="1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37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cs typeface="Times New Roman" pitchFamily="18" charset="0"/>
              </a:rPr>
              <a:t>Graphical depiction of the classification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cs typeface="Times New Roman" pitchFamily="18" charset="0"/>
              </a:rPr>
              <a:t>The barrier between the input to software development activities (left box) and the software system (middle box) represents defect prevention activities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cs typeface="Times New Roman" pitchFamily="18" charset="0"/>
              </a:rPr>
              <a:t>The curved barrier between the software system (middle box) and the usage scenario and observed behavior (right box) represents defect or fault removal activities such as inspection and testing.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cs typeface="Times New Roman" pitchFamily="18" charset="0"/>
              </a:rPr>
              <a:t>The straight barrier to the right of and close to the above fault removal barrier represents failure prevention activities such as fault tolerance.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cs typeface="Times New Roman" pitchFamily="18" charset="0"/>
              </a:rPr>
              <a:t>The last barrier, surrounding selected failure instances, represents failure containment activities.</a:t>
            </a:r>
            <a:endParaRPr lang="sv-SE" sz="18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193" y="3228063"/>
            <a:ext cx="4008438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0870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Software Quality Engineering Assignment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spcAft>
                <a:spcPct val="50000"/>
              </a:spcAft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7030A0"/>
                </a:solidFill>
                <a:latin typeface="Verdana" pitchFamily="34" charset="0"/>
              </a:rPr>
              <a:t>Assignment shall address: 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spcAft>
                <a:spcPct val="50000"/>
              </a:spcAft>
              <a:buFont typeface="Wingdings" pitchFamily="2" charset="2"/>
              <a:buChar char="§"/>
              <a:defRPr/>
            </a:pPr>
            <a:r>
              <a:rPr lang="en-US" sz="1800" dirty="0">
                <a:solidFill>
                  <a:srgbClr val="7030A0"/>
                </a:solidFill>
                <a:latin typeface="Verdana" pitchFamily="34" charset="0"/>
              </a:rPr>
              <a:t>What does quality in Software Development mean to you?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spcAft>
                <a:spcPct val="50000"/>
              </a:spcAft>
              <a:buFont typeface="Wingdings" pitchFamily="2" charset="2"/>
              <a:buChar char="§"/>
              <a:defRPr/>
            </a:pPr>
            <a:r>
              <a:rPr lang="en-US" sz="1800" dirty="0">
                <a:solidFill>
                  <a:srgbClr val="7030A0"/>
                </a:solidFill>
                <a:latin typeface="Verdana" pitchFamily="34" charset="0"/>
              </a:rPr>
              <a:t>What does quality in Software Products mean to you?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spcAft>
                <a:spcPct val="50000"/>
              </a:spcAft>
              <a:buFont typeface="Wingdings" pitchFamily="2" charset="2"/>
              <a:buChar char="§"/>
              <a:defRPr/>
            </a:pPr>
            <a:r>
              <a:rPr lang="en-US" sz="1800" dirty="0">
                <a:solidFill>
                  <a:srgbClr val="7030A0"/>
                </a:solidFill>
                <a:latin typeface="Verdana" pitchFamily="34" charset="0"/>
              </a:rPr>
              <a:t>What does quality in Software Processes mean to you?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spcAft>
                <a:spcPct val="50000"/>
              </a:spcAft>
              <a:buFont typeface="Wingdings" pitchFamily="2" charset="2"/>
              <a:buChar char="§"/>
              <a:defRPr/>
            </a:pPr>
            <a:r>
              <a:rPr lang="en-US" sz="1800" dirty="0">
                <a:solidFill>
                  <a:srgbClr val="7030A0"/>
                </a:solidFill>
                <a:latin typeface="Verdana" pitchFamily="34" charset="0"/>
              </a:rPr>
              <a:t>What benefits and shortcomings do we get from caring about quality in Software?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spcAft>
                <a:spcPct val="50000"/>
              </a:spcAft>
              <a:buFont typeface="Wingdings" pitchFamily="2" charset="2"/>
              <a:buChar char="§"/>
              <a:defRPr/>
            </a:pPr>
            <a:r>
              <a:rPr lang="en-US" sz="1800" dirty="0">
                <a:solidFill>
                  <a:srgbClr val="7030A0"/>
                </a:solidFill>
                <a:latin typeface="Verdana" pitchFamily="34" charset="0"/>
              </a:rPr>
              <a:t>Discuss and motivate your answers.</a:t>
            </a:r>
            <a:r>
              <a:rPr lang="en-US" sz="1600" dirty="0">
                <a:solidFill>
                  <a:srgbClr val="7030A0"/>
                </a:solidFill>
                <a:latin typeface="Verdana" pitchFamily="34" charset="0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74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Software Quality Engineering Assignment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spcAft>
                <a:spcPct val="50000"/>
              </a:spcAft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7030A0"/>
                </a:solidFill>
                <a:latin typeface="Verdana" pitchFamily="34" charset="0"/>
              </a:rPr>
              <a:t>Assignment shall address: 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spcAft>
                <a:spcPct val="50000"/>
              </a:spcAft>
              <a:buFont typeface="Wingdings" pitchFamily="2" charset="2"/>
              <a:buChar char="§"/>
              <a:defRPr/>
            </a:pPr>
            <a:r>
              <a:rPr lang="en-US" sz="1800" dirty="0">
                <a:solidFill>
                  <a:srgbClr val="7030A0"/>
                </a:solidFill>
                <a:latin typeface="Verdana" pitchFamily="34" charset="0"/>
              </a:rPr>
              <a:t>What does quality in Software Development mean to you?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spcAft>
                <a:spcPct val="50000"/>
              </a:spcAft>
              <a:buFont typeface="Wingdings" pitchFamily="2" charset="2"/>
              <a:buChar char="§"/>
              <a:defRPr/>
            </a:pPr>
            <a:r>
              <a:rPr lang="en-US" sz="1800" dirty="0">
                <a:solidFill>
                  <a:srgbClr val="7030A0"/>
                </a:solidFill>
                <a:latin typeface="Verdana" pitchFamily="34" charset="0"/>
              </a:rPr>
              <a:t>What does quality in Software Products mean to you?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spcAft>
                <a:spcPct val="50000"/>
              </a:spcAft>
              <a:buFont typeface="Wingdings" pitchFamily="2" charset="2"/>
              <a:buChar char="§"/>
              <a:defRPr/>
            </a:pPr>
            <a:r>
              <a:rPr lang="en-US" sz="1800" dirty="0">
                <a:solidFill>
                  <a:srgbClr val="7030A0"/>
                </a:solidFill>
                <a:latin typeface="Verdana" pitchFamily="34" charset="0"/>
              </a:rPr>
              <a:t>What does quality in Software Processes mean to you?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spcAft>
                <a:spcPct val="50000"/>
              </a:spcAft>
              <a:buFont typeface="Wingdings" pitchFamily="2" charset="2"/>
              <a:buChar char="§"/>
              <a:defRPr/>
            </a:pPr>
            <a:r>
              <a:rPr lang="en-US" sz="1800" dirty="0">
                <a:solidFill>
                  <a:srgbClr val="7030A0"/>
                </a:solidFill>
                <a:latin typeface="Verdana" pitchFamily="34" charset="0"/>
              </a:rPr>
              <a:t>What benefits and shortcomings do we get from caring about quality in Software?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spcAft>
                <a:spcPct val="50000"/>
              </a:spcAft>
              <a:buFont typeface="Wingdings" pitchFamily="2" charset="2"/>
              <a:buChar char="§"/>
              <a:defRPr/>
            </a:pPr>
            <a:r>
              <a:rPr lang="en-US" sz="1800" dirty="0">
                <a:solidFill>
                  <a:srgbClr val="7030A0"/>
                </a:solidFill>
                <a:latin typeface="Verdana" pitchFamily="34" charset="0"/>
              </a:rPr>
              <a:t>Discuss and motivate your answers.</a:t>
            </a:r>
            <a:r>
              <a:rPr lang="en-US" sz="1600" dirty="0">
                <a:solidFill>
                  <a:srgbClr val="7030A0"/>
                </a:solidFill>
                <a:latin typeface="Verdana" pitchFamily="34" charset="0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173" y="10301"/>
            <a:ext cx="1284826" cy="10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13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055077"/>
            <a:ext cx="11461750" cy="5262196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r>
              <a:rPr lang="en-US" b="1" dirty="0"/>
              <a:t>			Questions and Answers sessions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30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055077"/>
            <a:ext cx="11461750" cy="5262196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7BA220A-04FE-4CA5-AAB4-C050E821C4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476500"/>
            <a:ext cx="6096000" cy="1905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oter Placeholder 2">
            <a:extLst>
              <a:ext uri="{FF2B5EF4-FFF2-40B4-BE49-F238E27FC236}">
                <a16:creationId xmlns="" xmlns:a16="http://schemas.microsoft.com/office/drawing/2014/main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43225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72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2182</TotalTime>
  <Words>1179</Words>
  <Application>Microsoft Office PowerPoint</Application>
  <PresentationFormat>Custom</PresentationFormat>
  <Paragraphs>140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Agenda</vt:lpstr>
      <vt:lpstr>Software Quality Assurance</vt:lpstr>
      <vt:lpstr>QA as Dealing with Defect</vt:lpstr>
      <vt:lpstr>QA as Dealing with Defect</vt:lpstr>
      <vt:lpstr>QA as Dealing with Defect</vt:lpstr>
      <vt:lpstr>Dealing with pre/post release defects</vt:lpstr>
      <vt:lpstr>Dealing with pre/post release defects</vt:lpstr>
      <vt:lpstr>Dealing with pre/post release defects</vt:lpstr>
      <vt:lpstr>Graphical depiction of the classification scheme</vt:lpstr>
      <vt:lpstr>Software Quality Engineering Assignment</vt:lpstr>
      <vt:lpstr>Software Quality Engineering Assignment</vt:lpstr>
      <vt:lpstr>Questions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Naseer Jan</dc:creator>
  <cp:lastModifiedBy>janna</cp:lastModifiedBy>
  <cp:revision>192</cp:revision>
  <dcterms:created xsi:type="dcterms:W3CDTF">2020-03-22T07:59:51Z</dcterms:created>
  <dcterms:modified xsi:type="dcterms:W3CDTF">2025-10-10T05:09:39Z</dcterms:modified>
</cp:coreProperties>
</file>
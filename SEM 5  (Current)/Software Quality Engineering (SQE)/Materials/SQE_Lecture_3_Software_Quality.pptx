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47" r:id="rId2"/>
    <p:sldId id="257" r:id="rId3"/>
    <p:sldId id="344" r:id="rId4"/>
    <p:sldId id="348" r:id="rId5"/>
    <p:sldId id="349" r:id="rId6"/>
    <p:sldId id="355" r:id="rId7"/>
    <p:sldId id="350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69" r:id="rId22"/>
    <p:sldId id="370" r:id="rId23"/>
    <p:sldId id="371" r:id="rId24"/>
    <p:sldId id="314" r:id="rId25"/>
    <p:sldId id="31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>
        <p:scale>
          <a:sx n="87" d="100"/>
          <a:sy n="87" d="100"/>
        </p:scale>
        <p:origin x="-514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CFE28-41E2-4209-938D-807C0FF82EB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8D36E-D79D-465A-9C56-D1603655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29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48CE0-F9AD-4A5F-B9CB-BD53A74CFE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19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48CE0-F9AD-4A5F-B9CB-BD53A74CFEF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110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48CE0-F9AD-4A5F-B9CB-BD53A74CFEF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11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C287C0-8844-43D6-82FA-5FE2D327E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DDCD7B3-F73A-4EEE-B479-B39309817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BC751E7-5BCB-4D81-B0E1-8D42813F5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A58D-2A4C-420F-8BC1-095F1DF53924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3670C0-8F2E-4627-907A-7B1C4C50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8703B08-9B62-4895-8119-C1B8C807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2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8D6461-3C5A-4A64-AD16-4A09AB7D2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7D7896-8992-410F-B9F1-F6F85B60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58D9DEC-AF66-434C-9ABA-65F1BD85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D356-5C4B-47D7-AF8A-948F8C253765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087DE44-F4BF-4B94-8909-23BB15CB5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B5DB7B-2B5B-4B32-94CF-CD9D67E3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1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4250FB-E2DF-45BB-9971-62F98AE7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B5C522B-00C3-4087-91EA-58DE5769C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985D9C-FD1E-4EC9-B299-2E9AAAD6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F68B-B82B-4ADB-9F2A-088F90DF9C3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4C2AE4B-43F5-47E6-8187-93FDDE09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0899C0-F28E-4F92-90E3-D2482F7BB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0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BFCD8B-95C8-40E5-8A0C-E5BA3692E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19C88D-776A-40A6-8DA4-EE7B7FCCF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7F16495-6722-41DC-845D-AD80D504B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00C20AE-1AB9-4E6C-AEDD-859A3F704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9E54-BFF9-48E9-84F8-06ADFAEF8585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4350383-FECF-474D-B875-9A1274F3A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8E9C92E-F51B-4659-84B8-33A3A05D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30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50FE0F-DFF0-40B5-8928-0A2C15C2A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3A52696-C7D9-4A2B-A46F-5D70D8B43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9E35E27-1AC2-4532-BB07-8DEB57BCE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E149BD8-49B5-4FD0-B1DF-D5C8685D3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1FB2FA5-EF45-4C49-AACF-45D17CFFCE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41FF247-0E79-4344-B279-E302CC3B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B253F-0CCF-40ED-948B-68FF5AEBEFDA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D63F0FB-C346-40DB-8012-ECB08514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0353C08-DB58-4315-8868-50208379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6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559B29-3617-474A-9DEB-832003300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8447382-4B94-443B-835E-01A41378A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551E-4977-4708-9D03-7BA1468D7DBB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21D8742-0860-4CBA-9471-6AA6D452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99B9260-06B7-4F3E-AC0F-2974FDF6A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62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665CFCE-E032-46A1-AD47-A3A2324E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D97C-BC33-41C0-BF1F-A2B9C695E72E}" type="datetime1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DD5BDAE-E628-495B-83A2-096A3CE9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028C6CF-8532-4D4B-8BCC-D58E3EC1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6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EE2F1B-4E3B-4DDD-A5F0-35DE06C5D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444EE9-10A2-4B62-A38A-A187A64DA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766DB3A-B449-48EB-8A7D-7A7F71964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52FC067-2261-4BF0-A481-3CC4E004F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E5555-17A4-432B-AD8A-D1F62A2F7BCA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23E7505-D7EF-4418-8958-BE1754749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B6AB268-B25E-4476-881C-FBEFA1B8A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2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CC24AC-E495-440B-A1BC-C6531022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9BF307B-DF1B-4661-91DA-240D0D07C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0AC7264-4258-4594-A543-631EDE793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6B0AF07-3D3E-4EFB-AB7E-150B50AC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ADAD-9086-42EC-8A7F-C779F381BCC1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A919445-EA65-4FEA-BF60-147F1C91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A26CF07-F013-4B00-A958-862A0D08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01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FF7858-C58D-45A1-A065-DB629816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C00046F-3250-4186-B430-522DAA45C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6509E1-84D6-42BF-8501-1DD8743CB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B923F-29BC-4418-81B4-EBA12F20B1F4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099738A-BE22-41A3-888C-CD8BE734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521171-6904-4532-AFE0-1DA35A5A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34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87F2E51-2AD6-43D4-9D9E-2D188D2C7C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ACF6006-BE93-4D4C-AD50-2B2800AA4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553C4C5-15E0-40B0-A83B-68416691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E815-029E-4494-A115-22800C80F744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31AF6C-8BCB-4871-A9C2-6D1AE893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0C3E36-63C5-4CAF-A420-9D0C9A8B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A36D8B5-5433-4104-A2D4-D096895E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FB8C331-67B5-42F2-95F1-6DC3B3BC6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147EBE2-792B-4BE5-9EE5-4587A7A7A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EEF0A-2703-4387-BF00-01487F7C0C78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CAA961-1653-40F5-A49E-F92867866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4F91C4E-8687-4234-B530-3B86663C1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43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FA624D-D77F-4746-AB43-5C687792E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xmlns="" id="{2D9AF63B-2427-4F39-93B8-2F8191EBD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498" y="1492250"/>
            <a:ext cx="8640960" cy="222478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b="1" cap="all" dirty="0" smtClean="0"/>
              <a:t>SOFTWARE QUALITY ENGINEERING</a:t>
            </a:r>
          </a:p>
          <a:p>
            <a:pPr algn="ctr"/>
            <a:r>
              <a:rPr lang="en-US" sz="2400" b="1" dirty="0" smtClean="0">
                <a:latin typeface="+mj-lt"/>
                <a:cs typeface="Times New Roman" pitchFamily="18" charset="0"/>
              </a:rPr>
              <a:t>BS </a:t>
            </a:r>
            <a:r>
              <a:rPr lang="en-US" sz="2400" b="1" dirty="0">
                <a:latin typeface="+mj-lt"/>
                <a:cs typeface="Times New Roman" pitchFamily="18" charset="0"/>
              </a:rPr>
              <a:t>Software </a:t>
            </a:r>
            <a:r>
              <a:rPr lang="en-US" sz="2400" b="1" dirty="0" smtClean="0">
                <a:latin typeface="+mj-lt"/>
                <a:cs typeface="Times New Roman" pitchFamily="18" charset="0"/>
              </a:rPr>
              <a:t>Engineering </a:t>
            </a:r>
            <a:endParaRPr lang="en-US" sz="2400" b="1" dirty="0">
              <a:latin typeface="+mj-lt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+mj-lt"/>
                <a:cs typeface="Times New Roman" pitchFamily="18" charset="0"/>
              </a:rPr>
              <a:t>Semester</a:t>
            </a:r>
            <a:r>
              <a:rPr lang="en-US" sz="2400" b="1" dirty="0">
                <a:latin typeface="+mj-lt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+mj-lt"/>
                <a:cs typeface="Times New Roman" pitchFamily="18" charset="0"/>
              </a:rPr>
              <a:t>Fall 2025</a:t>
            </a:r>
            <a:endParaRPr lang="en-US" sz="2400" b="1" dirty="0">
              <a:latin typeface="+mj-lt"/>
              <a:cs typeface="Times New Roman" pitchFamily="18" charset="0"/>
            </a:endParaRPr>
          </a:p>
          <a:p>
            <a:pPr algn="ctr"/>
            <a:r>
              <a:rPr lang="en-US" sz="2400" b="1" dirty="0">
                <a:latin typeface="+mj-lt"/>
                <a:cs typeface="Times New Roman" pitchFamily="18" charset="0"/>
              </a:rPr>
              <a:t>Credit Hours </a:t>
            </a:r>
            <a:r>
              <a:rPr lang="en-US" sz="2400" b="1" dirty="0" smtClean="0">
                <a:latin typeface="+mj-lt"/>
                <a:cs typeface="Times New Roman" pitchFamily="18" charset="0"/>
              </a:rPr>
              <a:t>2-1</a:t>
            </a:r>
            <a:endParaRPr lang="en-US" sz="2400" b="1" dirty="0">
              <a:latin typeface="+mj-lt"/>
              <a:cs typeface="Times New Roman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078E15FD-69F7-4AA8-8766-4760730F07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838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dirty="0">
                <a:latin typeface="+mj-lt"/>
                <a:cs typeface="Times New Roman" pitchFamily="18" charset="0"/>
              </a:rPr>
              <a:t>Instructor: </a:t>
            </a:r>
            <a:r>
              <a:rPr lang="en-US" sz="2400" dirty="0" err="1" smtClean="0">
                <a:latin typeface="+mj-lt"/>
                <a:cs typeface="Times New Roman" pitchFamily="18" charset="0"/>
              </a:rPr>
              <a:t>Naseer</a:t>
            </a:r>
            <a:r>
              <a:rPr lang="en-US" sz="2400" dirty="0" smtClean="0">
                <a:latin typeface="+mj-lt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  <a:cs typeface="Times New Roman" pitchFamily="18" charset="0"/>
              </a:rPr>
              <a:t>Jan</a:t>
            </a:r>
          </a:p>
          <a:p>
            <a:pPr algn="ctr"/>
            <a:r>
              <a:rPr lang="en-US" sz="2400" dirty="0">
                <a:latin typeface="+mj-lt"/>
                <a:cs typeface="Times New Roman" pitchFamily="18" charset="0"/>
              </a:rPr>
              <a:t>Department of </a:t>
            </a:r>
            <a:r>
              <a:rPr lang="en-US" sz="2400" dirty="0" smtClean="0">
                <a:latin typeface="+mj-lt"/>
                <a:cs typeface="Times New Roman" pitchFamily="18" charset="0"/>
              </a:rPr>
              <a:t>Creative Technologies</a:t>
            </a:r>
            <a:endParaRPr lang="en-US" sz="2400" dirty="0">
              <a:latin typeface="+mj-lt"/>
              <a:cs typeface="Times New Roman" pitchFamily="18" charset="0"/>
            </a:endParaRPr>
          </a:p>
          <a:p>
            <a:r>
              <a:rPr lang="en-US" dirty="0" smtClean="0">
                <a:latin typeface="+mj-lt"/>
                <a:cs typeface="Times New Roman" pitchFamily="18" charset="0"/>
              </a:rPr>
              <a:t>Air University</a:t>
            </a:r>
            <a:endParaRPr lang="en-US" sz="2400" dirty="0">
              <a:latin typeface="+mj-lt"/>
              <a:cs typeface="Times New Roman" pitchFamily="18" charset="0"/>
            </a:endParaRPr>
          </a:p>
          <a:p>
            <a:pPr algn="ctr"/>
            <a:r>
              <a:rPr lang="en-US" dirty="0" smtClean="0">
                <a:latin typeface="+mj-lt"/>
                <a:cs typeface="Times New Roman" pitchFamily="18" charset="0"/>
              </a:rPr>
              <a:t>Islamabad</a:t>
            </a:r>
            <a:r>
              <a:rPr lang="en-US" sz="2400" dirty="0" smtClean="0">
                <a:latin typeface="+mj-lt"/>
                <a:cs typeface="Times New Roman" pitchFamily="18" charset="0"/>
              </a:rPr>
              <a:t>, </a:t>
            </a:r>
            <a:r>
              <a:rPr lang="en-US" sz="2400" dirty="0">
                <a:latin typeface="+mj-lt"/>
                <a:cs typeface="Times New Roman" pitchFamily="18" charset="0"/>
              </a:rPr>
              <a:t>Pakistan</a:t>
            </a:r>
          </a:p>
          <a:p>
            <a:pPr algn="ctr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F02262-9B1F-47CD-B14C-44FED852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010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sv-SE" sz="3200" b="1" dirty="0" smtClean="0">
                <a:cs typeface="Times New Roman" pitchFamily="18" charset="0"/>
              </a:rPr>
              <a:t>Agenda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sz="2400" dirty="0"/>
              <a:t>Week 1 Review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If statement, Switch and loops</a:t>
            </a:r>
          </a:p>
          <a:p>
            <a:pPr algn="just" fontAlgn="base">
              <a:buFont typeface="Wingdings" panose="05000000000000000000" pitchFamily="2" charset="2"/>
              <a:buChar char="Ø"/>
            </a:pPr>
            <a:r>
              <a:rPr lang="en-US" sz="2200" b="1" dirty="0"/>
              <a:t>Subtopics</a:t>
            </a:r>
          </a:p>
          <a:p>
            <a:pPr lvl="1" algn="just" fontAlgn="base">
              <a:buFont typeface="Wingdings" panose="05000000000000000000" pitchFamily="2" charset="2"/>
              <a:buChar char="§"/>
            </a:pPr>
            <a:r>
              <a:rPr lang="en-US" sz="1800" dirty="0" smtClean="0"/>
              <a:t>Break statement</a:t>
            </a:r>
          </a:p>
          <a:p>
            <a:pPr marL="457200" lvl="1" indent="0" algn="just" fontAlgn="base">
              <a:buNone/>
            </a:pPr>
            <a:endParaRPr lang="en-US" sz="1800" dirty="0"/>
          </a:p>
          <a:p>
            <a:pPr marL="457200" lvl="1" indent="0" algn="just" fontAlgn="base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endParaRPr lang="sv-SE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4675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13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Software Quality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question, “What is software quality?’, is bound to generate many different answers,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depending on whom you ask, under what circumstances, for what kind of software systems,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and so on.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 What </a:t>
            </a:r>
            <a:r>
              <a:rPr lang="en-US" sz="2400" dirty="0"/>
              <a:t>are the characteristics for high-quality software</a:t>
            </a:r>
            <a:r>
              <a:rPr lang="en-US" sz="2400" dirty="0" smtClean="0"/>
              <a:t>?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define </a:t>
            </a:r>
            <a:r>
              <a:rPr lang="en-US" sz="2400" dirty="0"/>
              <a:t>software quality by defining the expected characteristics or properties of high-quality software. In doing so, we need to examine the </a:t>
            </a:r>
            <a:r>
              <a:rPr lang="en-US" sz="2400" dirty="0" smtClean="0"/>
              <a:t>different perspectives </a:t>
            </a:r>
            <a:r>
              <a:rPr lang="en-US" sz="2400" dirty="0"/>
              <a:t>and expectations of users as well as other people involved with the development, management, marketing, and maintenance of the software products.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We </a:t>
            </a:r>
            <a:r>
              <a:rPr lang="en-US" sz="2400" dirty="0"/>
              <a:t>also need </a:t>
            </a:r>
            <a:r>
              <a:rPr lang="en-US" sz="2400" dirty="0" smtClean="0"/>
              <a:t>to examine </a:t>
            </a:r>
            <a:r>
              <a:rPr lang="en-US" sz="2400" dirty="0"/>
              <a:t>the individual characteristics associated with quality and their inter-relationship</a:t>
            </a:r>
            <a:r>
              <a:rPr lang="en-US" sz="2400" dirty="0" smtClean="0"/>
              <a:t>, and </a:t>
            </a:r>
            <a:r>
              <a:rPr lang="en-US" sz="2400" dirty="0"/>
              <a:t>focus our attention on the critical characteristics of functional correctness. </a:t>
            </a:r>
            <a:endParaRPr lang="en-US" sz="2400" dirty="0" smtClean="0"/>
          </a:p>
          <a:p>
            <a:pPr marL="0" indent="0" algn="ctr">
              <a:buNone/>
            </a:pPr>
            <a:endParaRPr lang="sv-SE" sz="22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13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Quality Perspectives and Expectation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different </a:t>
            </a:r>
            <a:r>
              <a:rPr lang="en-US" sz="2400" dirty="0"/>
              <a:t>views of quality in a systematic manner, based on the different roles, responsibilities, and quality </a:t>
            </a:r>
            <a:r>
              <a:rPr lang="en-US" sz="2400" dirty="0" smtClean="0"/>
              <a:t>expectations of different people</a:t>
            </a:r>
            <a:r>
              <a:rPr lang="en-US" sz="2400" dirty="0"/>
              <a:t>, and zoom in on </a:t>
            </a:r>
            <a:r>
              <a:rPr lang="en-US" sz="2400" dirty="0" smtClean="0"/>
              <a:t>a small </a:t>
            </a:r>
            <a:r>
              <a:rPr lang="en-US" sz="2400" dirty="0"/>
              <a:t>set of views and related </a:t>
            </a:r>
            <a:r>
              <a:rPr lang="en-US" sz="2400" dirty="0" smtClean="0"/>
              <a:t>properties.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Five </a:t>
            </a:r>
            <a:r>
              <a:rPr lang="en-US" sz="2400" dirty="0"/>
              <a:t>major views according to </a:t>
            </a:r>
            <a:r>
              <a:rPr lang="en-US" sz="2400" dirty="0" smtClean="0"/>
              <a:t>are: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Transcendental: </a:t>
            </a:r>
            <a:r>
              <a:rPr lang="en-US" sz="2000" dirty="0"/>
              <a:t>It is generally associated with some </a:t>
            </a:r>
            <a:r>
              <a:rPr lang="en-US" sz="2000" dirty="0" smtClean="0"/>
              <a:t>intangible properties </a:t>
            </a:r>
            <a:r>
              <a:rPr lang="en-US" sz="2000" dirty="0"/>
              <a:t>that delight users. </a:t>
            </a:r>
            <a:r>
              <a:rPr lang="en-US" sz="2000" dirty="0" smtClean="0"/>
              <a:t>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User: </a:t>
            </a:r>
            <a:r>
              <a:rPr lang="en-US" sz="2000" dirty="0"/>
              <a:t>quality is fitness for purpose or meeting user’s needs. </a:t>
            </a:r>
            <a:r>
              <a:rPr lang="en-US" sz="2000" dirty="0" smtClean="0"/>
              <a:t>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Manufacturing: </a:t>
            </a:r>
            <a:r>
              <a:rPr lang="en-US" sz="2000" dirty="0"/>
              <a:t>quality means conformance to process </a:t>
            </a:r>
            <a:r>
              <a:rPr lang="en-US" sz="2000" dirty="0" smtClean="0"/>
              <a:t>standards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Product: </a:t>
            </a:r>
            <a:r>
              <a:rPr lang="en-US" sz="2000" dirty="0"/>
              <a:t>the focus is on inherent characteristics in the product itself </a:t>
            </a:r>
            <a:r>
              <a:rPr lang="en-US" sz="2000" dirty="0" smtClean="0"/>
              <a:t>in the </a:t>
            </a:r>
            <a:r>
              <a:rPr lang="en-US" sz="2000" dirty="0"/>
              <a:t>hope that controlling these internal quality indicators (or the so-called </a:t>
            </a:r>
            <a:r>
              <a:rPr lang="en-US" sz="2000" dirty="0" smtClean="0"/>
              <a:t>product internal metrics) </a:t>
            </a:r>
            <a:r>
              <a:rPr lang="en-US" sz="2000" dirty="0"/>
              <a:t>will result in improved external </a:t>
            </a:r>
            <a:r>
              <a:rPr lang="en-US" sz="2000" dirty="0" smtClean="0"/>
              <a:t>product behavior </a:t>
            </a:r>
            <a:r>
              <a:rPr lang="en-US" sz="2000" dirty="0"/>
              <a:t>(quality in use) </a:t>
            </a:r>
            <a:endParaRPr lang="en-US" sz="2000" dirty="0" smtClean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value-based views: </a:t>
            </a:r>
            <a:r>
              <a:rPr lang="en-US" sz="2000" dirty="0"/>
              <a:t>quality is the customers’ willingness to pay for a </a:t>
            </a:r>
            <a:r>
              <a:rPr lang="en-US" sz="2000" dirty="0" smtClean="0"/>
              <a:t>software.</a:t>
            </a:r>
          </a:p>
          <a:p>
            <a:pPr marL="457200" lvl="1" indent="0" algn="just">
              <a:buNone/>
            </a:pPr>
            <a:r>
              <a:rPr lang="en-US" sz="2000" dirty="0" smtClean="0"/>
              <a:t>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endParaRPr lang="sv-SE" sz="18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46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People Roles and Responsibilities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When software quality is concerned, different people would have different views and expectations based on their roles and responsibilities.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With </a:t>
            </a:r>
            <a:r>
              <a:rPr lang="en-US" sz="2400" dirty="0"/>
              <a:t>the quality </a:t>
            </a:r>
            <a:r>
              <a:rPr lang="en-US" sz="2400" dirty="0" smtClean="0"/>
              <a:t>assurance and quality engineering, </a:t>
            </a:r>
            <a:r>
              <a:rPr lang="en-US" sz="2400" dirty="0"/>
              <a:t>we can divide the people into two broad groups</a:t>
            </a:r>
            <a:r>
              <a:rPr lang="en-US" sz="2400" dirty="0" smtClean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Consumers of software products or services, including customers and users, either internally or externally.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customers</a:t>
            </a:r>
            <a:r>
              <a:rPr lang="en-US" sz="2000" b="1" dirty="0" smtClean="0"/>
              <a:t> </a:t>
            </a:r>
            <a:r>
              <a:rPr lang="en-US" sz="2000" dirty="0" smtClean="0"/>
              <a:t>(acquisition </a:t>
            </a:r>
            <a:r>
              <a:rPr lang="en-US" sz="2000" dirty="0"/>
              <a:t>of software products or </a:t>
            </a:r>
            <a:r>
              <a:rPr lang="en-US" sz="2000" dirty="0" smtClean="0"/>
              <a:t>services)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the users</a:t>
            </a:r>
            <a:r>
              <a:rPr lang="en-US" sz="2000" b="1" i="1" dirty="0" smtClean="0"/>
              <a:t> </a:t>
            </a:r>
            <a:r>
              <a:rPr lang="en-US" sz="2000" dirty="0" smtClean="0"/>
              <a:t>(who </a:t>
            </a:r>
            <a:r>
              <a:rPr lang="en-US" sz="2000" dirty="0"/>
              <a:t>use the software products or services for various </a:t>
            </a:r>
            <a:r>
              <a:rPr lang="en-US" sz="2000" dirty="0" smtClean="0"/>
              <a:t>purposes)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 </a:t>
            </a:r>
            <a:r>
              <a:rPr lang="en-US" sz="2000" dirty="0"/>
              <a:t>non-human or “invisible” users as other software, </a:t>
            </a:r>
            <a:r>
              <a:rPr lang="en-US" sz="2000" dirty="0" smtClean="0"/>
              <a:t>embedded hardware</a:t>
            </a:r>
            <a:r>
              <a:rPr lang="en-US" sz="2000" dirty="0"/>
              <a:t>, and the overall operational environment that the software operates </a:t>
            </a:r>
            <a:r>
              <a:rPr lang="en-US" sz="2000" dirty="0" smtClean="0"/>
              <a:t>under and </a:t>
            </a:r>
            <a:r>
              <a:rPr lang="en-US" sz="2000" dirty="0"/>
              <a:t>interacts with </a:t>
            </a:r>
            <a:r>
              <a:rPr lang="en-US" sz="2000" dirty="0" smtClean="0"/>
              <a:t>.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 </a:t>
            </a:r>
            <a:br>
              <a:rPr lang="en-US" sz="2000" dirty="0"/>
            </a:br>
            <a:endParaRPr lang="sv-SE" sz="14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17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People Roles and Responsibilities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Producers</a:t>
            </a:r>
            <a:r>
              <a:rPr lang="en-US" sz="2400" b="1" i="1" dirty="0"/>
              <a:t> </a:t>
            </a:r>
            <a:r>
              <a:rPr lang="en-US" sz="2400" dirty="0"/>
              <a:t>of software products, or anyone involved with the development, management, maintenance, marketing, and service of software products.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We </a:t>
            </a:r>
            <a:r>
              <a:rPr lang="en-US" sz="2400" dirty="0"/>
              <a:t>adopt a </a:t>
            </a:r>
            <a:r>
              <a:rPr lang="en-US" sz="2400" dirty="0" smtClean="0"/>
              <a:t>broad definition </a:t>
            </a:r>
            <a:r>
              <a:rPr lang="en-US" sz="2400" dirty="0"/>
              <a:t>of producers, which also include third-party participants who may be involved in add-on products and services, software packaging, software certification</a:t>
            </a:r>
            <a:r>
              <a:rPr lang="en-US" sz="2400" dirty="0" smtClean="0"/>
              <a:t>, fulfilling </a:t>
            </a:r>
            <a:r>
              <a:rPr lang="en-US" sz="2400" dirty="0"/>
              <a:t>independent verification and validation (IV&amp;V) responsibilities, and so on. </a:t>
            </a:r>
            <a:endParaRPr lang="sv-SE" sz="14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72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Quality Expectation on Consumer Side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The basic quality </a:t>
            </a:r>
            <a:r>
              <a:rPr lang="en-US" sz="2400" dirty="0" smtClean="0"/>
              <a:t>expectations of </a:t>
            </a:r>
            <a:r>
              <a:rPr lang="en-US" sz="2400" dirty="0"/>
              <a:t>a user are that a software system performs useful </a:t>
            </a:r>
            <a:r>
              <a:rPr lang="en-US" sz="2400" dirty="0" smtClean="0"/>
              <a:t>functions as </a:t>
            </a:r>
            <a:r>
              <a:rPr lang="en-US" sz="2400" dirty="0"/>
              <a:t>it is specified.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There </a:t>
            </a:r>
            <a:r>
              <a:rPr lang="en-US" sz="2400" dirty="0"/>
              <a:t>are two basic elements to this expectation: </a:t>
            </a:r>
            <a:endParaRPr lang="en-US" sz="2400" dirty="0" smtClean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First</a:t>
            </a:r>
            <a:r>
              <a:rPr lang="en-US" sz="2000" dirty="0"/>
              <a:t>, it performs right functions as specified, which, hopefully fits the user’s needs (fit for use). </a:t>
            </a:r>
            <a:endParaRPr lang="en-US" sz="2000" dirty="0" smtClean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Second</a:t>
            </a:r>
            <a:r>
              <a:rPr lang="en-US" sz="2000" dirty="0"/>
              <a:t>, </a:t>
            </a:r>
            <a:r>
              <a:rPr lang="en-US" sz="2000" dirty="0" smtClean="0"/>
              <a:t>it performs </a:t>
            </a:r>
            <a:r>
              <a:rPr lang="en-US" sz="2000" dirty="0"/>
              <a:t>these specified functions correctly over repeated use or over a long period of </a:t>
            </a:r>
            <a:r>
              <a:rPr lang="en-US" sz="2000" dirty="0" smtClean="0"/>
              <a:t>time, or </a:t>
            </a:r>
            <a:r>
              <a:rPr lang="en-US" sz="2000" dirty="0"/>
              <a:t>performs its functions reliably. </a:t>
            </a:r>
            <a:endParaRPr lang="en-US" sz="2000" dirty="0" smtClean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These </a:t>
            </a:r>
            <a:r>
              <a:rPr lang="en-US" sz="2000" dirty="0"/>
              <a:t>two elements are related to the validation </a:t>
            </a:r>
            <a:r>
              <a:rPr lang="en-US" sz="2000" dirty="0" smtClean="0"/>
              <a:t>and verification </a:t>
            </a:r>
            <a:r>
              <a:rPr lang="en-US" sz="2000" dirty="0"/>
              <a:t>aspects of </a:t>
            </a:r>
            <a:r>
              <a:rPr lang="en-US" sz="2000" dirty="0" smtClean="0"/>
              <a:t>QA.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meeting </a:t>
            </a:r>
            <a:r>
              <a:rPr lang="en-US" sz="2400" dirty="0"/>
              <a:t>this </a:t>
            </a:r>
            <a:r>
              <a:rPr lang="en-US" sz="2400" dirty="0" smtClean="0"/>
              <a:t>basic expectation </a:t>
            </a:r>
            <a:r>
              <a:rPr lang="en-US" sz="2400" dirty="0"/>
              <a:t>and beyond to delight customers and users by preventing unforeseen </a:t>
            </a:r>
            <a:r>
              <a:rPr lang="en-US" sz="2400" dirty="0" smtClean="0"/>
              <a:t>negative impacts </a:t>
            </a:r>
            <a:r>
              <a:rPr lang="en-US" sz="2400" dirty="0"/>
              <a:t>and produce unexpected positive </a:t>
            </a:r>
            <a:r>
              <a:rPr lang="en-US" sz="2400" dirty="0" smtClean="0"/>
              <a:t>effects</a:t>
            </a:r>
            <a:endParaRPr lang="sv-SE" sz="18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57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Quality Expectation on Consumer Side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For many </a:t>
            </a:r>
            <a:r>
              <a:rPr lang="en-US" sz="2400" dirty="0" smtClean="0"/>
              <a:t>users, </a:t>
            </a:r>
            <a:r>
              <a:rPr lang="en-US" sz="2400" dirty="0"/>
              <a:t>ease of use, or usability</a:t>
            </a:r>
            <a:r>
              <a:rPr lang="en-US" sz="2400" dirty="0" smtClean="0"/>
              <a:t>, may be </a:t>
            </a:r>
            <a:r>
              <a:rPr lang="en-US" sz="2400" dirty="0"/>
              <a:t>a more important quality expectation than reliability or other concerns.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For </a:t>
            </a:r>
            <a:r>
              <a:rPr lang="en-US" sz="2400" dirty="0"/>
              <a:t>example</a:t>
            </a:r>
            <a:r>
              <a:rPr lang="en-US" sz="2400" dirty="0" smtClean="0"/>
              <a:t>, the </a:t>
            </a:r>
            <a:r>
              <a:rPr lang="en-US" sz="2400" dirty="0"/>
              <a:t>adoption of graphical user interfaces (GUI) in personal computers to replace </a:t>
            </a:r>
            <a:r>
              <a:rPr lang="en-US" sz="2400" dirty="0" smtClean="0"/>
              <a:t>text based </a:t>
            </a:r>
            <a:r>
              <a:rPr lang="en-US" sz="2400" dirty="0"/>
              <a:t>command interpreters often used in mainframes is primarily driven by the </a:t>
            </a:r>
            <a:r>
              <a:rPr lang="en-US" sz="2400" dirty="0" smtClean="0"/>
              <a:t>usability concerns </a:t>
            </a:r>
            <a:r>
              <a:rPr lang="en-US" sz="2400" dirty="0"/>
              <a:t>for their massive user population.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Similarly</a:t>
            </a:r>
            <a:r>
              <a:rPr lang="en-US" sz="2400" dirty="0"/>
              <a:t>, </a:t>
            </a:r>
            <a:r>
              <a:rPr lang="en-US" sz="2400" dirty="0" smtClean="0"/>
              <a:t>some users prefer ease </a:t>
            </a:r>
            <a:r>
              <a:rPr lang="en-US" sz="2400" dirty="0"/>
              <a:t>of </a:t>
            </a:r>
            <a:r>
              <a:rPr lang="en-US" sz="2400" dirty="0" smtClean="0"/>
              <a:t>installation. </a:t>
            </a:r>
            <a:r>
              <a:rPr lang="en-US" sz="2400" dirty="0"/>
              <a:t>However, </a:t>
            </a:r>
            <a:r>
              <a:rPr lang="en-US" sz="2400" dirty="0" smtClean="0"/>
              <a:t>different users </a:t>
            </a:r>
            <a:r>
              <a:rPr lang="en-US" sz="2400" dirty="0"/>
              <a:t>of the same system may have different views and priorities, such as the </a:t>
            </a:r>
            <a:r>
              <a:rPr lang="en-US" sz="2400" dirty="0" smtClean="0"/>
              <a:t>importance of </a:t>
            </a:r>
            <a:r>
              <a:rPr lang="en-US" sz="2400" dirty="0"/>
              <a:t>usability for novice users and the importance of reliability for sophisticated users of </a:t>
            </a:r>
            <a:r>
              <a:rPr lang="en-US" sz="2400" dirty="0" smtClean="0"/>
              <a:t>the web. </a:t>
            </a:r>
            <a:endParaRPr lang="sv-SE" sz="18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73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Quality Expectation on Producers Side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For software producers, the most fundamental quality question is to fulfill their </a:t>
            </a:r>
            <a:r>
              <a:rPr lang="en-US" sz="2400" dirty="0" smtClean="0"/>
              <a:t>contractual obligations </a:t>
            </a:r>
            <a:r>
              <a:rPr lang="en-US" sz="2400" dirty="0"/>
              <a:t>by producing software products that conform to product specifications or providing services that conform to service agreement.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By </a:t>
            </a:r>
            <a:r>
              <a:rPr lang="en-US" sz="2400" dirty="0"/>
              <a:t>extension, various product </a:t>
            </a:r>
            <a:r>
              <a:rPr lang="en-US" sz="2400" dirty="0" smtClean="0"/>
              <a:t>internal characteristics </a:t>
            </a:r>
            <a:r>
              <a:rPr lang="en-US" sz="2400" dirty="0"/>
              <a:t>that make it easy to conform to product specifications, such as good designs that maintain conceptual integrity of product components and reduce coupling </a:t>
            </a:r>
            <a:r>
              <a:rPr lang="en-US" sz="2400" dirty="0" smtClean="0"/>
              <a:t>across different </a:t>
            </a:r>
            <a:r>
              <a:rPr lang="en-US" sz="2400" dirty="0"/>
              <a:t>components, are also associated with good </a:t>
            </a:r>
            <a:r>
              <a:rPr lang="en-US" sz="2400" dirty="0" smtClean="0"/>
              <a:t>quality.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For product and service managers</a:t>
            </a:r>
            <a:r>
              <a:rPr lang="en-US" sz="2400" dirty="0" smtClean="0"/>
              <a:t>, following factors are closely related to quality as follows: 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adherence </a:t>
            </a:r>
            <a:r>
              <a:rPr lang="en-US" sz="2000" dirty="0"/>
              <a:t>to pre-selected software process </a:t>
            </a:r>
            <a:endParaRPr lang="en-US" sz="2000" dirty="0" smtClean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and </a:t>
            </a:r>
            <a:r>
              <a:rPr lang="en-US" sz="2000" dirty="0"/>
              <a:t>relevant </a:t>
            </a:r>
            <a:r>
              <a:rPr lang="en-US" sz="2000" dirty="0" smtClean="0"/>
              <a:t>standards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proper </a:t>
            </a:r>
            <a:r>
              <a:rPr lang="en-US" sz="2000" dirty="0"/>
              <a:t>choice of software </a:t>
            </a:r>
            <a:r>
              <a:rPr lang="en-US" sz="2000" dirty="0" smtClean="0"/>
              <a:t>methodologies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languages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tools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/>
              <a:t>selecting appropriate and effective QA </a:t>
            </a:r>
            <a:r>
              <a:rPr lang="en-US" sz="2000" dirty="0" smtClean="0"/>
              <a:t>strategies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50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Quality Framework and ISO 9126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Various so-called </a:t>
            </a:r>
            <a:r>
              <a:rPr lang="en-US" sz="2400" dirty="0"/>
              <a:t>“-</a:t>
            </a:r>
            <a:r>
              <a:rPr lang="en-US" sz="2400" dirty="0" err="1" smtClean="0"/>
              <a:t>ilities</a:t>
            </a:r>
            <a:r>
              <a:rPr lang="en-US" sz="2400" dirty="0" smtClean="0"/>
              <a:t>” connected to </a:t>
            </a:r>
            <a:r>
              <a:rPr lang="en-US" sz="2400" dirty="0"/>
              <a:t>the term quality, such as reliability, usability, portability, maintainability, etc.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Various models </a:t>
            </a:r>
            <a:r>
              <a:rPr lang="en-US" sz="2400" dirty="0"/>
              <a:t>or </a:t>
            </a:r>
            <a:r>
              <a:rPr lang="en-US" sz="2400" dirty="0" smtClean="0"/>
              <a:t>frameworks have </a:t>
            </a:r>
            <a:r>
              <a:rPr lang="en-US" sz="2400" dirty="0"/>
              <a:t>been proposed to accommodate these different quality </a:t>
            </a:r>
            <a:r>
              <a:rPr lang="en-US" sz="2400" dirty="0" smtClean="0"/>
              <a:t>views and </a:t>
            </a:r>
            <a:r>
              <a:rPr lang="en-US" sz="2400" dirty="0"/>
              <a:t>expectations</a:t>
            </a:r>
            <a:r>
              <a:rPr lang="en-US" sz="2400" dirty="0" smtClean="0"/>
              <a:t>, and </a:t>
            </a:r>
            <a:r>
              <a:rPr lang="en-US" sz="2400" dirty="0"/>
              <a:t>to define quality and related attributes, features, characteristics</a:t>
            </a:r>
            <a:r>
              <a:rPr lang="en-US" sz="2400" dirty="0" smtClean="0"/>
              <a:t>, and measurements</a:t>
            </a:r>
            <a:r>
              <a:rPr lang="en-US" sz="2400" dirty="0"/>
              <a:t>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ISO-9126(ISO</a:t>
            </a:r>
            <a:r>
              <a:rPr lang="en-US" sz="2400" dirty="0"/>
              <a:t>, 2001), the mostly </a:t>
            </a:r>
            <a:r>
              <a:rPr lang="en-US" sz="2400" dirty="0" smtClean="0"/>
              <a:t>influential one in the </a:t>
            </a:r>
            <a:r>
              <a:rPr lang="en-US" sz="2400" dirty="0"/>
              <a:t>software </a:t>
            </a:r>
            <a:r>
              <a:rPr lang="en-US" sz="2400" dirty="0" smtClean="0"/>
              <a:t>engineering community </a:t>
            </a:r>
            <a:r>
              <a:rPr lang="en-US" sz="2400" dirty="0"/>
              <a:t>today, and discuss various </a:t>
            </a:r>
            <a:r>
              <a:rPr lang="en-US" sz="2400" dirty="0" smtClean="0"/>
              <a:t>adaptations of </a:t>
            </a:r>
            <a:r>
              <a:rPr lang="en-US" sz="2400" dirty="0"/>
              <a:t>such </a:t>
            </a:r>
            <a:r>
              <a:rPr lang="en-US" sz="2400" dirty="0" smtClean="0"/>
              <a:t>quality frameworks </a:t>
            </a:r>
            <a:r>
              <a:rPr lang="en-US" sz="2400" dirty="0"/>
              <a:t>for specific application environments.</a:t>
            </a:r>
            <a:endParaRPr lang="en-US" sz="2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74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pic>
        <p:nvPicPr>
          <p:cNvPr id="8" name="object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416" y="235020"/>
            <a:ext cx="8228104" cy="608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66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Defect, Failure, Fault and Error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Key to the correctness aspect of software quality is the concept of defect, failure, fault, </a:t>
            </a:r>
            <a:r>
              <a:rPr lang="en-US" sz="2400" dirty="0" smtClean="0"/>
              <a:t>and error</a:t>
            </a:r>
            <a:r>
              <a:rPr lang="en-US" sz="2400" dirty="0"/>
              <a:t>. </a:t>
            </a:r>
            <a:endParaRPr lang="en-US" sz="2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defect: refers </a:t>
            </a:r>
            <a:r>
              <a:rPr lang="en-US" sz="2400" dirty="0"/>
              <a:t>to some problem with the software, either with</a:t>
            </a:r>
            <a:br>
              <a:rPr lang="en-US" sz="2400" dirty="0"/>
            </a:br>
            <a:r>
              <a:rPr lang="en-US" sz="2400" dirty="0"/>
              <a:t>its external behavior or with its internal characteristics. </a:t>
            </a:r>
            <a:endParaRPr lang="en-US" sz="2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Failure</a:t>
            </a:r>
            <a:r>
              <a:rPr lang="en-US" sz="2400" dirty="0"/>
              <a:t>: The inability of a system or component to perform its required functions</a:t>
            </a:r>
            <a:br>
              <a:rPr lang="en-US" sz="2400" dirty="0"/>
            </a:br>
            <a:r>
              <a:rPr lang="en-US" sz="2400" dirty="0"/>
              <a:t>within specified performance </a:t>
            </a:r>
            <a:r>
              <a:rPr lang="en-US" sz="2400" dirty="0"/>
              <a:t>requirements.</a:t>
            </a:r>
            <a:endParaRPr lang="en-US" sz="2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Fault</a:t>
            </a:r>
            <a:r>
              <a:rPr lang="en-US" sz="2400" dirty="0"/>
              <a:t>: An incorrect step, process, or data definition in a computer </a:t>
            </a:r>
            <a:r>
              <a:rPr lang="en-US" sz="2400" dirty="0"/>
              <a:t>program.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Error</a:t>
            </a:r>
            <a:r>
              <a:rPr lang="en-US" sz="2400" dirty="0"/>
              <a:t>: A human action that produces an incorrect result.</a:t>
            </a:r>
            <a:br>
              <a:rPr lang="en-US" sz="2400" dirty="0"/>
            </a:br>
            <a:r>
              <a:rPr lang="en-US" sz="2400" dirty="0" smtClean="0"/>
              <a:t>Therefore</a:t>
            </a:r>
            <a:r>
              <a:rPr lang="en-US" sz="2400" dirty="0"/>
              <a:t>, the term failure refers to a behavioral deviation from the user requirement</a:t>
            </a:r>
            <a:br>
              <a:rPr lang="en-US" sz="2400" dirty="0"/>
            </a:br>
            <a:r>
              <a:rPr lang="en-US" sz="2400" dirty="0"/>
              <a:t>or the product </a:t>
            </a:r>
            <a:r>
              <a:rPr lang="en-US" sz="2400" dirty="0" smtClean="0"/>
              <a:t>specification</a:t>
            </a:r>
            <a:endParaRPr lang="en-US" sz="2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fault </a:t>
            </a:r>
            <a:r>
              <a:rPr lang="en-US" sz="2400" dirty="0"/>
              <a:t>refers to an underlying condition within a software that</a:t>
            </a:r>
            <a:br>
              <a:rPr lang="en-US" sz="2400" dirty="0"/>
            </a:br>
            <a:r>
              <a:rPr lang="en-US" sz="2400" dirty="0"/>
              <a:t>causes certain failure(s) to </a:t>
            </a:r>
            <a:r>
              <a:rPr lang="en-US" sz="2400" dirty="0" smtClean="0"/>
              <a:t>occur </a:t>
            </a:r>
            <a:endParaRPr lang="en-US" sz="2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while </a:t>
            </a:r>
            <a:r>
              <a:rPr lang="en-US" sz="2400" dirty="0"/>
              <a:t>error refers to a missing or incorrect human action</a:t>
            </a:r>
            <a:br>
              <a:rPr lang="en-US" sz="2400" dirty="0"/>
            </a:br>
            <a:r>
              <a:rPr lang="en-US" sz="2400" dirty="0"/>
              <a:t>resulting in certain fault(s) being </a:t>
            </a:r>
            <a:r>
              <a:rPr lang="en-US" sz="2400" dirty="0"/>
              <a:t>injected in to a </a:t>
            </a:r>
            <a:r>
              <a:rPr lang="en-US" sz="2400" dirty="0"/>
              <a:t>software</a:t>
            </a:r>
            <a:r>
              <a:rPr lang="en-US" sz="2400" dirty="0"/>
              <a:t>.</a:t>
            </a:r>
          </a:p>
          <a:p>
            <a:pPr marL="0" indent="0" algn="just">
              <a:buNone/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71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cs typeface="Times New Roman" pitchFamily="18" charset="0"/>
              </a:rPr>
              <a:t>Defect, Failure, Fault and Error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We also extend errors to include </a:t>
            </a:r>
            <a:r>
              <a:rPr lang="en-US" sz="2400" i="1" dirty="0"/>
              <a:t>error sources, </a:t>
            </a:r>
            <a:r>
              <a:rPr lang="en-US" sz="2400" dirty="0"/>
              <a:t>or the root causes for the missing or</a:t>
            </a:r>
            <a:br>
              <a:rPr lang="en-US" sz="2400" dirty="0"/>
            </a:br>
            <a:r>
              <a:rPr lang="en-US" sz="2400" dirty="0"/>
              <a:t>incorrect actions, such as human misconceptions, misunderstandings, etc.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Failures</a:t>
            </a:r>
            <a:r>
              <a:rPr lang="en-US" sz="2400" dirty="0"/>
              <a:t>, </a:t>
            </a:r>
            <a:r>
              <a:rPr lang="en-US" sz="2400" dirty="0" smtClean="0"/>
              <a:t>faults, and </a:t>
            </a:r>
            <a:r>
              <a:rPr lang="en-US" sz="2400" dirty="0"/>
              <a:t>errors are collectively referred to as </a:t>
            </a:r>
            <a:r>
              <a:rPr lang="en-US" sz="2400" i="1" dirty="0"/>
              <a:t>defects </a:t>
            </a:r>
            <a:r>
              <a:rPr lang="en-US" sz="2400" dirty="0"/>
              <a:t>in literature.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Software </a:t>
            </a:r>
            <a:r>
              <a:rPr lang="en-US" sz="2400" dirty="0"/>
              <a:t>problems or defects, are also commonly referred to as “bugs”. </a:t>
            </a:r>
            <a:r>
              <a:rPr lang="en-US" sz="2400" dirty="0" smtClean="0"/>
              <a:t>However, the term </a:t>
            </a:r>
            <a:r>
              <a:rPr lang="en-US" sz="2400" dirty="0"/>
              <a:t>bug is never precisely defined</a:t>
            </a:r>
            <a:r>
              <a:rPr lang="en-US" sz="2400" dirty="0" smtClean="0"/>
              <a:t>, such </a:t>
            </a:r>
            <a:r>
              <a:rPr lang="en-US" sz="2400" dirty="0"/>
              <a:t>as the different aspects of defects defined as </a:t>
            </a:r>
            <a:r>
              <a:rPr lang="en-US" sz="2400" dirty="0" smtClean="0"/>
              <a:t>errors, faults</a:t>
            </a:r>
            <a:r>
              <a:rPr lang="en-US" sz="2400" dirty="0"/>
              <a:t>, and failures above. </a:t>
            </a:r>
            <a:endParaRPr lang="en-US" sz="2400" dirty="0" smtClean="0"/>
          </a:p>
          <a:p>
            <a:pPr marL="0" indent="0" algn="just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52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cs typeface="Times New Roman" pitchFamily="18" charset="0"/>
              </a:rPr>
              <a:t>Defect, Failure, Fault and Error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019" y="1072289"/>
            <a:ext cx="7971211" cy="5227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246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cs typeface="Times New Roman" pitchFamily="18" charset="0"/>
              </a:rPr>
              <a:t>Defect, Failure, Fault and Error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144" y="1084591"/>
            <a:ext cx="6483465" cy="5009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899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cs typeface="Times New Roman" pitchFamily="18" charset="0"/>
              </a:rPr>
              <a:t>ISO/IEC12207 Software Life Cycle Processes (Software Processes)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876" y="1199996"/>
            <a:ext cx="8475642" cy="5113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404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cs typeface="Times New Roman" pitchFamily="18" charset="0"/>
              </a:rPr>
              <a:t>Software Development Process 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7533"/>
            <a:ext cx="10812744" cy="4969430"/>
          </a:xfrm>
        </p:spPr>
        <p:txBody>
          <a:bodyPr>
            <a:normAutofit lnSpcReduction="10000"/>
          </a:bodyPr>
          <a:lstStyle/>
          <a:p>
            <a:r>
              <a:rPr lang="tr-TR" altLang="en-US" dirty="0" smtClean="0"/>
              <a:t>Software </a:t>
            </a:r>
            <a:r>
              <a:rPr lang="tr-TR" altLang="en-US" dirty="0"/>
              <a:t>requirements analysis </a:t>
            </a:r>
          </a:p>
          <a:p>
            <a:r>
              <a:rPr lang="tr-TR" altLang="en-US" dirty="0"/>
              <a:t>Software architectural design </a:t>
            </a:r>
          </a:p>
          <a:p>
            <a:r>
              <a:rPr lang="tr-TR" altLang="en-US" dirty="0"/>
              <a:t>Software detailed design </a:t>
            </a:r>
          </a:p>
          <a:p>
            <a:r>
              <a:rPr lang="tr-TR" altLang="en-US" dirty="0"/>
              <a:t>Software coding and testing </a:t>
            </a:r>
          </a:p>
          <a:p>
            <a:r>
              <a:rPr lang="tr-TR" altLang="en-US" dirty="0"/>
              <a:t>Software integration </a:t>
            </a:r>
          </a:p>
          <a:p>
            <a:r>
              <a:rPr lang="tr-TR" altLang="en-US" dirty="0"/>
              <a:t>Software qualification testing </a:t>
            </a:r>
          </a:p>
          <a:p>
            <a:r>
              <a:rPr lang="tr-TR" altLang="en-US" dirty="0"/>
              <a:t>System integration </a:t>
            </a:r>
          </a:p>
          <a:p>
            <a:r>
              <a:rPr lang="tr-TR" altLang="en-US" dirty="0"/>
              <a:t>System qualification testing </a:t>
            </a:r>
          </a:p>
          <a:p>
            <a:r>
              <a:rPr lang="tr-TR" altLang="en-US" dirty="0"/>
              <a:t>Software installation </a:t>
            </a:r>
          </a:p>
          <a:p>
            <a:r>
              <a:rPr lang="tr-TR" altLang="en-US" dirty="0"/>
              <a:t>Software acceptance support</a:t>
            </a:r>
          </a:p>
        </p:txBody>
      </p:sp>
    </p:spTree>
    <p:extLst>
      <p:ext uri="{BB962C8B-B14F-4D97-AF65-F5344CB8AC3E}">
        <p14:creationId xmlns:p14="http://schemas.microsoft.com/office/powerpoint/2010/main" val="128745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7533"/>
            <a:ext cx="10812744" cy="4969430"/>
          </a:xfrm>
        </p:spPr>
        <p:txBody>
          <a:bodyPr>
            <a:normAutofit/>
          </a:bodyPr>
          <a:lstStyle/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pPr marL="0" indent="0" algn="ctr">
              <a:buNone/>
            </a:pPr>
            <a:r>
              <a:rPr lang="tr-TR" altLang="en-US" sz="4000" dirty="0" smtClean="0"/>
              <a:t>Quality </a:t>
            </a:r>
            <a:r>
              <a:rPr lang="tr-TR" altLang="en-US" sz="4000" dirty="0"/>
              <a:t>in Software Development</a:t>
            </a:r>
          </a:p>
        </p:txBody>
      </p:sp>
    </p:spTree>
    <p:extLst>
      <p:ext uri="{BB962C8B-B14F-4D97-AF65-F5344CB8AC3E}">
        <p14:creationId xmlns:p14="http://schemas.microsoft.com/office/powerpoint/2010/main" val="36564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cs typeface="Times New Roman" pitchFamily="18" charset="0"/>
              </a:rPr>
              <a:t>Software Development Process 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7533"/>
            <a:ext cx="10812744" cy="4969430"/>
          </a:xfrm>
        </p:spPr>
        <p:txBody>
          <a:bodyPr>
            <a:normAutofit lnSpcReduction="10000"/>
          </a:bodyPr>
          <a:lstStyle/>
          <a:p>
            <a:pPr>
              <a:spcAft>
                <a:spcPts val="700"/>
              </a:spcAft>
            </a:pPr>
            <a:r>
              <a:rPr lang="en-US" altLang="en-US" dirty="0"/>
              <a:t>Software development should be carried out by following the principles, standards and procedures designed to develop a software product </a:t>
            </a:r>
            <a:r>
              <a:rPr lang="tr-TR" altLang="en-US" dirty="0"/>
              <a:t>(</a:t>
            </a:r>
            <a:r>
              <a:rPr lang="tr-TR" altLang="en-US" dirty="0">
                <a:solidFill>
                  <a:srgbClr val="7030A0"/>
                </a:solidFill>
              </a:rPr>
              <a:t>Tauqeer</a:t>
            </a:r>
            <a:r>
              <a:rPr lang="tr-TR" altLang="en-US" dirty="0"/>
              <a:t>)</a:t>
            </a:r>
            <a:endParaRPr lang="en-US" altLang="en-US" dirty="0"/>
          </a:p>
          <a:p>
            <a:pPr>
              <a:spcAft>
                <a:spcPts val="700"/>
              </a:spcAft>
            </a:pPr>
            <a:r>
              <a:rPr lang="en-US" altLang="en-US" dirty="0"/>
              <a:t>Standardize software development assures; Good hand on Analyzing, Flexible and changeable design, Traceability, Refactoring in coding, Testability, Maintainability (</a:t>
            </a:r>
            <a:r>
              <a:rPr lang="en-US" altLang="en-US" dirty="0">
                <a:solidFill>
                  <a:srgbClr val="7030A0"/>
                </a:solidFill>
              </a:rPr>
              <a:t>Syed</a:t>
            </a:r>
            <a:r>
              <a:rPr lang="en-US" altLang="en-US" dirty="0"/>
              <a:t>)</a:t>
            </a:r>
          </a:p>
          <a:p>
            <a:pPr>
              <a:spcAft>
                <a:spcPts val="700"/>
              </a:spcAft>
            </a:pPr>
            <a:r>
              <a:rPr lang="en-US" altLang="en-US" dirty="0"/>
              <a:t>Conformance to the coding conventions (organization specific) (</a:t>
            </a:r>
            <a:r>
              <a:rPr lang="en-US" altLang="en-US" dirty="0" err="1">
                <a:solidFill>
                  <a:srgbClr val="7030A0"/>
                </a:solidFill>
              </a:rPr>
              <a:t>Nauman</a:t>
            </a:r>
            <a:r>
              <a:rPr lang="en-US" altLang="en-US" dirty="0"/>
              <a:t>)</a:t>
            </a:r>
          </a:p>
          <a:p>
            <a:pPr>
              <a:spcAft>
                <a:spcPts val="700"/>
              </a:spcAft>
            </a:pPr>
            <a:r>
              <a:rPr lang="en-US" altLang="en-US" dirty="0"/>
              <a:t>Structured, commented, well-organized implementation (</a:t>
            </a:r>
            <a:r>
              <a:rPr lang="en-US" altLang="en-US" dirty="0">
                <a:solidFill>
                  <a:srgbClr val="7030A0"/>
                </a:solidFill>
              </a:rPr>
              <a:t>Michael</a:t>
            </a:r>
            <a:r>
              <a:rPr lang="en-US" altLang="en-US" dirty="0"/>
              <a:t>)</a:t>
            </a:r>
          </a:p>
          <a:p>
            <a:pPr>
              <a:spcAft>
                <a:spcPts val="700"/>
              </a:spcAft>
            </a:pPr>
            <a:r>
              <a:rPr lang="en-US" altLang="en-US" dirty="0"/>
              <a:t>We have to carry out the whole life cycle to attain quality in software development i.e. quality in every phase (</a:t>
            </a:r>
            <a:r>
              <a:rPr lang="en-US" altLang="en-US" dirty="0" err="1">
                <a:solidFill>
                  <a:srgbClr val="7030A0"/>
                </a:solidFill>
              </a:rPr>
              <a:t>Karuna</a:t>
            </a:r>
            <a:r>
              <a:rPr lang="en-US" altLang="en-US" dirty="0"/>
              <a:t>)</a:t>
            </a:r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40300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7533"/>
            <a:ext cx="10812744" cy="4969430"/>
          </a:xfrm>
        </p:spPr>
        <p:txBody>
          <a:bodyPr>
            <a:normAutofit/>
          </a:bodyPr>
          <a:lstStyle/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pPr marL="0" indent="0" algn="ctr">
              <a:buNone/>
            </a:pPr>
            <a:r>
              <a:rPr lang="tr-TR" altLang="en-US" sz="4000" dirty="0" smtClean="0"/>
              <a:t>Quality </a:t>
            </a:r>
            <a:r>
              <a:rPr lang="tr-TR" altLang="en-US" sz="4000" dirty="0"/>
              <a:t>in Software </a:t>
            </a:r>
            <a:r>
              <a:rPr lang="en-US" altLang="en-US" sz="4000" dirty="0" smtClean="0"/>
              <a:t>Process</a:t>
            </a:r>
            <a:endParaRPr lang="tr-T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45514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cs typeface="Times New Roman" pitchFamily="18" charset="0"/>
              </a:rPr>
              <a:t>Quality in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7533"/>
            <a:ext cx="10812744" cy="496943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spcAft>
                <a:spcPts val="1200"/>
              </a:spcAft>
            </a:pPr>
            <a:r>
              <a:rPr lang="en-US" altLang="en-US" dirty="0"/>
              <a:t>Visibility and transparency of process (E.g. in tracking progress) </a:t>
            </a:r>
            <a:r>
              <a:rPr lang="en-US" altLang="en-US" sz="2400" dirty="0"/>
              <a:t>(</a:t>
            </a:r>
            <a:r>
              <a:rPr lang="en-US" altLang="en-US" dirty="0" err="1">
                <a:solidFill>
                  <a:srgbClr val="7030A0"/>
                </a:solidFill>
              </a:rPr>
              <a:t>Nauman</a:t>
            </a:r>
            <a:r>
              <a:rPr lang="en-US" altLang="en-US" sz="2400" dirty="0"/>
              <a:t>)</a:t>
            </a:r>
          </a:p>
          <a:p>
            <a:pPr>
              <a:lnSpc>
                <a:spcPct val="80000"/>
              </a:lnSpc>
              <a:spcAft>
                <a:spcPts val="1200"/>
              </a:spcAft>
            </a:pPr>
            <a:r>
              <a:rPr lang="en-US" altLang="en-US" dirty="0"/>
              <a:t>A process that is predictable and provide what we expect to have</a:t>
            </a:r>
            <a:r>
              <a:rPr lang="en-US" altLang="en-US" sz="2400" dirty="0"/>
              <a:t> (</a:t>
            </a:r>
            <a:r>
              <a:rPr lang="en-US" altLang="en-US" dirty="0" err="1">
                <a:solidFill>
                  <a:srgbClr val="7030A0"/>
                </a:solidFill>
              </a:rPr>
              <a:t>Eyaye</a:t>
            </a:r>
            <a:r>
              <a:rPr lang="en-US" altLang="en-US" sz="2400" dirty="0"/>
              <a:t>)</a:t>
            </a:r>
          </a:p>
          <a:p>
            <a:pPr>
              <a:lnSpc>
                <a:spcPct val="80000"/>
              </a:lnSpc>
              <a:spcAft>
                <a:spcPts val="1200"/>
              </a:spcAft>
            </a:pPr>
            <a:r>
              <a:rPr lang="en-US" altLang="en-US" dirty="0"/>
              <a:t>Following standards make each process clear and easy to handle in future </a:t>
            </a:r>
            <a:r>
              <a:rPr lang="en-US" altLang="en-US" sz="2400" dirty="0"/>
              <a:t>(</a:t>
            </a:r>
            <a:r>
              <a:rPr lang="en-US" altLang="en-US" dirty="0" err="1">
                <a:solidFill>
                  <a:srgbClr val="7030A0"/>
                </a:solidFill>
              </a:rPr>
              <a:t>Aftab</a:t>
            </a:r>
            <a:r>
              <a:rPr lang="en-US" altLang="en-US" sz="2400" dirty="0"/>
              <a:t>)</a:t>
            </a:r>
          </a:p>
          <a:p>
            <a:pPr>
              <a:lnSpc>
                <a:spcPct val="80000"/>
              </a:lnSpc>
              <a:spcAft>
                <a:spcPts val="1200"/>
              </a:spcAft>
            </a:pPr>
            <a:r>
              <a:rPr lang="en-US" altLang="en-US" dirty="0"/>
              <a:t>The prevailing maturity level </a:t>
            </a:r>
            <a:r>
              <a:rPr lang="en-US" altLang="en-US" sz="2000" dirty="0"/>
              <a:t>(</a:t>
            </a:r>
            <a:r>
              <a:rPr lang="en-US" altLang="en-US" sz="2400" dirty="0" err="1">
                <a:solidFill>
                  <a:srgbClr val="7030A0"/>
                </a:solidFill>
              </a:rPr>
              <a:t>Isong</a:t>
            </a:r>
            <a:r>
              <a:rPr lang="en-US" altLang="en-US" sz="2000" dirty="0"/>
              <a:t>)</a:t>
            </a:r>
          </a:p>
          <a:p>
            <a:pPr>
              <a:lnSpc>
                <a:spcPct val="80000"/>
              </a:lnSpc>
              <a:spcAft>
                <a:spcPts val="1200"/>
              </a:spcAft>
            </a:pPr>
            <a:r>
              <a:rPr lang="en-US" altLang="en-US" dirty="0"/>
              <a:t>Use standardized approach as international standards-ISO/IEC TR 15504 series as a framework to assess the software processes </a:t>
            </a:r>
            <a:r>
              <a:rPr lang="en-US" altLang="en-US" sz="2400" dirty="0"/>
              <a:t>(</a:t>
            </a:r>
            <a:r>
              <a:rPr lang="en-US" altLang="en-US" sz="2400" dirty="0" err="1">
                <a:solidFill>
                  <a:srgbClr val="7030A0"/>
                </a:solidFill>
              </a:rPr>
              <a:t>Jia</a:t>
            </a:r>
            <a:r>
              <a:rPr lang="en-US" altLang="en-US" sz="2400" dirty="0"/>
              <a:t>)</a:t>
            </a:r>
          </a:p>
          <a:p>
            <a:pPr>
              <a:lnSpc>
                <a:spcPct val="80000"/>
              </a:lnSpc>
              <a:spcAft>
                <a:spcPts val="1200"/>
              </a:spcAft>
            </a:pPr>
            <a:r>
              <a:rPr lang="en-US" altLang="en-US" dirty="0"/>
              <a:t>Team members can realize gaps between the process and reality (practice) and they can identify how to improve the process (</a:t>
            </a:r>
            <a:r>
              <a:rPr lang="en-US" altLang="en-US" dirty="0">
                <a:solidFill>
                  <a:srgbClr val="7030A0"/>
                </a:solidFill>
              </a:rPr>
              <a:t>Abdullah</a:t>
            </a:r>
            <a:r>
              <a:rPr lang="en-US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712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7533"/>
            <a:ext cx="10812744" cy="4969430"/>
          </a:xfrm>
        </p:spPr>
        <p:txBody>
          <a:bodyPr>
            <a:normAutofit/>
          </a:bodyPr>
          <a:lstStyle/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pPr marL="0" indent="0" algn="ctr">
              <a:buNone/>
            </a:pPr>
            <a:r>
              <a:rPr lang="tr-TR" altLang="en-US" sz="4000" dirty="0"/>
              <a:t>Quality in Software Products</a:t>
            </a:r>
          </a:p>
        </p:txBody>
      </p:sp>
    </p:spTree>
    <p:extLst>
      <p:ext uri="{BB962C8B-B14F-4D97-AF65-F5344CB8AC3E}">
        <p14:creationId xmlns:p14="http://schemas.microsoft.com/office/powerpoint/2010/main" val="366033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cs typeface="Times New Roman" pitchFamily="18" charset="0"/>
              </a:rPr>
              <a:t>Quality in Software </a:t>
            </a:r>
            <a:r>
              <a:rPr lang="en-US" sz="3200" b="1" dirty="0" smtClean="0">
                <a:cs typeface="Times New Roman" pitchFamily="18" charset="0"/>
              </a:rPr>
              <a:t>Products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7533"/>
            <a:ext cx="10812744" cy="496943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altLang="en-US" dirty="0"/>
              <a:t>Degree to which this software meets pre-defined requirements and expectations</a:t>
            </a:r>
            <a:r>
              <a:rPr lang="tr-TR" altLang="en-US" dirty="0"/>
              <a:t> (</a:t>
            </a:r>
            <a:r>
              <a:rPr lang="en-US" altLang="en-US" dirty="0">
                <a:solidFill>
                  <a:srgbClr val="7030A0"/>
                </a:solidFill>
              </a:rPr>
              <a:t>Saleh</a:t>
            </a:r>
            <a:r>
              <a:rPr lang="tr-TR" altLang="en-US" dirty="0"/>
              <a:t>)</a:t>
            </a:r>
            <a:r>
              <a:rPr lang="en-US" altLang="en-US" dirty="0"/>
              <a:t>.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altLang="en-US" dirty="0"/>
              <a:t>All the following quality attributes should be included in software product (</a:t>
            </a:r>
            <a:r>
              <a:rPr lang="en-US" altLang="en-US" dirty="0" err="1">
                <a:solidFill>
                  <a:srgbClr val="7030A0"/>
                </a:solidFill>
              </a:rPr>
              <a:t>Asar</a:t>
            </a:r>
            <a:r>
              <a:rPr lang="en-US" altLang="en-US" dirty="0">
                <a:solidFill>
                  <a:srgbClr val="7030A0"/>
                </a:solidFill>
              </a:rPr>
              <a:t> Jan</a:t>
            </a:r>
            <a:r>
              <a:rPr lang="en-US" altLang="en-US" dirty="0"/>
              <a:t>).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altLang="en-US" dirty="0"/>
              <a:t>Means quality in end product: Satisfy the customer needs and expectations, Reliability, Availability, Performance, Usability, Easy to maintain, Provide flexibility (</a:t>
            </a:r>
            <a:r>
              <a:rPr lang="en-US" altLang="en-US" dirty="0">
                <a:solidFill>
                  <a:srgbClr val="7030A0"/>
                </a:solidFill>
              </a:rPr>
              <a:t>Usman</a:t>
            </a:r>
            <a:r>
              <a:rPr lang="en-US" altLang="en-US" dirty="0"/>
              <a:t>)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tr-TR" altLang="en-US" dirty="0"/>
              <a:t>Conformance</a:t>
            </a:r>
            <a:r>
              <a:rPr lang="en-US" altLang="en-US" dirty="0"/>
              <a:t> </a:t>
            </a:r>
            <a:r>
              <a:rPr lang="tr-TR" altLang="en-US" dirty="0"/>
              <a:t>to</a:t>
            </a:r>
            <a:r>
              <a:rPr lang="en-US" altLang="en-US" dirty="0"/>
              <a:t> </a:t>
            </a:r>
            <a:r>
              <a:rPr lang="tr-TR" altLang="en-US" dirty="0"/>
              <a:t>the</a:t>
            </a:r>
            <a:r>
              <a:rPr lang="en-US" altLang="en-US" dirty="0"/>
              <a:t> </a:t>
            </a:r>
            <a:r>
              <a:rPr lang="tr-TR" altLang="en-US" dirty="0"/>
              <a:t>stated</a:t>
            </a:r>
            <a:r>
              <a:rPr lang="en-US" altLang="en-US" dirty="0"/>
              <a:t> </a:t>
            </a:r>
            <a:r>
              <a:rPr lang="tr-TR" altLang="en-US" dirty="0"/>
              <a:t>qualities</a:t>
            </a:r>
            <a:r>
              <a:rPr lang="en-US" altLang="en-US" dirty="0"/>
              <a:t> </a:t>
            </a:r>
            <a:r>
              <a:rPr lang="tr-TR" altLang="en-US" dirty="0"/>
              <a:t>of</a:t>
            </a:r>
            <a:r>
              <a:rPr lang="en-US" altLang="en-US" dirty="0"/>
              <a:t> </a:t>
            </a:r>
            <a:r>
              <a:rPr lang="tr-TR" altLang="en-US" dirty="0"/>
              <a:t>the</a:t>
            </a:r>
            <a:r>
              <a:rPr lang="en-US" altLang="en-US" dirty="0"/>
              <a:t> </a:t>
            </a:r>
            <a:r>
              <a:rPr lang="tr-TR" altLang="en-US" dirty="0"/>
              <a:t>product.</a:t>
            </a:r>
            <a:r>
              <a:rPr lang="en-US" altLang="en-US" dirty="0"/>
              <a:t> </a:t>
            </a:r>
            <a:r>
              <a:rPr lang="tr-TR" altLang="en-US" dirty="0"/>
              <a:t>It</a:t>
            </a:r>
            <a:r>
              <a:rPr lang="en-US" altLang="en-US" dirty="0"/>
              <a:t> </a:t>
            </a:r>
            <a:r>
              <a:rPr lang="tr-TR" altLang="en-US" dirty="0"/>
              <a:t>is</a:t>
            </a:r>
            <a:r>
              <a:rPr lang="en-US" altLang="en-US" dirty="0"/>
              <a:t> </a:t>
            </a:r>
            <a:r>
              <a:rPr lang="tr-TR" altLang="en-US" dirty="0"/>
              <a:t>like</a:t>
            </a:r>
            <a:r>
              <a:rPr lang="en-US" altLang="en-US" dirty="0"/>
              <a:t> </a:t>
            </a:r>
            <a:r>
              <a:rPr lang="tr-TR" altLang="en-US" dirty="0"/>
              <a:t>a</a:t>
            </a:r>
            <a:r>
              <a:rPr lang="en-US" altLang="en-US" dirty="0"/>
              <a:t> </a:t>
            </a:r>
            <a:r>
              <a:rPr lang="tr-TR" altLang="en-US" dirty="0"/>
              <a:t>degree</a:t>
            </a:r>
            <a:r>
              <a:rPr lang="en-US" altLang="en-US" dirty="0"/>
              <a:t> </a:t>
            </a:r>
            <a:r>
              <a:rPr lang="tr-TR" altLang="en-US" dirty="0"/>
              <a:t>of</a:t>
            </a:r>
            <a:r>
              <a:rPr lang="en-US" altLang="en-US" dirty="0"/>
              <a:t> </a:t>
            </a:r>
            <a:r>
              <a:rPr lang="tr-TR" altLang="en-US" dirty="0"/>
              <a:t>the</a:t>
            </a:r>
            <a:r>
              <a:rPr lang="en-US" altLang="en-US" dirty="0"/>
              <a:t> </a:t>
            </a:r>
            <a:r>
              <a:rPr lang="tr-TR" altLang="en-US" dirty="0"/>
              <a:t>contractual</a:t>
            </a:r>
            <a:r>
              <a:rPr lang="en-US" altLang="en-US" dirty="0"/>
              <a:t> </a:t>
            </a:r>
            <a:r>
              <a:rPr lang="tr-TR" altLang="en-US" dirty="0"/>
              <a:t>agreement</a:t>
            </a:r>
            <a:r>
              <a:rPr lang="en-US" altLang="en-US" dirty="0"/>
              <a:t> </a:t>
            </a:r>
            <a:r>
              <a:rPr lang="tr-TR" altLang="en-US" dirty="0"/>
              <a:t>that</a:t>
            </a:r>
            <a:r>
              <a:rPr lang="en-US" altLang="en-US" dirty="0"/>
              <a:t> </a:t>
            </a:r>
            <a:r>
              <a:rPr lang="tr-TR" altLang="en-US" dirty="0"/>
              <a:t>is</a:t>
            </a:r>
            <a:r>
              <a:rPr lang="en-US" altLang="en-US" dirty="0"/>
              <a:t> </a:t>
            </a:r>
            <a:r>
              <a:rPr lang="tr-TR" altLang="en-US" dirty="0"/>
              <a:t>fulfilled</a:t>
            </a:r>
            <a:r>
              <a:rPr lang="en-US" altLang="en-US" dirty="0"/>
              <a:t> (</a:t>
            </a:r>
            <a:r>
              <a:rPr lang="en-US" altLang="en-US" dirty="0" err="1">
                <a:solidFill>
                  <a:srgbClr val="7030A0"/>
                </a:solidFill>
              </a:rPr>
              <a:t>Phani</a:t>
            </a:r>
            <a:r>
              <a:rPr lang="en-US" altLang="en-US" dirty="0"/>
              <a:t>)</a:t>
            </a:r>
            <a:r>
              <a:rPr lang="tr-TR" altLang="en-US" dirty="0"/>
              <a:t>.</a:t>
            </a:r>
            <a:endParaRPr lang="en-US" altLang="en-US" dirty="0"/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altLang="en-US" dirty="0"/>
              <a:t>Meaning of a quality software product is different for end users, buyers, developers, maintainers (</a:t>
            </a:r>
            <a:r>
              <a:rPr lang="en-US" altLang="en-US" dirty="0" err="1">
                <a:solidFill>
                  <a:srgbClr val="7030A0"/>
                </a:solidFill>
              </a:rPr>
              <a:t>Sajad</a:t>
            </a:r>
            <a:r>
              <a:rPr lang="en-US" altLang="en-US" dirty="0"/>
              <a:t>).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altLang="en-US" dirty="0"/>
              <a:t>Quality of final product depends mostly on the quality of software process (</a:t>
            </a:r>
            <a:r>
              <a:rPr lang="en-US" altLang="en-US" dirty="0" err="1">
                <a:solidFill>
                  <a:srgbClr val="7030A0"/>
                </a:solidFill>
              </a:rPr>
              <a:t>Kranthi</a:t>
            </a:r>
            <a:r>
              <a:rPr lang="en-US" altLang="en-US" dirty="0"/>
              <a:t>)</a:t>
            </a:r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80604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055077"/>
            <a:ext cx="11461750" cy="5262196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r>
              <a:rPr lang="en-US" b="1" dirty="0"/>
              <a:t>			Questions and Answers sessions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30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055077"/>
            <a:ext cx="11461750" cy="5262196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7BA220A-04FE-4CA5-AAB4-C050E821C4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476500"/>
            <a:ext cx="6096000" cy="1905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25</a:t>
            </a:fld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43225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72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2003</TotalTime>
  <Words>1645</Words>
  <Application>Microsoft Office PowerPoint</Application>
  <PresentationFormat>Custom</PresentationFormat>
  <Paragraphs>238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Agenda</vt:lpstr>
      <vt:lpstr>Software Quality</vt:lpstr>
      <vt:lpstr>Quality Perspectives and Expectation</vt:lpstr>
      <vt:lpstr>People Roles and Responsibilities</vt:lpstr>
      <vt:lpstr>People Roles and Responsibilities</vt:lpstr>
      <vt:lpstr>Quality Expectation on Consumer Side</vt:lpstr>
      <vt:lpstr>Quality Expectation on Consumer Side</vt:lpstr>
      <vt:lpstr>Quality Expectation on Producers Side</vt:lpstr>
      <vt:lpstr>Quality Framework and ISO 9126</vt:lpstr>
      <vt:lpstr>PowerPoint Presentation</vt:lpstr>
      <vt:lpstr>Defect, Failure, Fault and Error</vt:lpstr>
      <vt:lpstr>Defect, Failure, Fault and Error</vt:lpstr>
      <vt:lpstr>Defect, Failure, Fault and Error</vt:lpstr>
      <vt:lpstr>Defect, Failure, Fault and Error</vt:lpstr>
      <vt:lpstr>ISO/IEC12207 Software Life Cycle Processes (Software Processes)</vt:lpstr>
      <vt:lpstr>Software Development Process </vt:lpstr>
      <vt:lpstr>PowerPoint Presentation</vt:lpstr>
      <vt:lpstr>Software Development Process </vt:lpstr>
      <vt:lpstr>PowerPoint Presentation</vt:lpstr>
      <vt:lpstr>Quality in Software Processes</vt:lpstr>
      <vt:lpstr>PowerPoint Presentation</vt:lpstr>
      <vt:lpstr>Quality in Software Products</vt:lpstr>
      <vt:lpstr>Questions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Naseer Jan</dc:creator>
  <cp:lastModifiedBy>janna</cp:lastModifiedBy>
  <cp:revision>177</cp:revision>
  <dcterms:created xsi:type="dcterms:W3CDTF">2020-03-22T07:59:51Z</dcterms:created>
  <dcterms:modified xsi:type="dcterms:W3CDTF">2025-09-22T02:47:58Z</dcterms:modified>
</cp:coreProperties>
</file>
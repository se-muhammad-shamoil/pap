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47" r:id="rId2"/>
    <p:sldId id="257" r:id="rId3"/>
    <p:sldId id="344" r:id="rId4"/>
    <p:sldId id="395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14" r:id="rId21"/>
    <p:sldId id="31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>
        <p:scale>
          <a:sx n="87" d="100"/>
          <a:sy n="87" d="100"/>
        </p:scale>
        <p:origin x="-514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248" units="cm"/>
          <inkml:channel name="Y" type="integer" max="12032" units="cm"/>
          <inkml:channel name="F" type="integer" max="4096" units="dev"/>
        </inkml:traceFormat>
        <inkml:channelProperties>
          <inkml:channelProperty channel="X" name="resolution" value="617.67444" units="1/cm"/>
          <inkml:channelProperty channel="Y" name="resolution" value="620.20618" units="1/cm"/>
          <inkml:channelProperty channel="F" name="resolution" value="0" units="1/dev"/>
        </inkml:channelProperties>
      </inkml:inkSource>
      <inkml:timestamp xml:id="ts0" timeString="2025-10-14T07:12:19.261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715597FB-458F-4BBA-8D14-C94F987838E5}" emma:medium="tactile" emma:mode="ink">
          <msink:context xmlns:msink="http://schemas.microsoft.com/ink/2010/main" type="inkDrawing" rotatedBoundingBox="12611,6550 12626,6550 12626,6565 12611,6565" shapeName="Other"/>
        </emma:interpretation>
      </emma:emma>
    </inkml:annotationXML>
    <inkml:trace contextRef="#ctx0" brushRef="#br0">0 0 91,'0'0'0,"0"0"-9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2160" units="cm"/>
        </inkml:traceFormat>
        <inkml:channelProperties>
          <inkml:channelProperty channel="X" name="resolution" value="111.62791" units="1/cm"/>
          <inkml:channelProperty channel="Y" name="resolution" value="111.9171" units="1/cm"/>
        </inkml:channelProperties>
      </inkml:inkSource>
      <inkml:timestamp xml:id="ts0" timeString="2025-10-14T07:13:21.947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629B0374-516D-44F2-A689-6553596A51DF}" emma:medium="tactile" emma:mode="ink">
          <msink:context xmlns:msink="http://schemas.microsoft.com/ink/2010/main" type="inkDrawing" rotatedBoundingBox="27818,9819 27833,9819 27833,9834 27818,9834" shapeName="Other"/>
        </emma:interpretation>
      </emma:emma>
    </inkml:annotationXML>
    <inkml:trace contextRef="#ctx0" brushRef="#br0">0 0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248" units="cm"/>
          <inkml:channel name="Y" type="integer" max="12032" units="cm"/>
          <inkml:channel name="F" type="integer" max="4096" units="dev"/>
        </inkml:traceFormat>
        <inkml:channelProperties>
          <inkml:channelProperty channel="X" name="resolution" value="617.67444" units="1/cm"/>
          <inkml:channelProperty channel="Y" name="resolution" value="620.20618" units="1/cm"/>
          <inkml:channelProperty channel="F" name="resolution" value="0" units="1/dev"/>
        </inkml:channelProperties>
      </inkml:inkSource>
      <inkml:timestamp xml:id="ts0" timeString="2025-10-14T07:14:27.955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9CB93255-E0AB-4DC9-A20B-65541CE6A561}" emma:medium="tactile" emma:mode="ink">
          <msink:context xmlns:msink="http://schemas.microsoft.com/ink/2010/main" type="inkDrawing" rotatedBoundingBox="5411,8871 5426,8871 5426,8886 5411,8886" shapeName="Other"/>
        </emma:interpretation>
      </emma:emma>
    </inkml:annotationXML>
    <inkml:trace contextRef="#ctx0" brushRef="#br0">0 0 191,'0'0'0,"0"0"-84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248" units="cm"/>
          <inkml:channel name="Y" type="integer" max="12032" units="cm"/>
          <inkml:channel name="F" type="integer" max="4096" units="dev"/>
        </inkml:traceFormat>
        <inkml:channelProperties>
          <inkml:channelProperty channel="X" name="resolution" value="617.67444" units="1/cm"/>
          <inkml:channelProperty channel="Y" name="resolution" value="620.20618" units="1/cm"/>
          <inkml:channelProperty channel="F" name="resolution" value="0" units="1/dev"/>
        </inkml:channelProperties>
      </inkml:inkSource>
      <inkml:timestamp xml:id="ts0" timeString="2025-10-14T07:14:29.033"/>
    </inkml:context>
    <inkml:brush xml:id="br0">
      <inkml:brushProperty name="width" value="0.11667" units="cm"/>
      <inkml:brushProperty name="height" value="0.11667" units="cm"/>
      <inkml:brushProperty name="fitToCurve" value="1"/>
    </inkml:brush>
  </inkml:definitions>
  <inkml:traceGroup>
    <inkml:annotationXML>
      <emma:emma xmlns:emma="http://www.w3.org/2003/04/emma" version="1.0">
        <emma:interpretation id="{5A30A086-5699-45AB-B652-B76CAA3B9017}" emma:medium="tactile" emma:mode="ink">
          <msink:context xmlns:msink="http://schemas.microsoft.com/ink/2010/main" type="inkDrawing" rotatedBoundingBox="8866,8734 8916,8685 8942,8712 8893,8761" shapeName="Other"/>
        </emma:interpretation>
      </emma:emma>
    </inkml:annotationXML>
    <inkml:trace contextRef="#ctx0" brushRef="#br0">54 37 1345,'0'-6'0,"-2"-5"-7,-3 0 0,3 4-7,0 5 1,0 2-51,-5 5 0,-4 5-48,0 8 1,-2 4-544</inkml:trace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CFE28-41E2-4209-938D-807C0FF82EB7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8D36E-D79D-465A-9C56-D1603655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2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219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88D36E-D79D-465A-9C56-D160365580B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9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10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48CE0-F9AD-4A5F-B9CB-BD53A74CFEF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1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C287C0-8844-43D6-82FA-5FE2D327E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DDCD7B3-F73A-4EEE-B479-B39309817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C751E7-5BCB-4D81-B0E1-8D42813F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A58D-2A4C-420F-8BC1-095F1DF53924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3670C0-8F2E-4627-907A-7B1C4C50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8703B08-9B62-4895-8119-C1B8C807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02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8D6461-3C5A-4A64-AD16-4A09AB7D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7D7896-8992-410F-B9F1-F6F85B60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58D9DEC-AF66-434C-9ABA-65F1BD85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1D356-5C4B-47D7-AF8A-948F8C253765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87DE44-F4BF-4B94-8909-23BB15CB5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B5DB7B-2B5B-4B32-94CF-CD9D67E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1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4250FB-E2DF-45BB-9971-62F98AE7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B5C522B-00C3-4087-91EA-58DE5769C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985D9C-FD1E-4EC9-B299-2E9AAAD6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F68B-B82B-4ADB-9F2A-088F90DF9C3B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C2AE4B-43F5-47E6-8187-93FDDE09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0899C0-F28E-4F92-90E3-D2482F7B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0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BFCD8B-95C8-40E5-8A0C-E5BA3692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19C88D-776A-40A6-8DA4-EE7B7FCCF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7F16495-6722-41DC-845D-AD80D504B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00C20AE-1AB9-4E6C-AEDD-859A3F704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9E54-BFF9-48E9-84F8-06ADFAEF8585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4350383-FECF-474D-B875-9A1274F3A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8E9C92E-F51B-4659-84B8-33A3A05D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3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50FE0F-DFF0-40B5-8928-0A2C15C2A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3A52696-C7D9-4A2B-A46F-5D70D8B4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9E35E27-1AC2-4532-BB07-8DEB57BCE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149BD8-49B5-4FD0-B1DF-D5C8685D3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1FB2FA5-EF45-4C49-AACF-45D17CFFC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41FF247-0E79-4344-B279-E302CC3B2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B253F-0CCF-40ED-948B-68FF5AEBEFDA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D63F0FB-C346-40DB-8012-ECB08514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0353C08-DB58-4315-8868-50208379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6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559B29-3617-474A-9DEB-83200330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8447382-4B94-443B-835E-01A41378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551E-4977-4708-9D03-7BA1468D7DBB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21D8742-0860-4CBA-9471-6AA6D452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99B9260-06B7-4F3E-AC0F-2974FDF6A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56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665CFCE-E032-46A1-AD47-A3A2324E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FD97C-BC33-41C0-BF1F-A2B9C695E72E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DD5BDAE-E628-495B-83A2-096A3CE9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028C6CF-8532-4D4B-8BCC-D58E3EC1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6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EE2F1B-4E3B-4DDD-A5F0-35DE06C5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2444EE9-10A2-4B62-A38A-A187A64DA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766DB3A-B449-48EB-8A7D-7A7F71964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52FC067-2261-4BF0-A481-3CC4E004F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E5555-17A4-432B-AD8A-D1F62A2F7BCA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23E7505-D7EF-4418-8958-BE175474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B6AB268-B25E-4476-881C-FBEFA1B8A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2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CC24AC-E495-440B-A1BC-C6531022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9BF307B-DF1B-4661-91DA-240D0D07C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0AC7264-4258-4594-A543-631EDE793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6B0AF07-3D3E-4EFB-AB7E-150B50AC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8ADAD-9086-42EC-8A7F-C779F381BCC1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A919445-EA65-4FEA-BF60-147F1C91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A26CF07-F013-4B00-A958-862A0D08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01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FF7858-C58D-45A1-A065-DB629816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C00046F-3250-4186-B430-522DAA45C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6509E1-84D6-42BF-8501-1DD8743C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B923F-29BC-4418-81B4-EBA12F20B1F4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099738A-BE22-41A3-888C-CD8BE734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521171-6904-4532-AFE0-1DA35A5A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3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87F2E51-2AD6-43D4-9D9E-2D188D2C7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ACF6006-BE93-4D4C-AD50-2B2800AA4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553C4C5-15E0-40B0-A83B-68416691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2E815-029E-4494-A115-22800C80F744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131AF6C-8BCB-4871-A9C2-6D1AE8934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0C3E36-63C5-4CAF-A420-9D0C9A8B0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A36D8B5-5433-4104-A2D4-D096895E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B8C331-67B5-42F2-95F1-6DC3B3BC6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147EBE2-792B-4BE5-9EE5-4587A7A7A9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EEF0A-2703-4387-BF00-01487F7C0C78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CAA961-1653-40F5-A49E-F92867866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 Department of Software Engineering, Capital University of Science &amp; Technology Islamabad, Pakistan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F91C4E-8687-4234-B530-3B86663C1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EDE5-9AB5-4B4D-985A-2C24811CE8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4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FA624D-D77F-4746-AB43-5C687792E0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2D9AF63B-2427-4F39-93B8-2F8191EBD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498" y="1492250"/>
            <a:ext cx="8640960" cy="22247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b="1" cap="all" dirty="0" smtClean="0"/>
              <a:t>SOFTWARE QUALITY ENGINEERING</a:t>
            </a:r>
          </a:p>
          <a:p>
            <a:pPr algn="ctr"/>
            <a:r>
              <a:rPr lang="en-US" sz="2400" b="1" dirty="0" smtClean="0">
                <a:latin typeface="+mj-lt"/>
                <a:cs typeface="Times New Roman" pitchFamily="18" charset="0"/>
              </a:rPr>
              <a:t>BS </a:t>
            </a:r>
            <a:r>
              <a:rPr lang="en-US" sz="2400" b="1" dirty="0">
                <a:latin typeface="+mj-lt"/>
                <a:cs typeface="Times New Roman" pitchFamily="18" charset="0"/>
              </a:rPr>
              <a:t>Software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Engineering </a:t>
            </a:r>
            <a:endParaRPr lang="en-US" sz="2400" b="1" dirty="0">
              <a:latin typeface="+mj-lt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+mj-lt"/>
                <a:cs typeface="Times New Roman" pitchFamily="18" charset="0"/>
              </a:rPr>
              <a:t>Semester</a:t>
            </a:r>
            <a:r>
              <a:rPr lang="en-US" sz="2400" b="1" dirty="0">
                <a:latin typeface="+mj-lt"/>
                <a:cs typeface="Times New Roman" pitchFamily="18" charset="0"/>
              </a:rPr>
              <a:t>,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Fall 2025</a:t>
            </a:r>
            <a:endParaRPr lang="en-US" sz="2400" b="1" dirty="0">
              <a:latin typeface="+mj-lt"/>
              <a:cs typeface="Times New Roman" pitchFamily="18" charset="0"/>
            </a:endParaRPr>
          </a:p>
          <a:p>
            <a:pPr algn="ctr"/>
            <a:r>
              <a:rPr lang="en-US" sz="2400" b="1" dirty="0">
                <a:latin typeface="+mj-lt"/>
                <a:cs typeface="Times New Roman" pitchFamily="18" charset="0"/>
              </a:rPr>
              <a:t>Credit Hours </a:t>
            </a:r>
            <a:r>
              <a:rPr lang="en-US" sz="2400" b="1" dirty="0" smtClean="0">
                <a:latin typeface="+mj-lt"/>
                <a:cs typeface="Times New Roman" pitchFamily="18" charset="0"/>
              </a:rPr>
              <a:t>2-1</a:t>
            </a:r>
            <a:endParaRPr lang="en-US" sz="2400" b="1" dirty="0">
              <a:latin typeface="+mj-lt"/>
              <a:cs typeface="Times New Roman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078E15FD-69F7-4AA8-8766-4760730F07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38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>
                <a:latin typeface="+mj-lt"/>
                <a:cs typeface="Times New Roman" pitchFamily="18" charset="0"/>
              </a:rPr>
              <a:t>Instructor: </a:t>
            </a:r>
            <a:r>
              <a:rPr lang="en-US" sz="2400" dirty="0" err="1" smtClean="0">
                <a:latin typeface="+mj-lt"/>
                <a:cs typeface="Times New Roman" pitchFamily="18" charset="0"/>
              </a:rPr>
              <a:t>Naseer</a:t>
            </a:r>
            <a:r>
              <a:rPr lang="en-US" sz="2400" dirty="0" smtClean="0">
                <a:latin typeface="+mj-lt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  <a:cs typeface="Times New Roman" pitchFamily="18" charset="0"/>
              </a:rPr>
              <a:t>Jan</a:t>
            </a:r>
          </a:p>
          <a:p>
            <a:pPr algn="ctr"/>
            <a:r>
              <a:rPr lang="en-US" sz="2400" dirty="0">
                <a:latin typeface="+mj-lt"/>
                <a:cs typeface="Times New Roman" pitchFamily="18" charset="0"/>
              </a:rPr>
              <a:t>Department of </a:t>
            </a:r>
            <a:r>
              <a:rPr lang="en-US" sz="2400" dirty="0" smtClean="0">
                <a:latin typeface="+mj-lt"/>
                <a:cs typeface="Times New Roman" pitchFamily="18" charset="0"/>
              </a:rPr>
              <a:t>Creative Technologies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r>
              <a:rPr lang="en-US" dirty="0" smtClean="0">
                <a:latin typeface="+mj-lt"/>
                <a:cs typeface="Times New Roman" pitchFamily="18" charset="0"/>
              </a:rPr>
              <a:t>Air University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+mj-lt"/>
                <a:cs typeface="Times New Roman" pitchFamily="18" charset="0"/>
              </a:rPr>
              <a:t>Islamabad</a:t>
            </a:r>
            <a:r>
              <a:rPr lang="en-US" sz="2400" dirty="0" smtClean="0">
                <a:latin typeface="+mj-lt"/>
                <a:cs typeface="Times New Roman" pitchFamily="18" charset="0"/>
              </a:rPr>
              <a:t>, </a:t>
            </a:r>
            <a:r>
              <a:rPr lang="en-US" sz="2400" dirty="0">
                <a:latin typeface="+mj-lt"/>
                <a:cs typeface="Times New Roman" pitchFamily="18" charset="0"/>
              </a:rPr>
              <a:t>Pakistan</a:t>
            </a:r>
          </a:p>
          <a:p>
            <a:pPr algn="ctr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F02262-9B1F-47CD-B14C-44FED8529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010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sv-SE" sz="3200" b="1" dirty="0" smtClean="0">
                <a:cs typeface="Times New Roman" pitchFamily="18" charset="0"/>
              </a:rPr>
              <a:t>Agenda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sz="2400" dirty="0"/>
              <a:t>Week 1 Review</a:t>
            </a: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sz="2200" b="1" dirty="0" smtClean="0"/>
              <a:t>Subtopics</a:t>
            </a:r>
            <a:endParaRPr lang="en-US" sz="2200" b="1" dirty="0"/>
          </a:p>
          <a:p>
            <a:pPr marL="457200" lvl="1" indent="0" algn="just" fontAlgn="base">
              <a:buNone/>
            </a:pPr>
            <a:endParaRPr lang="en-US" sz="1800" dirty="0"/>
          </a:p>
          <a:p>
            <a:pPr marL="457200" lvl="1" indent="0" algn="just" fontAlgn="base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endParaRPr lang="sv-SE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4675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13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Software Quality Assignment-1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What is your job experience (role, designation, responsibilities)? What projects have you undertaken/worked on so far. What has been your experience of encountering software quality issues and dealing with its improvement?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What </a:t>
            </a:r>
            <a:r>
              <a:rPr lang="en-US" sz="2400" dirty="0"/>
              <a:t>is software quality?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How do you define software quality in software development?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What does software quality in software product and software process means to you?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What are the benefits and shortcomings of Software Quality?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Ink 26"/>
              <p14:cNvContentPartPr/>
              <p14:nvPr/>
            </p14:nvContentPartPr>
            <p14:xfrm>
              <a:off x="4540044" y="2358176"/>
              <a:ext cx="360" cy="36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33924" y="235205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3" name="Ink 42"/>
              <p14:cNvContentPartPr/>
              <p14:nvPr/>
            </p14:nvContentPartPr>
            <p14:xfrm>
              <a:off x="10014564" y="3535016"/>
              <a:ext cx="360" cy="36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93684" y="3514136"/>
                <a:ext cx="421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0" name="Ink 49"/>
              <p14:cNvContentPartPr/>
              <p14:nvPr/>
            </p14:nvContentPartPr>
            <p14:xfrm>
              <a:off x="1948044" y="3193736"/>
              <a:ext cx="360" cy="360"/>
            </p14:xfrm>
          </p:contentPart>
        </mc:Choice>
        <mc:Fallback xmlns="">
          <p:pic>
            <p:nvPicPr>
              <p:cNvPr id="50" name="Ink 4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1204" y="3186896"/>
                <a:ext cx="1404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2" name="Ink 51"/>
              <p14:cNvContentPartPr/>
              <p14:nvPr/>
            </p14:nvContentPartPr>
            <p14:xfrm>
              <a:off x="3195444" y="3127856"/>
              <a:ext cx="19800" cy="2016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87524" y="3112736"/>
                <a:ext cx="4320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113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Defect prevention activities are not 100% effective for large systems in order to prevent fault injections.</a:t>
            </a:r>
          </a:p>
          <a:p>
            <a:pPr marL="0" indent="0">
              <a:buNone/>
            </a:pPr>
            <a:r>
              <a:rPr lang="en-US" sz="2400" dirty="0" smtClean="0"/>
              <a:t>There is a need to explore and investigate effective techniques to remove any injected faults.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Inspection</a:t>
            </a:r>
            <a:r>
              <a:rPr lang="en-US" sz="2400" dirty="0"/>
              <a:t>: Direct fault detection and </a:t>
            </a:r>
            <a:r>
              <a:rPr lang="en-US" sz="2400" dirty="0" smtClean="0"/>
              <a:t>removal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Testing</a:t>
            </a:r>
            <a:r>
              <a:rPr lang="en-US" sz="2400" dirty="0"/>
              <a:t>: Failure observation and fault </a:t>
            </a:r>
            <a:r>
              <a:rPr lang="en-US" sz="2400" dirty="0" smtClean="0"/>
              <a:t>removal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Other techniques and risk identification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12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 smtClean="0"/>
              <a:t>Inspection</a:t>
            </a:r>
            <a:r>
              <a:rPr lang="en-US" sz="9600" b="1" dirty="0"/>
              <a:t>: Direct fault detection and </a:t>
            </a:r>
            <a:r>
              <a:rPr lang="en-US" sz="9600" b="1" dirty="0" smtClean="0"/>
              <a:t>removal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9800" dirty="0"/>
              <a:t>Software inspections are critical </a:t>
            </a:r>
            <a:r>
              <a:rPr lang="en-US" sz="9800" dirty="0" smtClean="0"/>
              <a:t>examinations of </a:t>
            </a:r>
            <a:r>
              <a:rPr lang="en-US" sz="9800" dirty="0"/>
              <a:t>software artifacts by human </a:t>
            </a:r>
            <a:r>
              <a:rPr lang="en-US" sz="9800" dirty="0" smtClean="0"/>
              <a:t>inspectors aimed </a:t>
            </a:r>
            <a:r>
              <a:rPr lang="en-US" sz="9800" dirty="0"/>
              <a:t>at </a:t>
            </a:r>
            <a:r>
              <a:rPr lang="en-US" sz="9800" dirty="0" smtClean="0"/>
              <a:t>discovering and </a:t>
            </a:r>
            <a:r>
              <a:rPr lang="en-US" sz="9800" dirty="0"/>
              <a:t>fixing faults in the </a:t>
            </a:r>
            <a:r>
              <a:rPr lang="en-US" sz="9800" dirty="0" smtClean="0"/>
              <a:t>software systems</a:t>
            </a:r>
            <a:r>
              <a:rPr lang="en-US" sz="9800" dirty="0"/>
              <a:t>. </a:t>
            </a:r>
            <a:endParaRPr lang="en-US" sz="98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9800" dirty="0" smtClean="0"/>
              <a:t>Inspection </a:t>
            </a:r>
            <a:r>
              <a:rPr lang="en-US" sz="9800" dirty="0"/>
              <a:t>is a </a:t>
            </a:r>
            <a:r>
              <a:rPr lang="en-US" sz="9800" dirty="0" smtClean="0"/>
              <a:t>well-known QA </a:t>
            </a:r>
            <a:r>
              <a:rPr lang="en-US" sz="9800" dirty="0"/>
              <a:t>alternative familiar to most experienced software quality professionals. </a:t>
            </a:r>
            <a:endParaRPr lang="en-US" sz="98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9800" dirty="0" smtClean="0"/>
              <a:t>The earliest and </a:t>
            </a:r>
            <a:r>
              <a:rPr lang="en-US" sz="9800" dirty="0"/>
              <a:t>most influential work in software inspection is Fagan inspection (Fagan, 1976). </a:t>
            </a:r>
            <a:endParaRPr lang="en-US" sz="98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9800" dirty="0"/>
              <a:t>V</a:t>
            </a:r>
            <a:r>
              <a:rPr lang="en-US" sz="9800" dirty="0" smtClean="0"/>
              <a:t>arious </a:t>
            </a:r>
            <a:r>
              <a:rPr lang="en-US" sz="9800" dirty="0"/>
              <a:t>other variations have been proposed and used to effectively conduct inspection </a:t>
            </a:r>
            <a:r>
              <a:rPr lang="en-US" sz="9800" dirty="0" smtClean="0"/>
              <a:t>under different </a:t>
            </a:r>
            <a:r>
              <a:rPr lang="en-US" sz="9800" dirty="0"/>
              <a:t>environments. </a:t>
            </a:r>
            <a:endParaRPr lang="en-US" sz="98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9800" dirty="0"/>
              <a:t>A detailed discussion about inspection processes and </a:t>
            </a:r>
            <a:r>
              <a:rPr lang="en-US" sz="9800" dirty="0" smtClean="0"/>
              <a:t>techniques, applications </a:t>
            </a:r>
            <a:r>
              <a:rPr lang="en-US" sz="9800" dirty="0"/>
              <a:t>and </a:t>
            </a:r>
            <a:r>
              <a:rPr lang="en-US" sz="9800" dirty="0" smtClean="0"/>
              <a:t>results</a:t>
            </a:r>
            <a:r>
              <a:rPr lang="en-US" sz="9800" dirty="0"/>
              <a:t> </a:t>
            </a:r>
            <a:r>
              <a:rPr lang="en-US" sz="9800" dirty="0" smtClean="0"/>
              <a:t>(discuss it).</a:t>
            </a:r>
          </a:p>
          <a:p>
            <a:pPr marL="0" indent="0" algn="just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b="1" dirty="0" smtClean="0"/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2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38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Inspection</a:t>
            </a:r>
            <a:r>
              <a:rPr lang="en-US" sz="2400" b="1" dirty="0"/>
              <a:t>: Direct fault detection and </a:t>
            </a:r>
            <a:r>
              <a:rPr lang="en-US" sz="2400" b="1" dirty="0" smtClean="0"/>
              <a:t>removal</a:t>
            </a:r>
          </a:p>
          <a:p>
            <a:pPr marL="0" indent="0">
              <a:buNone/>
            </a:pPr>
            <a:r>
              <a:rPr lang="en-US" sz="2400" dirty="0" smtClean="0"/>
              <a:t>The basic ideas </a:t>
            </a:r>
            <a:r>
              <a:rPr lang="en-US" sz="2400" dirty="0"/>
              <a:t>of inspection are </a:t>
            </a:r>
            <a:r>
              <a:rPr lang="en-US" sz="2400" dirty="0" smtClean="0"/>
              <a:t>outlined below</a:t>
            </a:r>
            <a:r>
              <a:rPr lang="en-US" sz="24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Inspections </a:t>
            </a:r>
            <a:r>
              <a:rPr lang="en-US" sz="2400" dirty="0"/>
              <a:t>are </a:t>
            </a:r>
            <a:r>
              <a:rPr lang="en-US" sz="2400" b="1" dirty="0">
                <a:solidFill>
                  <a:schemeClr val="accent6"/>
                </a:solidFill>
              </a:rPr>
              <a:t>critical </a:t>
            </a:r>
            <a:r>
              <a:rPr lang="en-US" sz="2400" b="1" dirty="0" smtClean="0">
                <a:solidFill>
                  <a:schemeClr val="accent6"/>
                </a:solidFill>
              </a:rPr>
              <a:t>reading and analysis</a:t>
            </a:r>
            <a:r>
              <a:rPr lang="en-US" sz="2400" dirty="0" smtClean="0"/>
              <a:t> of </a:t>
            </a:r>
            <a:r>
              <a:rPr lang="en-US" sz="2400" b="1" dirty="0"/>
              <a:t>software code or other software artifacts</a:t>
            </a:r>
            <a:r>
              <a:rPr lang="en-US" sz="2400" dirty="0"/>
              <a:t>, such as designs, product specifications</a:t>
            </a:r>
            <a:r>
              <a:rPr lang="en-US" sz="2400" dirty="0" smtClean="0"/>
              <a:t>, test </a:t>
            </a:r>
            <a:r>
              <a:rPr lang="en-US" sz="2400" dirty="0"/>
              <a:t>plans,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Inspections </a:t>
            </a:r>
            <a:r>
              <a:rPr lang="en-US" sz="2400" dirty="0"/>
              <a:t>are typically conducted by </a:t>
            </a:r>
            <a:r>
              <a:rPr lang="en-US" sz="2400" dirty="0">
                <a:solidFill>
                  <a:schemeClr val="accent6"/>
                </a:solidFill>
              </a:rPr>
              <a:t>multiple human inspectors</a:t>
            </a:r>
            <a:r>
              <a:rPr lang="en-US" sz="2400" dirty="0"/>
              <a:t>, through </a:t>
            </a:r>
            <a:r>
              <a:rPr lang="en-US" sz="2400" dirty="0" smtClean="0"/>
              <a:t>some coordination </a:t>
            </a:r>
            <a:r>
              <a:rPr lang="en-US" sz="2400" dirty="0"/>
              <a:t>process. Multiple inspection phases or </a:t>
            </a:r>
            <a:r>
              <a:rPr lang="en-US" sz="2400" dirty="0" smtClean="0"/>
              <a:t>sessions might </a:t>
            </a:r>
            <a:r>
              <a:rPr lang="en-US" sz="2400" dirty="0"/>
              <a:t>be used.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</a:rPr>
              <a:t>Faults</a:t>
            </a:r>
            <a:r>
              <a:rPr lang="en-US" sz="2400" dirty="0" smtClean="0"/>
              <a:t> </a:t>
            </a:r>
            <a:r>
              <a:rPr lang="en-US" sz="2400" dirty="0"/>
              <a:t>are detected directly in inspection by human inspectors, either during </a:t>
            </a:r>
            <a:r>
              <a:rPr lang="en-US" sz="2400" dirty="0" smtClean="0"/>
              <a:t>their individual </a:t>
            </a:r>
            <a:r>
              <a:rPr lang="en-US" sz="2400" dirty="0"/>
              <a:t>inspections or various types of group sessions.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accent6"/>
                </a:solidFill>
              </a:rPr>
              <a:t>Identified </a:t>
            </a:r>
            <a:r>
              <a:rPr lang="en-US" sz="2400" b="1" dirty="0">
                <a:solidFill>
                  <a:schemeClr val="accent6"/>
                </a:solidFill>
              </a:rPr>
              <a:t>faults</a:t>
            </a:r>
            <a:r>
              <a:rPr lang="en-US" sz="2400" dirty="0"/>
              <a:t> need to be removed as a result of the inspection process, and </a:t>
            </a:r>
            <a:r>
              <a:rPr lang="en-US" sz="2400" dirty="0" smtClean="0"/>
              <a:t>their removal </a:t>
            </a:r>
            <a:r>
              <a:rPr lang="en-US" sz="2400" dirty="0"/>
              <a:t>also needs to be verified.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inspection processes vary, but typically include some planning and </a:t>
            </a:r>
            <a:r>
              <a:rPr lang="en-US" sz="2400" dirty="0" smtClean="0"/>
              <a:t>follow-up activities </a:t>
            </a:r>
            <a:r>
              <a:rPr lang="en-US" sz="2400" dirty="0"/>
              <a:t>in addition to the core inspection activity</a:t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b="1" dirty="0" smtClean="0"/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41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/>
              <a:t>Inspection</a:t>
            </a:r>
            <a:r>
              <a:rPr lang="en-US" sz="2400" b="1" dirty="0"/>
              <a:t>: Direct fault detection and </a:t>
            </a:r>
            <a:r>
              <a:rPr lang="en-US" sz="2400" b="1" dirty="0" smtClean="0"/>
              <a:t>removal</a:t>
            </a:r>
          </a:p>
          <a:p>
            <a:pPr marL="0" indent="0" algn="just">
              <a:buNone/>
            </a:pPr>
            <a:r>
              <a:rPr lang="en-US" sz="2400" dirty="0" smtClean="0"/>
              <a:t>The basic ideas </a:t>
            </a:r>
            <a:r>
              <a:rPr lang="en-US" sz="2400" dirty="0"/>
              <a:t>of inspection are </a:t>
            </a:r>
            <a:r>
              <a:rPr lang="en-US" sz="2400" dirty="0" smtClean="0"/>
              <a:t>outlined below</a:t>
            </a:r>
            <a:r>
              <a:rPr lang="en-US" sz="2400" dirty="0"/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The formality and structure of inspections may vary, from very informal reviews</a:t>
            </a:r>
            <a:br>
              <a:rPr lang="en-US" sz="2400" dirty="0"/>
            </a:br>
            <a:r>
              <a:rPr lang="en-US" sz="2400" dirty="0"/>
              <a:t>and walkthroughs, to fairly formal variations of Fagan inspection, to correctness</a:t>
            </a:r>
            <a:br>
              <a:rPr lang="en-US" sz="2400" dirty="0"/>
            </a:br>
            <a:r>
              <a:rPr lang="en-US" sz="2400" dirty="0"/>
              <a:t>inspections </a:t>
            </a:r>
            <a:r>
              <a:rPr lang="en-US" sz="2400" dirty="0" smtClean="0"/>
              <a:t>approaching the </a:t>
            </a:r>
            <a:r>
              <a:rPr lang="en-US" sz="2400" dirty="0"/>
              <a:t>rigor and </a:t>
            </a:r>
            <a:r>
              <a:rPr lang="en-US" sz="2400" dirty="0" smtClean="0"/>
              <a:t>formality of </a:t>
            </a:r>
            <a:r>
              <a:rPr lang="en-US" sz="2400" dirty="0"/>
              <a:t>formal methods.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Inspection is </a:t>
            </a:r>
            <a:r>
              <a:rPr lang="en-US" sz="2400" dirty="0"/>
              <a:t>most commonly </a:t>
            </a:r>
            <a:r>
              <a:rPr lang="en-US" sz="2400" dirty="0" smtClean="0"/>
              <a:t>applied to </a:t>
            </a:r>
            <a:r>
              <a:rPr lang="en-US" sz="2400" dirty="0"/>
              <a:t>code</a:t>
            </a:r>
            <a:r>
              <a:rPr lang="en-US" sz="2400" dirty="0" smtClean="0"/>
              <a:t>, but also to SRS, SDD, </a:t>
            </a:r>
            <a:r>
              <a:rPr lang="en-US" sz="2400" dirty="0"/>
              <a:t>test plans and test cases, user manuals, and other documents </a:t>
            </a:r>
            <a:r>
              <a:rPr lang="en-US" sz="2400" dirty="0" smtClean="0"/>
              <a:t>or software </a:t>
            </a:r>
            <a:r>
              <a:rPr lang="en-US" sz="2400" dirty="0"/>
              <a:t>artifacts.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Therefore, inspection </a:t>
            </a:r>
            <a:r>
              <a:rPr lang="en-US" sz="2400" dirty="0"/>
              <a:t>can be used </a:t>
            </a:r>
            <a:r>
              <a:rPr lang="en-US" sz="2400" dirty="0" smtClean="0"/>
              <a:t>through out the SDLC before testing.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Inspection is economical as compared to dealing with defects during operation.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potential </a:t>
            </a:r>
            <a:r>
              <a:rPr lang="en-US" sz="2400" dirty="0"/>
              <a:t>benefit of inspection </a:t>
            </a:r>
            <a:r>
              <a:rPr lang="en-US" sz="2400" dirty="0" smtClean="0"/>
              <a:t>conduct causal analysis, </a:t>
            </a:r>
            <a:r>
              <a:rPr lang="en-US" sz="2400" dirty="0"/>
              <a:t>for example, </a:t>
            </a:r>
            <a:r>
              <a:rPr lang="en-US" sz="2400" dirty="0" smtClean="0"/>
              <a:t>in </a:t>
            </a:r>
            <a:r>
              <a:rPr lang="en-US" sz="2400" dirty="0" err="1" smtClean="0"/>
              <a:t>Gilb</a:t>
            </a:r>
            <a:r>
              <a:rPr lang="en-US" sz="2400" dirty="0" smtClean="0"/>
              <a:t> inspection.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These </a:t>
            </a:r>
            <a:r>
              <a:rPr lang="en-US" sz="2400" dirty="0"/>
              <a:t>causal analysis results can be used to guide defect </a:t>
            </a:r>
            <a:r>
              <a:rPr lang="en-US" sz="2400" dirty="0" smtClean="0"/>
              <a:t>prevention activities </a:t>
            </a:r>
            <a:r>
              <a:rPr lang="en-US" sz="2400" dirty="0"/>
              <a:t>by removing identified error sources or correcting identified </a:t>
            </a:r>
            <a:r>
              <a:rPr lang="en-US" sz="2400" dirty="0" smtClean="0"/>
              <a:t>missing and correct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human actions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b="1" dirty="0" smtClean="0"/>
          </a:p>
          <a:p>
            <a:pPr marL="0" indent="0" algn="just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49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Testing</a:t>
            </a:r>
            <a:r>
              <a:rPr lang="en-US" sz="2400" b="1" dirty="0"/>
              <a:t>: Failure observation and fault </a:t>
            </a:r>
            <a:r>
              <a:rPr lang="en-US" sz="2400" b="1" dirty="0" smtClean="0"/>
              <a:t>removal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Testing </a:t>
            </a:r>
            <a:r>
              <a:rPr lang="en-US" sz="2400" dirty="0"/>
              <a:t>is one of the </a:t>
            </a:r>
            <a:r>
              <a:rPr lang="en-US" sz="2400" dirty="0" smtClean="0"/>
              <a:t>important </a:t>
            </a:r>
            <a:r>
              <a:rPr lang="en-US" sz="2400" b="1" dirty="0"/>
              <a:t>QA </a:t>
            </a:r>
            <a:r>
              <a:rPr lang="en-US" sz="2400" dirty="0"/>
              <a:t>and the most commonly performed </a:t>
            </a:r>
            <a:r>
              <a:rPr lang="en-US" sz="2400" b="1" dirty="0" smtClean="0"/>
              <a:t>QA </a:t>
            </a:r>
            <a:r>
              <a:rPr lang="en-US" sz="2400" dirty="0" smtClean="0"/>
              <a:t>activity</a:t>
            </a:r>
            <a:r>
              <a:rPr lang="en-US" sz="2400" dirty="0"/>
              <a:t>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Testing </a:t>
            </a:r>
            <a:r>
              <a:rPr lang="en-US" sz="2400" dirty="0"/>
              <a:t>involves </a:t>
            </a:r>
            <a:endParaRPr lang="en-US" sz="24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the </a:t>
            </a:r>
            <a:r>
              <a:rPr lang="en-US" sz="2000" dirty="0"/>
              <a:t>execution of software </a:t>
            </a:r>
            <a:endParaRPr lang="en-US" sz="20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the </a:t>
            </a:r>
            <a:r>
              <a:rPr lang="en-US" sz="2000" dirty="0"/>
              <a:t>observation of the </a:t>
            </a:r>
            <a:r>
              <a:rPr lang="en-US" sz="2000" dirty="0" smtClean="0"/>
              <a:t>program behavior </a:t>
            </a:r>
            <a:r>
              <a:rPr lang="en-US" sz="2000" dirty="0"/>
              <a:t>or </a:t>
            </a:r>
            <a:r>
              <a:rPr lang="en-US" sz="2000" dirty="0" smtClean="0"/>
              <a:t>outcome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If </a:t>
            </a:r>
            <a:r>
              <a:rPr lang="en-US" sz="2000" dirty="0"/>
              <a:t>a failure is observed, the execution record is then analyzed </a:t>
            </a:r>
            <a:r>
              <a:rPr lang="en-US" sz="2000" dirty="0" smtClean="0"/>
              <a:t>to locate </a:t>
            </a:r>
            <a:r>
              <a:rPr lang="en-US" sz="2000" dirty="0"/>
              <a:t>and fix the fault(s) that caused the failure. </a:t>
            </a:r>
            <a:endParaRPr lang="en-US" sz="20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Individual </a:t>
            </a:r>
            <a:r>
              <a:rPr lang="en-US" sz="2400" dirty="0"/>
              <a:t>testing activities and techniques can be classified using various criteria and</a:t>
            </a:r>
            <a:br>
              <a:rPr lang="en-US" sz="2400" dirty="0"/>
            </a:br>
            <a:r>
              <a:rPr lang="en-US" sz="2400" dirty="0"/>
              <a:t>examined accordingly, as discussed below. Here we pay special attention to how they </a:t>
            </a:r>
            <a:r>
              <a:rPr lang="en-US" sz="2400" dirty="0" smtClean="0"/>
              <a:t>deal with </a:t>
            </a:r>
            <a:r>
              <a:rPr lang="en-US" sz="2400" dirty="0"/>
              <a:t>defects.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31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/>
              <a:t>Testing</a:t>
            </a:r>
            <a:r>
              <a:rPr lang="en-US" sz="2400" b="1" dirty="0"/>
              <a:t>: Failure observation and fault </a:t>
            </a:r>
            <a:r>
              <a:rPr lang="en-US" sz="2400" b="1" dirty="0" smtClean="0"/>
              <a:t>removal</a:t>
            </a:r>
          </a:p>
          <a:p>
            <a:pPr marL="0" indent="0" algn="just">
              <a:buNone/>
            </a:pPr>
            <a:r>
              <a:rPr lang="en-US" sz="2400" b="1" dirty="0" smtClean="0"/>
              <a:t>When to perform specific test activity and related faults detections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software </a:t>
            </a:r>
            <a:r>
              <a:rPr lang="en-US" sz="2400" dirty="0"/>
              <a:t>units, components, or </a:t>
            </a:r>
            <a:r>
              <a:rPr lang="en-US" sz="2400" dirty="0" smtClean="0"/>
              <a:t>sub-systems, and system </a:t>
            </a:r>
            <a:r>
              <a:rPr lang="en-US" sz="2400" dirty="0"/>
              <a:t>to be </a:t>
            </a:r>
            <a:r>
              <a:rPr lang="en-US" sz="2400" dirty="0" smtClean="0"/>
              <a:t>tested.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testing </a:t>
            </a:r>
            <a:r>
              <a:rPr lang="en-US" sz="2400" dirty="0"/>
              <a:t>can be divided into various sub-phases starting from the coding </a:t>
            </a:r>
            <a:r>
              <a:rPr lang="en-US" sz="2400" dirty="0" smtClean="0"/>
              <a:t>phase up </a:t>
            </a:r>
            <a:r>
              <a:rPr lang="en-US" sz="2400" dirty="0"/>
              <a:t>to post-release product support, including: unit testing, component testing, </a:t>
            </a:r>
            <a:r>
              <a:rPr lang="en-US" sz="2400" dirty="0" smtClean="0"/>
              <a:t>integration testing</a:t>
            </a:r>
            <a:r>
              <a:rPr lang="en-US" sz="2400" dirty="0"/>
              <a:t>, system testing, acceptance testing, beta testing, etc.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observation of failures </a:t>
            </a:r>
            <a:r>
              <a:rPr lang="en-US" sz="2400" dirty="0" smtClean="0"/>
              <a:t>can be </a:t>
            </a:r>
            <a:r>
              <a:rPr lang="en-US" sz="2400" dirty="0"/>
              <a:t>associated with these individual sub-phases, and the identification and </a:t>
            </a:r>
            <a:r>
              <a:rPr lang="en-US" sz="2400" dirty="0" smtClean="0"/>
              <a:t>removal of related faults </a:t>
            </a:r>
            <a:r>
              <a:rPr lang="en-US" sz="2400" dirty="0"/>
              <a:t>can be associated with corresponding individual units, components, or the </a:t>
            </a:r>
            <a:r>
              <a:rPr lang="en-US" sz="2400" dirty="0" smtClean="0"/>
              <a:t>complete system.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If prototypes </a:t>
            </a:r>
            <a:r>
              <a:rPr lang="en-US" sz="2400" dirty="0"/>
              <a:t>are </a:t>
            </a:r>
            <a:r>
              <a:rPr lang="en-US" sz="2400" dirty="0" smtClean="0"/>
              <a:t>used </a:t>
            </a:r>
            <a:r>
              <a:rPr lang="en-US" sz="2400" dirty="0"/>
              <a:t>in the spiral process, or if a software system </a:t>
            </a:r>
            <a:r>
              <a:rPr lang="en-US" sz="2400" dirty="0" smtClean="0"/>
              <a:t>is developed </a:t>
            </a:r>
            <a:r>
              <a:rPr lang="en-US" sz="2400" dirty="0"/>
              <a:t>using an incremental or iterative process, testing can usually get started </a:t>
            </a:r>
            <a:r>
              <a:rPr lang="en-US" sz="2400" dirty="0" smtClean="0"/>
              <a:t>much earlier</a:t>
            </a:r>
            <a:r>
              <a:rPr lang="en-US" sz="2400" dirty="0"/>
              <a:t>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Later </a:t>
            </a:r>
            <a:r>
              <a:rPr lang="en-US" sz="2400" dirty="0"/>
              <a:t>on, integration testing plays a much more important role in detecting interoperability problems among different software components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71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What to test, and what kind of faults are found?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Black-box (or functional) testing verifies the correct handling of the external </a:t>
            </a:r>
            <a:r>
              <a:rPr lang="en-US" sz="2400" dirty="0" smtClean="0"/>
              <a:t>functions, </a:t>
            </a:r>
            <a:r>
              <a:rPr lang="en-US" sz="2400" dirty="0"/>
              <a:t>or </a:t>
            </a:r>
            <a:r>
              <a:rPr lang="en-US" sz="2400" dirty="0" smtClean="0"/>
              <a:t>the </a:t>
            </a:r>
            <a:r>
              <a:rPr lang="en-US" sz="2400" dirty="0"/>
              <a:t>observed behavior conforms to user </a:t>
            </a:r>
            <a:r>
              <a:rPr lang="en-US" sz="2400" dirty="0" smtClean="0"/>
              <a:t>expectations or</a:t>
            </a:r>
            <a:r>
              <a:rPr lang="en-US" sz="2400" dirty="0"/>
              <a:t> </a:t>
            </a:r>
            <a:r>
              <a:rPr lang="en-US" sz="2400" dirty="0" smtClean="0"/>
              <a:t>product </a:t>
            </a:r>
            <a:r>
              <a:rPr lang="en-US" sz="2400" dirty="0"/>
              <a:t>specifications.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White-box (structural</a:t>
            </a:r>
            <a:r>
              <a:rPr lang="en-US" sz="2400" dirty="0"/>
              <a:t>) testing </a:t>
            </a:r>
            <a:r>
              <a:rPr lang="en-US" sz="2400" dirty="0" smtClean="0"/>
              <a:t>verifies the implementation of units</a:t>
            </a:r>
            <a:r>
              <a:rPr lang="en-US" sz="2400" dirty="0"/>
              <a:t>, structures, </a:t>
            </a:r>
            <a:r>
              <a:rPr lang="en-US" sz="2400" dirty="0" smtClean="0"/>
              <a:t>and relations </a:t>
            </a:r>
            <a:r>
              <a:rPr lang="en-US" sz="2400" dirty="0"/>
              <a:t>among them.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When </a:t>
            </a:r>
            <a:r>
              <a:rPr lang="en-US" sz="2400" dirty="0"/>
              <a:t>black-box testing is performed, failures related to </a:t>
            </a:r>
            <a:r>
              <a:rPr lang="en-US" sz="2400" dirty="0" smtClean="0"/>
              <a:t>external </a:t>
            </a:r>
            <a:r>
              <a:rPr lang="en-US" sz="2400" dirty="0"/>
              <a:t>functions can </a:t>
            </a:r>
            <a:r>
              <a:rPr lang="en-US" sz="2400" dirty="0" smtClean="0"/>
              <a:t>be observed</a:t>
            </a:r>
            <a:r>
              <a:rPr lang="en-US" sz="2400" dirty="0"/>
              <a:t>, leading to corresponding faults being detected and removed. The emphasis is </a:t>
            </a:r>
            <a:r>
              <a:rPr lang="en-US" sz="2400" dirty="0" smtClean="0"/>
              <a:t>on reducing </a:t>
            </a:r>
            <a:r>
              <a:rPr lang="en-US" sz="2400" dirty="0"/>
              <a:t>the chances of encountering functional problems by target customers.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On </a:t>
            </a:r>
            <a:r>
              <a:rPr lang="en-US" sz="2400" dirty="0"/>
              <a:t>the </a:t>
            </a:r>
            <a:r>
              <a:rPr lang="en-US" sz="2400" dirty="0" smtClean="0"/>
              <a:t>other hand</a:t>
            </a:r>
            <a:r>
              <a:rPr lang="en-US" sz="2400" dirty="0"/>
              <a:t>, when white-box testing </a:t>
            </a:r>
            <a:r>
              <a:rPr lang="en-US" sz="2400" dirty="0" smtClean="0"/>
              <a:t>is performed</a:t>
            </a:r>
            <a:r>
              <a:rPr lang="en-US" sz="2400" dirty="0"/>
              <a:t>, failures related to internal implementations </a:t>
            </a:r>
            <a:r>
              <a:rPr lang="en-US" sz="2400" dirty="0" smtClean="0"/>
              <a:t>can be </a:t>
            </a:r>
            <a:r>
              <a:rPr lang="en-US" sz="2400" dirty="0"/>
              <a:t>observed, leading to corresponding faults being detected and removed.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emphasis is on reducing internal faults so that there is less chance for failures later on no matter what kind of application environment the software is subjected to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14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Most </a:t>
            </a:r>
            <a:r>
              <a:rPr lang="en-US" sz="2400" dirty="0"/>
              <a:t>of the traditional testing techniques and testing sub-phases use some kind of </a:t>
            </a:r>
            <a:r>
              <a:rPr lang="en-US" sz="2400" dirty="0" smtClean="0"/>
              <a:t>coverage information </a:t>
            </a:r>
            <a:r>
              <a:rPr lang="en-US" sz="2400" dirty="0"/>
              <a:t>as the stopping criteria, with the implicit assumption that higher </a:t>
            </a:r>
            <a:r>
              <a:rPr lang="en-US" sz="2400" dirty="0" smtClean="0"/>
              <a:t>coverage </a:t>
            </a:r>
            <a:r>
              <a:rPr lang="en-US" sz="2400" dirty="0"/>
              <a:t>means higher quality or lower levels of defects.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For </a:t>
            </a:r>
            <a:r>
              <a:rPr lang="en-US" sz="2400" dirty="0"/>
              <a:t>example, checklists are often used </a:t>
            </a:r>
            <a:r>
              <a:rPr lang="en-US" sz="2400" dirty="0" smtClean="0"/>
              <a:t>to make </a:t>
            </a:r>
            <a:r>
              <a:rPr lang="en-US" sz="2400" dirty="0"/>
              <a:t>sure major functions and usage scenarios are tested before product release. </a:t>
            </a:r>
            <a:r>
              <a:rPr lang="en-US" sz="2400" dirty="0" smtClean="0"/>
              <a:t>Every statement </a:t>
            </a:r>
            <a:r>
              <a:rPr lang="en-US" sz="2400" dirty="0"/>
              <a:t>or unit in a component must be covered before subsequent integration testing </a:t>
            </a:r>
            <a:r>
              <a:rPr lang="en-US" sz="2400" dirty="0" smtClean="0"/>
              <a:t>can proceed</a:t>
            </a:r>
            <a:r>
              <a:rPr lang="en-US" sz="2400" dirty="0"/>
              <a:t>. </a:t>
            </a:r>
            <a:endParaRPr lang="en-US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More </a:t>
            </a:r>
            <a:r>
              <a:rPr lang="en-US" sz="2400" dirty="0"/>
              <a:t>formal testing techniques include control flow testing that attempts to </a:t>
            </a:r>
            <a:r>
              <a:rPr lang="en-US" sz="2400" dirty="0" smtClean="0"/>
              <a:t>cover execution </a:t>
            </a:r>
            <a:r>
              <a:rPr lang="en-US" sz="2400" dirty="0"/>
              <a:t>paths and domain testing that </a:t>
            </a:r>
            <a:r>
              <a:rPr lang="en-US" sz="2400" dirty="0" smtClean="0"/>
              <a:t>attempts to </a:t>
            </a:r>
            <a:r>
              <a:rPr lang="en-US" sz="2400" dirty="0"/>
              <a:t>cover boundaries between different </a:t>
            </a:r>
            <a:r>
              <a:rPr lang="en-US" sz="2400" dirty="0" smtClean="0"/>
              <a:t>input sub-domains</a:t>
            </a:r>
            <a:r>
              <a:rPr lang="en-US" sz="2400" dirty="0"/>
              <a:t>. Such formal coverage information can only be obtained by using </a:t>
            </a:r>
            <a:r>
              <a:rPr lang="en-US" sz="2400" dirty="0" smtClean="0"/>
              <a:t>expensive coverage </a:t>
            </a:r>
            <a:r>
              <a:rPr lang="en-US" sz="2400" dirty="0"/>
              <a:t>analysis and testing tools. However</a:t>
            </a:r>
            <a:r>
              <a:rPr lang="en-US" sz="2400" dirty="0" smtClean="0"/>
              <a:t>, rough </a:t>
            </a:r>
            <a:r>
              <a:rPr lang="en-US" sz="2400" dirty="0"/>
              <a:t>coverage measurement can be </a:t>
            </a:r>
            <a:r>
              <a:rPr lang="en-US" sz="2400" dirty="0" smtClean="0"/>
              <a:t>obtained easily </a:t>
            </a:r>
            <a:r>
              <a:rPr lang="en-US" sz="2400" dirty="0"/>
              <a:t>by examining the proportion of tested items in various checklists</a:t>
            </a:r>
            <a:r>
              <a:rPr lang="en-US" sz="2400" dirty="0" smtClean="0"/>
              <a:t>.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On the other hand, product reliability goals can be used as a more objective criterion</a:t>
            </a:r>
            <a:br>
              <a:rPr lang="en-US" sz="2400" dirty="0"/>
            </a:br>
            <a:r>
              <a:rPr lang="en-US" sz="2400" dirty="0"/>
              <a:t>to stop testing. The use of this criterion requires the testing to be performed under an</a:t>
            </a:r>
            <a:br>
              <a:rPr lang="en-US" sz="2400" dirty="0"/>
            </a:br>
            <a:r>
              <a:rPr lang="en-US" sz="2400" dirty="0"/>
              <a:t>environment that resembles actual usage by target customers so that realistic reliability</a:t>
            </a:r>
            <a:br>
              <a:rPr lang="en-US" sz="2400" dirty="0"/>
            </a:br>
            <a:r>
              <a:rPr lang="en-US" sz="2400" dirty="0"/>
              <a:t>assessment can be obtained, resulting in the so-called usage-based statistical testing.</a:t>
            </a:r>
            <a:br>
              <a:rPr lang="en-US" sz="2400" dirty="0"/>
            </a:br>
            <a:r>
              <a:rPr lang="en-US" sz="2400" dirty="0"/>
              <a:t>The coverage criterion ensures that certain types of faults are detected and removed, thus</a:t>
            </a:r>
            <a:br>
              <a:rPr lang="en-US" sz="2400" dirty="0"/>
            </a:br>
            <a:r>
              <a:rPr lang="en-US" sz="2400" dirty="0"/>
              <a:t>reducing the number of defects to a lower level, although quality is not directly assessed.</a:t>
            </a:r>
            <a:br>
              <a:rPr lang="en-US" sz="2400" dirty="0"/>
            </a:br>
            <a:r>
              <a:rPr lang="en-US" sz="2400" dirty="0"/>
              <a:t>The usage-based testing and the related reliability criterion ensure that the faults that are</a:t>
            </a:r>
            <a:br>
              <a:rPr lang="en-US" sz="2400" dirty="0"/>
            </a:br>
            <a:r>
              <a:rPr lang="en-US" sz="2400" dirty="0"/>
              <a:t>most likely to cause problems to customers are more likely to be detected and removed,</a:t>
            </a:r>
            <a:br>
              <a:rPr lang="en-US" sz="2400" dirty="0"/>
            </a:br>
            <a:r>
              <a:rPr lang="en-US" sz="2400" dirty="0"/>
              <a:t>and the reliability of the software reaches certain targets before testing stops.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85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When, or at what defect level, to stop testing</a:t>
            </a:r>
            <a:r>
              <a:rPr lang="en-US" sz="2400" b="1" dirty="0" smtClean="0"/>
              <a:t>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On </a:t>
            </a:r>
            <a:r>
              <a:rPr lang="en-US" sz="2400" dirty="0"/>
              <a:t>the other hand, product reliability goals can be used as a more objective criterion</a:t>
            </a:r>
            <a:br>
              <a:rPr lang="en-US" sz="2400" dirty="0"/>
            </a:br>
            <a:r>
              <a:rPr lang="en-US" sz="2400" dirty="0"/>
              <a:t>to stop testing. The use of this criterion requires the testing to be performed under an</a:t>
            </a:r>
            <a:br>
              <a:rPr lang="en-US" sz="2400" dirty="0"/>
            </a:br>
            <a:r>
              <a:rPr lang="en-US" sz="2400" dirty="0"/>
              <a:t>environment that resembles actual usage by target customers so that realistic reliability</a:t>
            </a:r>
            <a:br>
              <a:rPr lang="en-US" sz="2400" dirty="0"/>
            </a:br>
            <a:r>
              <a:rPr lang="en-US" sz="2400" dirty="0"/>
              <a:t>assessment can be obtained, resulting in the so-called </a:t>
            </a:r>
            <a:r>
              <a:rPr lang="en-US" sz="2400" b="1" dirty="0"/>
              <a:t>usage-based statistical </a:t>
            </a:r>
            <a:r>
              <a:rPr lang="en-US" sz="2400" b="1" dirty="0" smtClean="0"/>
              <a:t>testing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coverage criterion ensures that certain types of faults are detected and removed, </a:t>
            </a:r>
            <a:r>
              <a:rPr lang="en-US" sz="2400" dirty="0" smtClean="0"/>
              <a:t>thus reducing </a:t>
            </a:r>
            <a:r>
              <a:rPr lang="en-US" sz="2400" dirty="0"/>
              <a:t>the number of defects to a lower level, although quality is not directly assessed.</a:t>
            </a:r>
            <a:br>
              <a:rPr lang="en-US" sz="2400" dirty="0"/>
            </a:br>
            <a:r>
              <a:rPr lang="en-US" sz="2400" dirty="0"/>
              <a:t>The usage-based testing and the related reliability criterion ensure that the faults that </a:t>
            </a:r>
            <a:r>
              <a:rPr lang="en-US" sz="2400" dirty="0" smtClean="0"/>
              <a:t>are most </a:t>
            </a:r>
            <a:r>
              <a:rPr lang="en-US" sz="2400" dirty="0"/>
              <a:t>likely to cause problems to customers are more likely to be detected and removed</a:t>
            </a:r>
            <a:r>
              <a:rPr lang="en-US" sz="2400" dirty="0" smtClean="0"/>
              <a:t>, and </a:t>
            </a:r>
            <a:r>
              <a:rPr lang="en-US" sz="2400" dirty="0"/>
              <a:t>the reliability of the software reaches certain targets before testing stops.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1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Other techniques and risk </a:t>
            </a:r>
            <a:r>
              <a:rPr lang="en-US" sz="2400" b="1" dirty="0" smtClean="0"/>
              <a:t>identification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static </a:t>
            </a:r>
            <a:r>
              <a:rPr lang="en-US" sz="2400" dirty="0"/>
              <a:t>techniques for defect detection and </a:t>
            </a:r>
            <a:r>
              <a:rPr lang="en-US" sz="2400" dirty="0" smtClean="0"/>
              <a:t>removal: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Inspection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algorithm analysis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decision </a:t>
            </a:r>
            <a:r>
              <a:rPr lang="en-US" sz="2000" dirty="0"/>
              <a:t>table </a:t>
            </a:r>
            <a:r>
              <a:rPr lang="en-US" sz="2000" dirty="0" smtClean="0"/>
              <a:t>analysis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boundary </a:t>
            </a:r>
            <a:r>
              <a:rPr lang="en-US" sz="2000" dirty="0"/>
              <a:t>value </a:t>
            </a:r>
            <a:r>
              <a:rPr lang="en-US" sz="2000" dirty="0" smtClean="0"/>
              <a:t>analysis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finite-state machine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and </a:t>
            </a:r>
            <a:r>
              <a:rPr lang="en-US" sz="2000" dirty="0"/>
              <a:t>Petri-net </a:t>
            </a:r>
            <a:r>
              <a:rPr lang="en-US" sz="2000" dirty="0" smtClean="0"/>
              <a:t>modeling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control </a:t>
            </a:r>
            <a:r>
              <a:rPr lang="en-US" sz="2000" dirty="0"/>
              <a:t>and data flow </a:t>
            </a:r>
            <a:r>
              <a:rPr lang="en-US" sz="2000" dirty="0" smtClean="0"/>
              <a:t>analyses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software </a:t>
            </a:r>
            <a:r>
              <a:rPr lang="en-US" sz="2000" dirty="0"/>
              <a:t>fault </a:t>
            </a:r>
            <a:r>
              <a:rPr lang="en-US" sz="2000" dirty="0" smtClean="0"/>
              <a:t>trees</a:t>
            </a: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other </a:t>
            </a:r>
            <a:r>
              <a:rPr lang="en-US" sz="2400" dirty="0"/>
              <a:t>dynamic, execution-based, techniques also exist </a:t>
            </a:r>
            <a:r>
              <a:rPr lang="en-US" sz="2400" dirty="0" smtClean="0"/>
              <a:t>for fault </a:t>
            </a:r>
            <a:r>
              <a:rPr lang="en-US" sz="2400" dirty="0"/>
              <a:t>detection and removal</a:t>
            </a:r>
            <a:r>
              <a:rPr lang="en-US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For </a:t>
            </a:r>
            <a:r>
              <a:rPr lang="en-US" sz="2400" dirty="0"/>
              <a:t>example, symbolic execution, simulation, and </a:t>
            </a:r>
            <a:r>
              <a:rPr lang="en-US" sz="2400" dirty="0" smtClean="0"/>
              <a:t>prototyping can </a:t>
            </a:r>
            <a:r>
              <a:rPr lang="en-US" sz="2400" dirty="0"/>
              <a:t>help us detect and remove various defects early in the software development process</a:t>
            </a:r>
            <a:r>
              <a:rPr lang="en-US" sz="2400" dirty="0" smtClean="0"/>
              <a:t>, before </a:t>
            </a:r>
            <a:r>
              <a:rPr lang="en-US" sz="2400" dirty="0"/>
              <a:t>large-scale testing becomes a viable alternative</a:t>
            </a:r>
            <a:r>
              <a:rPr lang="en-US" sz="2400" dirty="0" smtClean="0"/>
              <a:t>.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68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Other techniques and risk </a:t>
            </a:r>
            <a:r>
              <a:rPr lang="en-US" sz="2400" b="1" dirty="0" smtClean="0"/>
              <a:t>identification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On the other hand, in-field measurement and related analyses, such as timing and performance analysis for real-time systems, and accident analysis and reconstruction </a:t>
            </a:r>
            <a:r>
              <a:rPr lang="en-US" sz="2400" dirty="0" smtClean="0"/>
              <a:t>using software </a:t>
            </a:r>
            <a:r>
              <a:rPr lang="en-US" sz="2400" dirty="0"/>
              <a:t>fault trees and event trees for safety-critical systems, can also help us </a:t>
            </a:r>
            <a:r>
              <a:rPr lang="en-US" sz="2400" dirty="0" smtClean="0"/>
              <a:t>locate and</a:t>
            </a:r>
            <a:r>
              <a:rPr lang="en-US" sz="2400" dirty="0"/>
              <a:t> </a:t>
            </a:r>
            <a:r>
              <a:rPr lang="en-US" sz="2400" dirty="0" smtClean="0"/>
              <a:t>remove </a:t>
            </a:r>
            <a:r>
              <a:rPr lang="en-US" sz="2400" dirty="0"/>
              <a:t>related defects.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Although </a:t>
            </a:r>
            <a:r>
              <a:rPr lang="en-US" sz="2400" dirty="0"/>
              <a:t>these activities are an important part of product support,</a:t>
            </a:r>
            <a:br>
              <a:rPr lang="en-US" sz="2400" dirty="0"/>
            </a:br>
            <a:r>
              <a:rPr lang="en-US" sz="2400" dirty="0"/>
              <a:t>they are not generally considered as a part of the traditional QA activities because of </a:t>
            </a:r>
            <a:r>
              <a:rPr lang="en-US" sz="2400" dirty="0" smtClean="0"/>
              <a:t>the damages </a:t>
            </a:r>
            <a:r>
              <a:rPr lang="en-US" sz="2400" dirty="0"/>
              <a:t>already done to the customers’ applications and to the software vendors’ reputation</a:t>
            </a:r>
            <a:r>
              <a:rPr lang="en-US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07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Other techniques and risk </a:t>
            </a:r>
            <a:r>
              <a:rPr lang="en-US" sz="2400" b="1" dirty="0" smtClean="0"/>
              <a:t>identification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Fault distribution is highly uneven for most software products, regardless of their size,</a:t>
            </a:r>
            <a:br>
              <a:rPr lang="en-US" sz="2400" dirty="0"/>
            </a:br>
            <a:r>
              <a:rPr lang="en-US" sz="2400" dirty="0"/>
              <a:t>functionality, implementation language</a:t>
            </a:r>
            <a:r>
              <a:rPr lang="en-US" sz="2400" dirty="0" smtClean="0"/>
              <a:t>, and </a:t>
            </a:r>
            <a:r>
              <a:rPr lang="en-US" sz="2400" dirty="0"/>
              <a:t>other characteristics.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i="1" dirty="0" smtClean="0"/>
              <a:t> 80:20 </a:t>
            </a:r>
            <a:r>
              <a:rPr lang="en-US" sz="2400" dirty="0" smtClean="0"/>
              <a:t>rule</a:t>
            </a:r>
            <a:r>
              <a:rPr lang="en-US" sz="2400" dirty="0"/>
              <a:t>, which states that </a:t>
            </a:r>
            <a:r>
              <a:rPr lang="en-US" sz="2400" dirty="0" smtClean="0"/>
              <a:t>20% of </a:t>
            </a:r>
            <a:r>
              <a:rPr lang="en-US" sz="2400" dirty="0"/>
              <a:t>the software components are responsible for 80</a:t>
            </a:r>
            <a:r>
              <a:rPr lang="en-US" sz="2400" dirty="0" smtClean="0"/>
              <a:t>% of </a:t>
            </a:r>
            <a:r>
              <a:rPr lang="en-US" sz="2400" dirty="0"/>
              <a:t>the problems. These </a:t>
            </a:r>
            <a:r>
              <a:rPr lang="en-US" sz="2400" dirty="0" smtClean="0"/>
              <a:t>problematic components </a:t>
            </a:r>
            <a:r>
              <a:rPr lang="en-US" sz="2400" dirty="0"/>
              <a:t>can generally be characterized by specific measurement properties about </a:t>
            </a:r>
            <a:r>
              <a:rPr lang="en-US" sz="2400" dirty="0" smtClean="0"/>
              <a:t>their design</a:t>
            </a:r>
            <a:r>
              <a:rPr lang="en-US" sz="2400" dirty="0"/>
              <a:t>, size, complexity, change history, and other product or process characteristics.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Because </a:t>
            </a:r>
            <a:r>
              <a:rPr lang="en-US" sz="2400" dirty="0"/>
              <a:t>of the uneven fault distribution among software components, there is a </a:t>
            </a:r>
            <a:r>
              <a:rPr lang="en-US" sz="2400" dirty="0" smtClean="0"/>
              <a:t>great need for risk </a:t>
            </a:r>
            <a:r>
              <a:rPr lang="en-US" sz="2400" dirty="0"/>
              <a:t>identification techniques to analyze these measurement data so that inspection, testing</a:t>
            </a:r>
            <a:r>
              <a:rPr lang="en-US" sz="2400" dirty="0" smtClean="0"/>
              <a:t>, </a:t>
            </a:r>
            <a:r>
              <a:rPr lang="en-US" sz="2400" dirty="0"/>
              <a:t>and other QA activities can be more </a:t>
            </a:r>
            <a:r>
              <a:rPr lang="en-US" sz="2400" dirty="0" smtClean="0"/>
              <a:t>effectively </a:t>
            </a:r>
            <a:r>
              <a:rPr lang="en-US" sz="2400" dirty="0"/>
              <a:t>focused on those potentially </a:t>
            </a:r>
            <a:r>
              <a:rPr lang="en-US" sz="2400" dirty="0" smtClean="0"/>
              <a:t>high-defect components.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2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Reduction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Other techniques and risk </a:t>
            </a:r>
            <a:r>
              <a:rPr lang="en-US" sz="2400" b="1" dirty="0" smtClean="0"/>
              <a:t>identification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These risk identification techniques are </a:t>
            </a:r>
            <a:endParaRPr lang="en-US" sz="2400" b="1" dirty="0" smtClean="0"/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Traditional statistical </a:t>
            </a:r>
            <a:r>
              <a:rPr lang="en-US" sz="2000" dirty="0"/>
              <a:t>analysis </a:t>
            </a:r>
            <a:r>
              <a:rPr lang="en-US" sz="2000" dirty="0" smtClean="0"/>
              <a:t>techniques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principal </a:t>
            </a:r>
            <a:r>
              <a:rPr lang="en-US" sz="2000" dirty="0"/>
              <a:t>component </a:t>
            </a:r>
            <a:r>
              <a:rPr lang="en-US" sz="2000" dirty="0" smtClean="0"/>
              <a:t>analysis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discriminant analysis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neural networks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tree-based modeling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pattern </a:t>
            </a:r>
            <a:r>
              <a:rPr lang="en-US" sz="2000" dirty="0"/>
              <a:t>matching </a:t>
            </a:r>
            <a:r>
              <a:rPr lang="en-US" sz="2000" dirty="0" smtClean="0"/>
              <a:t>techniques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 smtClean="0"/>
              <a:t>and </a:t>
            </a:r>
            <a:r>
              <a:rPr lang="en-US" sz="2000" dirty="0"/>
              <a:t>learning </a:t>
            </a:r>
            <a:r>
              <a:rPr lang="en-US" sz="2000" dirty="0" smtClean="0"/>
              <a:t>algorithms</a:t>
            </a: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These techniques are compared according to several criteria, including: accuracy, simplicity, early availability and stability, ease of result interpretation, constructive </a:t>
            </a:r>
            <a:r>
              <a:rPr lang="en-US" sz="2400" dirty="0" smtClean="0"/>
              <a:t>information and </a:t>
            </a:r>
            <a:r>
              <a:rPr lang="en-US" sz="2400" dirty="0"/>
              <a:t>guidance for quality improvement, and availability of tool support</a:t>
            </a:r>
            <a:r>
              <a:rPr lang="en-US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dirty="0"/>
              <a:t>Appropriate </a:t>
            </a:r>
            <a:r>
              <a:rPr lang="en-US" sz="2400" dirty="0" smtClean="0"/>
              <a:t>risk identification </a:t>
            </a:r>
            <a:r>
              <a:rPr lang="en-US" sz="2400" dirty="0"/>
              <a:t>techniques can be selected to fit specific application </a:t>
            </a:r>
            <a:r>
              <a:rPr lang="en-US" sz="2400" dirty="0" smtClean="0"/>
              <a:t>environments in </a:t>
            </a:r>
            <a:r>
              <a:rPr lang="en-US" sz="2400" dirty="0"/>
              <a:t>order </a:t>
            </a:r>
            <a:r>
              <a:rPr lang="en-US" sz="2400" dirty="0" smtClean="0"/>
              <a:t>to identify </a:t>
            </a:r>
            <a:r>
              <a:rPr lang="en-US" sz="2400" dirty="0"/>
              <a:t>high-risk software components for focused </a:t>
            </a:r>
            <a:r>
              <a:rPr lang="en-US" sz="2400" dirty="0" smtClean="0"/>
              <a:t>inspection and </a:t>
            </a:r>
            <a:r>
              <a:rPr lang="en-US" sz="2400" dirty="0"/>
              <a:t>testing </a:t>
            </a: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84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Containment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 defect </a:t>
            </a:r>
            <a:r>
              <a:rPr lang="en-US" sz="2400" dirty="0"/>
              <a:t>reduction </a:t>
            </a:r>
            <a:r>
              <a:rPr lang="en-US" sz="2400" dirty="0" smtClean="0"/>
              <a:t>activities discussed so far </a:t>
            </a:r>
            <a:r>
              <a:rPr lang="en-US" sz="2400" dirty="0"/>
              <a:t>can only reduce the number of faults to a fairly </a:t>
            </a:r>
            <a:r>
              <a:rPr lang="en-US" sz="2400" dirty="0" smtClean="0"/>
              <a:t>low level</a:t>
            </a:r>
            <a:r>
              <a:rPr lang="en-US" sz="2400" dirty="0"/>
              <a:t>, but not completely eliminate them.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For </a:t>
            </a:r>
            <a:r>
              <a:rPr lang="en-US" sz="2400" dirty="0"/>
              <a:t>software systems where failure impact </a:t>
            </a:r>
            <a:r>
              <a:rPr lang="en-US" sz="2400" dirty="0" smtClean="0"/>
              <a:t>is substantial</a:t>
            </a:r>
            <a:r>
              <a:rPr lang="en-US" sz="2400" dirty="0"/>
              <a:t>, such as many real-time control software sub-systems used in medical, </a:t>
            </a:r>
            <a:r>
              <a:rPr lang="en-US" sz="2400" dirty="0" smtClean="0"/>
              <a:t>nuclear, transportation</a:t>
            </a:r>
            <a:r>
              <a:rPr lang="en-US" sz="2400" dirty="0"/>
              <a:t>, and other embedded systems, this low defect level and failure risk may </a:t>
            </a:r>
            <a:r>
              <a:rPr lang="en-US" sz="2400" dirty="0" smtClean="0"/>
              <a:t>still be </a:t>
            </a:r>
            <a:r>
              <a:rPr lang="en-US" sz="2400" dirty="0"/>
              <a:t>inadequate. </a:t>
            </a:r>
            <a:r>
              <a:rPr lang="en-US" sz="2400" dirty="0" smtClean="0"/>
              <a:t>Some </a:t>
            </a:r>
            <a:r>
              <a:rPr lang="en-US" sz="2400" dirty="0"/>
              <a:t>additional QA alternatives are needed</a:t>
            </a:r>
            <a:r>
              <a:rPr lang="en-US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On </a:t>
            </a:r>
            <a:r>
              <a:rPr lang="en-US" sz="2400" dirty="0"/>
              <a:t>the other hand, these few remaining faults may be triggered under rare conditions </a:t>
            </a:r>
            <a:r>
              <a:rPr lang="en-US" sz="2400" dirty="0" smtClean="0"/>
              <a:t>or unusual </a:t>
            </a:r>
            <a:r>
              <a:rPr lang="en-US" sz="2400" dirty="0"/>
              <a:t>dynamic scenarios, making it unrealistic to attempt to generate the huge </a:t>
            </a:r>
            <a:r>
              <a:rPr lang="en-US" sz="2400" dirty="0" smtClean="0"/>
              <a:t>number of </a:t>
            </a:r>
            <a:r>
              <a:rPr lang="en-US" sz="2400" dirty="0"/>
              <a:t>test cases to cover all these conditions or to perform exhaustive inspection </a:t>
            </a:r>
            <a:r>
              <a:rPr lang="en-US" sz="2400" dirty="0" smtClean="0"/>
              <a:t>based on</a:t>
            </a:r>
            <a:r>
              <a:rPr lang="en-US" sz="2400" dirty="0"/>
              <a:t> </a:t>
            </a:r>
            <a:r>
              <a:rPr lang="en-US" sz="2400" dirty="0" smtClean="0"/>
              <a:t>all </a:t>
            </a:r>
            <a:r>
              <a:rPr lang="en-US" sz="2400" dirty="0"/>
              <a:t>possible scenarios. Instead, some other means need to be used to prevent </a:t>
            </a:r>
            <a:r>
              <a:rPr lang="en-US" sz="2400" dirty="0" smtClean="0"/>
              <a:t>failures by breaking </a:t>
            </a:r>
            <a:r>
              <a:rPr lang="en-US" sz="2400" dirty="0"/>
              <a:t>the causal relations between these faults and the resulting failures, thus “</a:t>
            </a:r>
            <a:r>
              <a:rPr lang="en-US" sz="2400" dirty="0" smtClean="0"/>
              <a:t>tolerating” these </a:t>
            </a:r>
            <a:r>
              <a:rPr lang="en-US" sz="2400" dirty="0"/>
              <a:t>faults, or to contain the failures by reducing the </a:t>
            </a:r>
            <a:r>
              <a:rPr lang="en-US" sz="2400" dirty="0" smtClean="0"/>
              <a:t>resulting damage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78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Containment - Software Fault Tolerance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Software fault </a:t>
            </a:r>
            <a:r>
              <a:rPr lang="en-US" sz="2400" dirty="0"/>
              <a:t>tolerance ideas originate from fault tolerance designs in traditional </a:t>
            </a:r>
            <a:r>
              <a:rPr lang="en-US" sz="2400" dirty="0" smtClean="0"/>
              <a:t>hardware systems </a:t>
            </a:r>
            <a:r>
              <a:rPr lang="en-US" sz="2400" dirty="0"/>
              <a:t>that require higher levels of reliability, availability, or dependability.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In </a:t>
            </a:r>
            <a:r>
              <a:rPr lang="en-US" sz="2400" dirty="0"/>
              <a:t>such systems, spare parts and backup units are commonly used to keep the systems in </a:t>
            </a:r>
            <a:r>
              <a:rPr lang="en-US" sz="2400" dirty="0" smtClean="0"/>
              <a:t>operational conditions</a:t>
            </a:r>
            <a:r>
              <a:rPr lang="en-US" sz="2400" dirty="0"/>
              <a:t>, maybe at a reduced capability, at the presence of unit or part failures. </a:t>
            </a:r>
            <a:endParaRPr lang="en-US" sz="24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/>
              <a:t>The </a:t>
            </a:r>
            <a:r>
              <a:rPr lang="en-US" sz="2400" dirty="0"/>
              <a:t>primary software fault tolerance techniques include recovery blocks, N-version </a:t>
            </a:r>
            <a:r>
              <a:rPr lang="en-US" sz="2400" dirty="0" smtClean="0"/>
              <a:t>programming (NVP</a:t>
            </a:r>
            <a:r>
              <a:rPr lang="en-US" sz="2400" dirty="0"/>
              <a:t>), and their variations </a:t>
            </a:r>
            <a:r>
              <a:rPr lang="en-US" sz="2400" dirty="0" smtClean="0"/>
              <a:t>. 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25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cs typeface="Times New Roman" pitchFamily="18" charset="0"/>
              </a:rPr>
              <a:t>Defect Containment - Software Fault Tolerance</a:t>
            </a:r>
            <a:endParaRPr lang="en-US" sz="3200" b="1" dirty="0"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055077"/>
            <a:ext cx="11271250" cy="52621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/>
              <a:t>Recovery blocks </a:t>
            </a:r>
            <a:r>
              <a:rPr lang="en-US" sz="2400" dirty="0"/>
              <a:t>use repeated executions (or redundancy over time) as the </a:t>
            </a:r>
            <a:r>
              <a:rPr lang="en-US" sz="2400" dirty="0" smtClean="0"/>
              <a:t>basic mechanism </a:t>
            </a:r>
            <a:r>
              <a:rPr lang="en-US" sz="2400" dirty="0"/>
              <a:t>for fault tolerance. If dynamic failures in some local areas are </a:t>
            </a:r>
            <a:r>
              <a:rPr lang="en-US" sz="2400" dirty="0" smtClean="0"/>
              <a:t>detected, a </a:t>
            </a:r>
            <a:r>
              <a:rPr lang="en-US" sz="2400" dirty="0"/>
              <a:t>portion of the latest execution is repeated, in the hope that this repeated </a:t>
            </a:r>
            <a:r>
              <a:rPr lang="en-US" sz="2400" dirty="0" smtClean="0"/>
              <a:t>execution will </a:t>
            </a:r>
            <a:r>
              <a:rPr lang="en-US" sz="2400" dirty="0"/>
              <a:t>not lead to the same failure. Therefore, local failures will not </a:t>
            </a:r>
            <a:r>
              <a:rPr lang="en-US" sz="2400" dirty="0" smtClean="0"/>
              <a:t>propagate to global failures</a:t>
            </a:r>
            <a:r>
              <a:rPr lang="en-US" sz="2400" dirty="0"/>
              <a:t>, although some time-delay may be involved</a:t>
            </a:r>
            <a:r>
              <a:rPr lang="en-US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/>
              <a:t>NVP</a:t>
            </a:r>
            <a:r>
              <a:rPr lang="en-US" sz="2400" dirty="0"/>
              <a:t> uses parallel redundancy, where N copies, each of a different version, of programs fulfilling the same functionality are running in parallel. The decision algorithm</a:t>
            </a:r>
            <a:br>
              <a:rPr lang="en-US" sz="2400" dirty="0"/>
            </a:br>
            <a:r>
              <a:rPr lang="en-US" sz="2400" dirty="0"/>
              <a:t>in NVP makes sure that local failures in limited number of these parallel versions</a:t>
            </a:r>
            <a:br>
              <a:rPr lang="en-US" sz="2400" dirty="0"/>
            </a:br>
            <a:r>
              <a:rPr lang="en-US" sz="2400" dirty="0"/>
              <a:t>will not compromise global execution results</a:t>
            </a:r>
            <a:r>
              <a:rPr lang="en-US" sz="2400" dirty="0" smtClean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One fact worth noting is that in most fault tolerance techniques, faults are </a:t>
            </a:r>
            <a:r>
              <a:rPr lang="en-US" sz="2400"/>
              <a:t>not </a:t>
            </a:r>
            <a:r>
              <a:rPr lang="en-US" sz="2400" smtClean="0"/>
              <a:t>typically identified</a:t>
            </a:r>
            <a:r>
              <a:rPr lang="en-US" sz="2400" dirty="0"/>
              <a:t>, therefore not removed, but only tolerated dynamically. This is in sharp </a:t>
            </a:r>
            <a:r>
              <a:rPr lang="en-US" sz="2400" dirty="0" smtClean="0"/>
              <a:t>contrast to </a:t>
            </a:r>
            <a:r>
              <a:rPr lang="en-US" sz="2400" dirty="0"/>
              <a:t>defect detection and removal activities such as inspection and testing.</a:t>
            </a:r>
          </a:p>
          <a:p>
            <a:pPr marL="0" indent="0" algn="just">
              <a:buNone/>
            </a:pPr>
            <a:r>
              <a:rPr lang="en-US" sz="2400" dirty="0" smtClean="0"/>
              <a:t> 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 smtClean="0"/>
          </a:p>
          <a:p>
            <a:pPr marL="0" indent="0" algn="just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sv-SE" sz="2400" dirty="0"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90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5077"/>
            <a:ext cx="11461750" cy="526219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			Questions and Answers sessions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56350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30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068FA9-1600-45D1-A6E5-8A4DE3D3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7238"/>
          </a:xfrm>
        </p:spPr>
        <p:txBody>
          <a:bodyPr>
            <a:normAutofit/>
          </a:bodyPr>
          <a:lstStyle/>
          <a:p>
            <a:pPr algn="ctr"/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5AF10D-A9D7-42AD-A9CA-AFDA606E7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55077"/>
            <a:ext cx="11461750" cy="526219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  <a:p>
            <a:pPr marL="0" indent="0" fontAlgn="base">
              <a:buNone/>
            </a:pP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7BA220A-04FE-4CA5-AAB4-C050E821C4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476500"/>
            <a:ext cx="6096000" cy="1905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EDE5-9AB5-4B4D-985A-2C24811CE893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18" y="10300"/>
            <a:ext cx="1433581" cy="1198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xmlns="" id="{FDF53A62-6603-4F1D-B7BE-046B3940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04377" y="6343225"/>
            <a:ext cx="9144000" cy="365125"/>
          </a:xfrm>
        </p:spPr>
        <p:txBody>
          <a:bodyPr/>
          <a:lstStyle/>
          <a:p>
            <a:endParaRPr lang="en-US" sz="1600" dirty="0" smtClean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Department </a:t>
            </a:r>
            <a:r>
              <a:rPr lang="en-US" sz="1600" dirty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of </a:t>
            </a:r>
            <a:r>
              <a:rPr lang="en-US" sz="1600" dirty="0" smtClean="0">
                <a:ln>
                  <a:gradFill>
                    <a:gsLst>
                      <a:gs pos="39079">
                        <a:schemeClr val="accent2"/>
                      </a:gs>
                      <a:gs pos="16280">
                        <a:srgbClr val="E6ECF7"/>
                      </a:gs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solidFill>
                  <a:schemeClr val="accent2"/>
                </a:solidFill>
              </a:rPr>
              <a:t>Creative Technologies, Air University, Pakistan</a:t>
            </a:r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  <a:p>
            <a:endParaRPr lang="en-US" sz="1600" dirty="0">
              <a:ln>
                <a:gradFill>
                  <a:gsLst>
                    <a:gs pos="39079">
                      <a:schemeClr val="accent2"/>
                    </a:gs>
                    <a:gs pos="16280">
                      <a:srgbClr val="E6ECF7"/>
                    </a:gs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72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2460</TotalTime>
  <Words>1842</Words>
  <Application>Microsoft Office PowerPoint</Application>
  <PresentationFormat>Custom</PresentationFormat>
  <Paragraphs>244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Agenda</vt:lpstr>
      <vt:lpstr>Software Quality Assignment-1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Reduction</vt:lpstr>
      <vt:lpstr>Defect Containment</vt:lpstr>
      <vt:lpstr>Defect Containment - Software Fault Tolerance</vt:lpstr>
      <vt:lpstr>Defect Containment - Software Fault Tolerance</vt:lpstr>
      <vt:lpstr>Questions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Naseer Jan</dc:creator>
  <cp:lastModifiedBy>janna</cp:lastModifiedBy>
  <cp:revision>228</cp:revision>
  <dcterms:created xsi:type="dcterms:W3CDTF">2020-03-22T07:59:51Z</dcterms:created>
  <dcterms:modified xsi:type="dcterms:W3CDTF">2025-10-14T10:40:04Z</dcterms:modified>
</cp:coreProperties>
</file>
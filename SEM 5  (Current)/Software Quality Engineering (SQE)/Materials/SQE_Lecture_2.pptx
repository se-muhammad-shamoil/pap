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47" r:id="rId2"/>
    <p:sldId id="257" r:id="rId3"/>
    <p:sldId id="344" r:id="rId4"/>
    <p:sldId id="348" r:id="rId5"/>
    <p:sldId id="349" r:id="rId6"/>
    <p:sldId id="350" r:id="rId7"/>
    <p:sldId id="351" r:id="rId8"/>
    <p:sldId id="352" r:id="rId9"/>
    <p:sldId id="353" r:id="rId10"/>
    <p:sldId id="354" r:id="rId11"/>
    <p:sldId id="314" r:id="rId12"/>
    <p:sldId id="31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p:scale>
          <a:sx n="87" d="100"/>
          <a:sy n="87" d="100"/>
        </p:scale>
        <p:origin x="-514" y="-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9CFE28-41E2-4209-938D-807C0FF82EB7}" type="datetimeFigureOut">
              <a:rPr lang="en-US" smtClean="0"/>
              <a:t>9/20/2025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88D36E-D79D-465A-9C56-D160365580BD}" type="slidenum">
              <a:rPr lang="en-US" smtClean="0"/>
              <a:t>‹#›</a:t>
            </a:fld>
            <a:endParaRPr lang="en-US"/>
          </a:p>
        </p:txBody>
      </p:sp>
    </p:spTree>
    <p:extLst>
      <p:ext uri="{BB962C8B-B14F-4D97-AF65-F5344CB8AC3E}">
        <p14:creationId xmlns:p14="http://schemas.microsoft.com/office/powerpoint/2010/main" val="1925329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748CE0-F9AD-4A5F-B9CB-BD53A74CFEFF}" type="slidenum">
              <a:rPr lang="en-US" smtClean="0"/>
              <a:t>1</a:t>
            </a:fld>
            <a:endParaRPr lang="en-US"/>
          </a:p>
        </p:txBody>
      </p:sp>
    </p:spTree>
    <p:extLst>
      <p:ext uri="{BB962C8B-B14F-4D97-AF65-F5344CB8AC3E}">
        <p14:creationId xmlns:p14="http://schemas.microsoft.com/office/powerpoint/2010/main" val="196107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2</a:t>
            </a:fld>
            <a:endParaRPr lang="en-US"/>
          </a:p>
        </p:txBody>
      </p:sp>
    </p:spTree>
    <p:extLst>
      <p:ext uri="{BB962C8B-B14F-4D97-AF65-F5344CB8AC3E}">
        <p14:creationId xmlns:p14="http://schemas.microsoft.com/office/powerpoint/2010/main" val="3934219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3</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4</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5</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6</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7</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8</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9</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10</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748CE0-F9AD-4A5F-B9CB-BD53A74CFEFF}" type="slidenum">
              <a:rPr lang="en-US" smtClean="0"/>
              <a:t>11</a:t>
            </a:fld>
            <a:endParaRPr lang="en-US"/>
          </a:p>
        </p:txBody>
      </p:sp>
    </p:spTree>
    <p:extLst>
      <p:ext uri="{BB962C8B-B14F-4D97-AF65-F5344CB8AC3E}">
        <p14:creationId xmlns:p14="http://schemas.microsoft.com/office/powerpoint/2010/main" val="763011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748CE0-F9AD-4A5F-B9CB-BD53A74CFEFF}" type="slidenum">
              <a:rPr lang="en-US" smtClean="0"/>
              <a:t>12</a:t>
            </a:fld>
            <a:endParaRPr lang="en-US"/>
          </a:p>
        </p:txBody>
      </p:sp>
    </p:spTree>
    <p:extLst>
      <p:ext uri="{BB962C8B-B14F-4D97-AF65-F5344CB8AC3E}">
        <p14:creationId xmlns:p14="http://schemas.microsoft.com/office/powerpoint/2010/main" val="763011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C287C0-8844-43D6-82FA-5FE2D327E9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5DDCD7B3-F73A-4EEE-B479-B39309817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2BC751E7-5BCB-4D81-B0E1-8D42813F5818}"/>
              </a:ext>
            </a:extLst>
          </p:cNvPr>
          <p:cNvSpPr>
            <a:spLocks noGrp="1"/>
          </p:cNvSpPr>
          <p:nvPr>
            <p:ph type="dt" sz="half" idx="10"/>
          </p:nvPr>
        </p:nvSpPr>
        <p:spPr/>
        <p:txBody>
          <a:bodyPr/>
          <a:lstStyle/>
          <a:p>
            <a:fld id="{05D7A58D-2A4C-420F-8BC1-095F1DF53924}" type="datetime1">
              <a:rPr lang="en-US" smtClean="0"/>
              <a:t>9/20/2025</a:t>
            </a:fld>
            <a:endParaRPr lang="en-US"/>
          </a:p>
        </p:txBody>
      </p:sp>
      <p:sp>
        <p:nvSpPr>
          <p:cNvPr id="5" name="Footer Placeholder 4">
            <a:extLst>
              <a:ext uri="{FF2B5EF4-FFF2-40B4-BE49-F238E27FC236}">
                <a16:creationId xmlns:a16="http://schemas.microsoft.com/office/drawing/2014/main" xmlns="" id="{B13670C0-8F2E-4627-907A-7B1C4C50573E}"/>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a16="http://schemas.microsoft.com/office/drawing/2014/main" xmlns="" id="{18703B08-9B62-4895-8119-C1B8C8070E8F}"/>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684025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8D6461-3C5A-4A64-AD16-4A09AB7D2B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F97D7896-8992-410F-B9F1-F6F85B60FE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58D9DEC-AF66-434C-9ABA-65F1BD85C19C}"/>
              </a:ext>
            </a:extLst>
          </p:cNvPr>
          <p:cNvSpPr>
            <a:spLocks noGrp="1"/>
          </p:cNvSpPr>
          <p:nvPr>
            <p:ph type="dt" sz="half" idx="10"/>
          </p:nvPr>
        </p:nvSpPr>
        <p:spPr/>
        <p:txBody>
          <a:bodyPr/>
          <a:lstStyle/>
          <a:p>
            <a:fld id="{AFC1D356-5C4B-47D7-AF8A-948F8C253765}" type="datetime1">
              <a:rPr lang="en-US" smtClean="0"/>
              <a:t>9/20/2025</a:t>
            </a:fld>
            <a:endParaRPr lang="en-US"/>
          </a:p>
        </p:txBody>
      </p:sp>
      <p:sp>
        <p:nvSpPr>
          <p:cNvPr id="5" name="Footer Placeholder 4">
            <a:extLst>
              <a:ext uri="{FF2B5EF4-FFF2-40B4-BE49-F238E27FC236}">
                <a16:creationId xmlns:a16="http://schemas.microsoft.com/office/drawing/2014/main" xmlns="" id="{C087DE44-F4BF-4B94-8909-23BB15CB56F5}"/>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a16="http://schemas.microsoft.com/office/drawing/2014/main" xmlns="" id="{23B5DB7B-2B5B-4B32-94CF-CD9D67E3818B}"/>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3339512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4250FB-E2DF-45BB-9971-62F98AE750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AB5C522B-00C3-4087-91EA-58DE5769C1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3985D9C-FD1E-4EC9-B299-2E9AAAD6D927}"/>
              </a:ext>
            </a:extLst>
          </p:cNvPr>
          <p:cNvSpPr>
            <a:spLocks noGrp="1"/>
          </p:cNvSpPr>
          <p:nvPr>
            <p:ph type="dt" sz="half" idx="10"/>
          </p:nvPr>
        </p:nvSpPr>
        <p:spPr/>
        <p:txBody>
          <a:bodyPr/>
          <a:lstStyle/>
          <a:p>
            <a:fld id="{B033F68B-B82B-4ADB-9F2A-088F90DF9C3B}" type="datetime1">
              <a:rPr lang="en-US" smtClean="0"/>
              <a:t>9/20/2025</a:t>
            </a:fld>
            <a:endParaRPr lang="en-US"/>
          </a:p>
        </p:txBody>
      </p:sp>
      <p:sp>
        <p:nvSpPr>
          <p:cNvPr id="5" name="Footer Placeholder 4">
            <a:extLst>
              <a:ext uri="{FF2B5EF4-FFF2-40B4-BE49-F238E27FC236}">
                <a16:creationId xmlns:a16="http://schemas.microsoft.com/office/drawing/2014/main" xmlns="" id="{04C2AE4B-43F5-47E6-8187-93FDDE09996A}"/>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a16="http://schemas.microsoft.com/office/drawing/2014/main" xmlns="" id="{D70899C0-F28E-4F92-90E3-D2482F7BB88F}"/>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2824403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BFCD8B-95C8-40E5-8A0C-E5BA3692EF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119C88D-776A-40A6-8DA4-EE7B7FCCF4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07F16495-6722-41DC-845D-AD80D504BF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100C20AE-1AB9-4E6C-AEDD-859A3F7049F8}"/>
              </a:ext>
            </a:extLst>
          </p:cNvPr>
          <p:cNvSpPr>
            <a:spLocks noGrp="1"/>
          </p:cNvSpPr>
          <p:nvPr>
            <p:ph type="dt" sz="half" idx="10"/>
          </p:nvPr>
        </p:nvSpPr>
        <p:spPr/>
        <p:txBody>
          <a:bodyPr/>
          <a:lstStyle/>
          <a:p>
            <a:fld id="{9CAD9E54-BFF9-48E9-84F8-06ADFAEF8585}" type="datetime1">
              <a:rPr lang="en-US" smtClean="0"/>
              <a:t>9/20/2025</a:t>
            </a:fld>
            <a:endParaRPr lang="en-US"/>
          </a:p>
        </p:txBody>
      </p:sp>
      <p:sp>
        <p:nvSpPr>
          <p:cNvPr id="6" name="Footer Placeholder 5">
            <a:extLst>
              <a:ext uri="{FF2B5EF4-FFF2-40B4-BE49-F238E27FC236}">
                <a16:creationId xmlns:a16="http://schemas.microsoft.com/office/drawing/2014/main" xmlns="" id="{24350383-FECF-474D-B875-9A1274F3A35E}"/>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7" name="Slide Number Placeholder 6">
            <a:extLst>
              <a:ext uri="{FF2B5EF4-FFF2-40B4-BE49-F238E27FC236}">
                <a16:creationId xmlns:a16="http://schemas.microsoft.com/office/drawing/2014/main" xmlns="" id="{48E9C92E-F51B-4659-84B8-33A3A05DFAA1}"/>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1534930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50FE0F-DFF0-40B5-8928-0A2C15C2A6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A3A52696-C7D9-4A2B-A46F-5D70D8B433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E9E35E27-1AC2-4532-BB07-8DEB57BCEC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E149BD8-49B5-4FD0-B1DF-D5C8685D3B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1FB2FA5-EF45-4C49-AACF-45D17CFFCE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41FF247-0E79-4344-B279-E302CC3B2731}"/>
              </a:ext>
            </a:extLst>
          </p:cNvPr>
          <p:cNvSpPr>
            <a:spLocks noGrp="1"/>
          </p:cNvSpPr>
          <p:nvPr>
            <p:ph type="dt" sz="half" idx="10"/>
          </p:nvPr>
        </p:nvSpPr>
        <p:spPr/>
        <p:txBody>
          <a:bodyPr/>
          <a:lstStyle/>
          <a:p>
            <a:fld id="{1DCB253F-0CCF-40ED-948B-68FF5AEBEFDA}" type="datetime1">
              <a:rPr lang="en-US" smtClean="0"/>
              <a:t>9/20/2025</a:t>
            </a:fld>
            <a:endParaRPr lang="en-US"/>
          </a:p>
        </p:txBody>
      </p:sp>
      <p:sp>
        <p:nvSpPr>
          <p:cNvPr id="8" name="Footer Placeholder 7">
            <a:extLst>
              <a:ext uri="{FF2B5EF4-FFF2-40B4-BE49-F238E27FC236}">
                <a16:creationId xmlns:a16="http://schemas.microsoft.com/office/drawing/2014/main" xmlns="" id="{5D63F0FB-C346-40DB-8012-ECB085149024}"/>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9" name="Slide Number Placeholder 8">
            <a:extLst>
              <a:ext uri="{FF2B5EF4-FFF2-40B4-BE49-F238E27FC236}">
                <a16:creationId xmlns:a16="http://schemas.microsoft.com/office/drawing/2014/main" xmlns="" id="{D0353C08-DB58-4315-8868-50208379EFD3}"/>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2210267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559B29-3617-474A-9DEB-832003300E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08447382-4B94-443B-835E-01A41378ACEE}"/>
              </a:ext>
            </a:extLst>
          </p:cNvPr>
          <p:cNvSpPr>
            <a:spLocks noGrp="1"/>
          </p:cNvSpPr>
          <p:nvPr>
            <p:ph type="dt" sz="half" idx="10"/>
          </p:nvPr>
        </p:nvSpPr>
        <p:spPr/>
        <p:txBody>
          <a:bodyPr/>
          <a:lstStyle/>
          <a:p>
            <a:fld id="{D842551E-4977-4708-9D03-7BA1468D7DBB}" type="datetime1">
              <a:rPr lang="en-US" smtClean="0"/>
              <a:t>9/20/2025</a:t>
            </a:fld>
            <a:endParaRPr lang="en-US"/>
          </a:p>
        </p:txBody>
      </p:sp>
      <p:sp>
        <p:nvSpPr>
          <p:cNvPr id="4" name="Footer Placeholder 3">
            <a:extLst>
              <a:ext uri="{FF2B5EF4-FFF2-40B4-BE49-F238E27FC236}">
                <a16:creationId xmlns:a16="http://schemas.microsoft.com/office/drawing/2014/main" xmlns="" id="{721D8742-0860-4CBA-9471-6AA6D452827D}"/>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5" name="Slide Number Placeholder 4">
            <a:extLst>
              <a:ext uri="{FF2B5EF4-FFF2-40B4-BE49-F238E27FC236}">
                <a16:creationId xmlns:a16="http://schemas.microsoft.com/office/drawing/2014/main" xmlns="" id="{C99B9260-06B7-4F3E-AC0F-2974FDF6A0E5}"/>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2766562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665CFCE-E032-46A1-AD47-A3A2324EA6F8}"/>
              </a:ext>
            </a:extLst>
          </p:cNvPr>
          <p:cNvSpPr>
            <a:spLocks noGrp="1"/>
          </p:cNvSpPr>
          <p:nvPr>
            <p:ph type="dt" sz="half" idx="10"/>
          </p:nvPr>
        </p:nvSpPr>
        <p:spPr/>
        <p:txBody>
          <a:bodyPr/>
          <a:lstStyle/>
          <a:p>
            <a:fld id="{DC3FD97C-BC33-41C0-BF1F-A2B9C695E72E}" type="datetime1">
              <a:rPr lang="en-US" smtClean="0"/>
              <a:t>9/20/2025</a:t>
            </a:fld>
            <a:endParaRPr lang="en-US"/>
          </a:p>
        </p:txBody>
      </p:sp>
      <p:sp>
        <p:nvSpPr>
          <p:cNvPr id="3" name="Footer Placeholder 2">
            <a:extLst>
              <a:ext uri="{FF2B5EF4-FFF2-40B4-BE49-F238E27FC236}">
                <a16:creationId xmlns:a16="http://schemas.microsoft.com/office/drawing/2014/main" xmlns="" id="{1DD5BDAE-E628-495B-83A2-096A3CE9D353}"/>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4" name="Slide Number Placeholder 3">
            <a:extLst>
              <a:ext uri="{FF2B5EF4-FFF2-40B4-BE49-F238E27FC236}">
                <a16:creationId xmlns:a16="http://schemas.microsoft.com/office/drawing/2014/main" xmlns="" id="{F028C6CF-8532-4D4B-8BCC-D58E3EC12D64}"/>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2267069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EE2F1B-4E3B-4DDD-A5F0-35DE06C5D8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E2444EE9-10A2-4B62-A38A-A187A64DAC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A766DB3A-B449-48EB-8A7D-7A7F719640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52FC067-2261-4BF0-A481-3CC4E004FF1C}"/>
              </a:ext>
            </a:extLst>
          </p:cNvPr>
          <p:cNvSpPr>
            <a:spLocks noGrp="1"/>
          </p:cNvSpPr>
          <p:nvPr>
            <p:ph type="dt" sz="half" idx="10"/>
          </p:nvPr>
        </p:nvSpPr>
        <p:spPr/>
        <p:txBody>
          <a:bodyPr/>
          <a:lstStyle/>
          <a:p>
            <a:fld id="{A3CE5555-17A4-432B-AD8A-D1F62A2F7BCA}" type="datetime1">
              <a:rPr lang="en-US" smtClean="0"/>
              <a:t>9/20/2025</a:t>
            </a:fld>
            <a:endParaRPr lang="en-US"/>
          </a:p>
        </p:txBody>
      </p:sp>
      <p:sp>
        <p:nvSpPr>
          <p:cNvPr id="6" name="Footer Placeholder 5">
            <a:extLst>
              <a:ext uri="{FF2B5EF4-FFF2-40B4-BE49-F238E27FC236}">
                <a16:creationId xmlns:a16="http://schemas.microsoft.com/office/drawing/2014/main" xmlns="" id="{023E7505-D7EF-4418-8958-BE17547490E6}"/>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7" name="Slide Number Placeholder 6">
            <a:extLst>
              <a:ext uri="{FF2B5EF4-FFF2-40B4-BE49-F238E27FC236}">
                <a16:creationId xmlns:a16="http://schemas.microsoft.com/office/drawing/2014/main" xmlns="" id="{CB6AB268-B25E-4476-881C-FBEFA1B8A132}"/>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220452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CC24AC-E495-440B-A1BC-C653102215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9BF307B-DF1B-4661-91DA-240D0D07C8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C0AC7264-4258-4594-A543-631EDE7935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6B0AF07-3D3E-4EFB-AB7E-150B50AC0A24}"/>
              </a:ext>
            </a:extLst>
          </p:cNvPr>
          <p:cNvSpPr>
            <a:spLocks noGrp="1"/>
          </p:cNvSpPr>
          <p:nvPr>
            <p:ph type="dt" sz="half" idx="10"/>
          </p:nvPr>
        </p:nvSpPr>
        <p:spPr/>
        <p:txBody>
          <a:bodyPr/>
          <a:lstStyle/>
          <a:p>
            <a:fld id="{F5A8ADAD-9086-42EC-8A7F-C779F381BCC1}" type="datetime1">
              <a:rPr lang="en-US" smtClean="0"/>
              <a:t>9/20/2025</a:t>
            </a:fld>
            <a:endParaRPr lang="en-US"/>
          </a:p>
        </p:txBody>
      </p:sp>
      <p:sp>
        <p:nvSpPr>
          <p:cNvPr id="6" name="Footer Placeholder 5">
            <a:extLst>
              <a:ext uri="{FF2B5EF4-FFF2-40B4-BE49-F238E27FC236}">
                <a16:creationId xmlns:a16="http://schemas.microsoft.com/office/drawing/2014/main" xmlns="" id="{6A919445-EA65-4FEA-BF60-147F1C9101C7}"/>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7" name="Slide Number Placeholder 6">
            <a:extLst>
              <a:ext uri="{FF2B5EF4-FFF2-40B4-BE49-F238E27FC236}">
                <a16:creationId xmlns:a16="http://schemas.microsoft.com/office/drawing/2014/main" xmlns="" id="{5A26CF07-F013-4B00-A958-862A0D082E06}"/>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938501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FF7858-C58D-45A1-A065-DB629816E5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0C00046F-3250-4186-B430-522DAA45CA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76509E1-84D6-42BF-8501-1DD8743CB4DB}"/>
              </a:ext>
            </a:extLst>
          </p:cNvPr>
          <p:cNvSpPr>
            <a:spLocks noGrp="1"/>
          </p:cNvSpPr>
          <p:nvPr>
            <p:ph type="dt" sz="half" idx="10"/>
          </p:nvPr>
        </p:nvSpPr>
        <p:spPr/>
        <p:txBody>
          <a:bodyPr/>
          <a:lstStyle/>
          <a:p>
            <a:fld id="{6D9B923F-29BC-4418-81B4-EBA12F20B1F4}" type="datetime1">
              <a:rPr lang="en-US" smtClean="0"/>
              <a:t>9/20/2025</a:t>
            </a:fld>
            <a:endParaRPr lang="en-US"/>
          </a:p>
        </p:txBody>
      </p:sp>
      <p:sp>
        <p:nvSpPr>
          <p:cNvPr id="5" name="Footer Placeholder 4">
            <a:extLst>
              <a:ext uri="{FF2B5EF4-FFF2-40B4-BE49-F238E27FC236}">
                <a16:creationId xmlns:a16="http://schemas.microsoft.com/office/drawing/2014/main" xmlns="" id="{B099738A-BE22-41A3-888C-CD8BE734F475}"/>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a16="http://schemas.microsoft.com/office/drawing/2014/main" xmlns="" id="{5D521171-6904-4532-AFE0-1DA35A5A0B50}"/>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823934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87F2E51-2AD6-43D4-9D9E-2D188D2C7C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9ACF6006-BE93-4D4C-AD50-2B2800AA4E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553C4C5-15E0-40B0-A83B-68416691C0F0}"/>
              </a:ext>
            </a:extLst>
          </p:cNvPr>
          <p:cNvSpPr>
            <a:spLocks noGrp="1"/>
          </p:cNvSpPr>
          <p:nvPr>
            <p:ph type="dt" sz="half" idx="10"/>
          </p:nvPr>
        </p:nvSpPr>
        <p:spPr/>
        <p:txBody>
          <a:bodyPr/>
          <a:lstStyle/>
          <a:p>
            <a:fld id="{2062E815-029E-4494-A115-22800C80F744}" type="datetime1">
              <a:rPr lang="en-US" smtClean="0"/>
              <a:t>9/20/2025</a:t>
            </a:fld>
            <a:endParaRPr lang="en-US"/>
          </a:p>
        </p:txBody>
      </p:sp>
      <p:sp>
        <p:nvSpPr>
          <p:cNvPr id="5" name="Footer Placeholder 4">
            <a:extLst>
              <a:ext uri="{FF2B5EF4-FFF2-40B4-BE49-F238E27FC236}">
                <a16:creationId xmlns:a16="http://schemas.microsoft.com/office/drawing/2014/main" xmlns="" id="{2131AF6C-8BCB-4871-A9C2-6D1AE8934EBE}"/>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a16="http://schemas.microsoft.com/office/drawing/2014/main" xmlns="" id="{B40C3E36-63C5-4CAF-A420-9D0C9A8B0C88}"/>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3947216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4A36D8B5-5433-4104-A2D4-D096895EC9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4FB8C331-67B5-42F2-95F1-6DC3B3BC62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147EBE2-792B-4BE5-9EE5-4587A7A7A9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5EEF0A-2703-4387-BF00-01487F7C0C78}" type="datetime1">
              <a:rPr lang="en-US" smtClean="0"/>
              <a:t>9/20/2025</a:t>
            </a:fld>
            <a:endParaRPr lang="en-US"/>
          </a:p>
        </p:txBody>
      </p:sp>
      <p:sp>
        <p:nvSpPr>
          <p:cNvPr id="5" name="Footer Placeholder 4">
            <a:extLst>
              <a:ext uri="{FF2B5EF4-FFF2-40B4-BE49-F238E27FC236}">
                <a16:creationId xmlns:a16="http://schemas.microsoft.com/office/drawing/2014/main" xmlns="" id="{52CAA961-1653-40F5-A49E-F92867866C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a16="http://schemas.microsoft.com/office/drawing/2014/main" xmlns="" id="{24F91C4E-8687-4234-B530-3B86663C16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B8EDE5-9AB5-4B4D-985A-2C24811CE893}" type="slidenum">
              <a:rPr lang="en-US" smtClean="0"/>
              <a:t>‹#›</a:t>
            </a:fld>
            <a:endParaRPr lang="en-US"/>
          </a:p>
        </p:txBody>
      </p:sp>
    </p:spTree>
    <p:extLst>
      <p:ext uri="{BB962C8B-B14F-4D97-AF65-F5344CB8AC3E}">
        <p14:creationId xmlns:p14="http://schemas.microsoft.com/office/powerpoint/2010/main" val="1483743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FA624D-D77F-4746-AB43-5C687792E0E9}"/>
              </a:ext>
            </a:extLst>
          </p:cNvPr>
          <p:cNvSpPr>
            <a:spLocks noGrp="1"/>
          </p:cNvSpPr>
          <p:nvPr>
            <p:ph type="ctrTitle"/>
          </p:nvPr>
        </p:nvSpPr>
        <p:spPr/>
        <p:txBody>
          <a:bodyPr/>
          <a:lstStyle/>
          <a:p>
            <a:endParaRPr lang="en-US"/>
          </a:p>
        </p:txBody>
      </p:sp>
      <p:sp>
        <p:nvSpPr>
          <p:cNvPr id="4" name="Text Box 5">
            <a:extLst>
              <a:ext uri="{FF2B5EF4-FFF2-40B4-BE49-F238E27FC236}">
                <a16:creationId xmlns:a16="http://schemas.microsoft.com/office/drawing/2014/main" xmlns="" id="{2D9AF63B-2427-4F39-93B8-2F8191EBDCE6}"/>
              </a:ext>
            </a:extLst>
          </p:cNvPr>
          <p:cNvSpPr txBox="1">
            <a:spLocks noChangeArrowheads="1"/>
          </p:cNvSpPr>
          <p:nvPr/>
        </p:nvSpPr>
        <p:spPr bwMode="auto">
          <a:xfrm>
            <a:off x="1577498" y="1492250"/>
            <a:ext cx="8640960" cy="222478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algn="ctr"/>
            <a:r>
              <a:rPr lang="en-US" sz="3200" b="1" cap="all" dirty="0" smtClean="0"/>
              <a:t>SOFTWARE </a:t>
            </a:r>
            <a:r>
              <a:rPr lang="en-US" sz="3200" b="1" cap="all" dirty="0" smtClean="0"/>
              <a:t>QUALITY ENGINEERING</a:t>
            </a:r>
            <a:endParaRPr lang="en-US" sz="3200" b="1" cap="all" dirty="0" smtClean="0"/>
          </a:p>
          <a:p>
            <a:pPr algn="ctr"/>
            <a:r>
              <a:rPr lang="en-US" sz="2400" b="1" dirty="0" smtClean="0">
                <a:latin typeface="+mj-lt"/>
                <a:cs typeface="Times New Roman" pitchFamily="18" charset="0"/>
              </a:rPr>
              <a:t>BS </a:t>
            </a:r>
            <a:r>
              <a:rPr lang="en-US" sz="2400" b="1" dirty="0">
                <a:latin typeface="+mj-lt"/>
                <a:cs typeface="Times New Roman" pitchFamily="18" charset="0"/>
              </a:rPr>
              <a:t>Software </a:t>
            </a:r>
            <a:r>
              <a:rPr lang="en-US" sz="2400" b="1" dirty="0" smtClean="0">
                <a:latin typeface="+mj-lt"/>
                <a:cs typeface="Times New Roman" pitchFamily="18" charset="0"/>
              </a:rPr>
              <a:t>Engineering </a:t>
            </a:r>
            <a:endParaRPr lang="en-US" sz="2400" b="1" dirty="0">
              <a:latin typeface="+mj-lt"/>
              <a:cs typeface="Times New Roman" pitchFamily="18" charset="0"/>
            </a:endParaRPr>
          </a:p>
          <a:p>
            <a:pPr algn="ctr"/>
            <a:r>
              <a:rPr lang="en-US" sz="2400" b="1" dirty="0" smtClean="0">
                <a:latin typeface="+mj-lt"/>
                <a:cs typeface="Times New Roman" pitchFamily="18" charset="0"/>
              </a:rPr>
              <a:t>Semester</a:t>
            </a:r>
            <a:r>
              <a:rPr lang="en-US" sz="2400" b="1" dirty="0">
                <a:latin typeface="+mj-lt"/>
                <a:cs typeface="Times New Roman" pitchFamily="18" charset="0"/>
              </a:rPr>
              <a:t>, </a:t>
            </a:r>
            <a:r>
              <a:rPr lang="en-US" sz="2400" b="1" dirty="0" smtClean="0">
                <a:latin typeface="+mj-lt"/>
                <a:cs typeface="Times New Roman" pitchFamily="18" charset="0"/>
              </a:rPr>
              <a:t>Fall </a:t>
            </a:r>
            <a:r>
              <a:rPr lang="en-US" sz="2400" b="1" dirty="0" smtClean="0">
                <a:latin typeface="+mj-lt"/>
                <a:cs typeface="Times New Roman" pitchFamily="18" charset="0"/>
              </a:rPr>
              <a:t>2025</a:t>
            </a:r>
            <a:endParaRPr lang="en-US" sz="2400" b="1" dirty="0">
              <a:latin typeface="+mj-lt"/>
              <a:cs typeface="Times New Roman" pitchFamily="18" charset="0"/>
            </a:endParaRPr>
          </a:p>
          <a:p>
            <a:pPr algn="ctr"/>
            <a:r>
              <a:rPr lang="en-US" sz="2400" b="1" dirty="0">
                <a:latin typeface="+mj-lt"/>
                <a:cs typeface="Times New Roman" pitchFamily="18" charset="0"/>
              </a:rPr>
              <a:t>Credit Hours </a:t>
            </a:r>
            <a:r>
              <a:rPr lang="en-US" sz="2400" b="1" dirty="0" smtClean="0">
                <a:latin typeface="+mj-lt"/>
                <a:cs typeface="Times New Roman" pitchFamily="18" charset="0"/>
              </a:rPr>
              <a:t>2-1</a:t>
            </a:r>
            <a:endParaRPr lang="en-US" sz="2400" b="1" dirty="0">
              <a:latin typeface="+mj-lt"/>
              <a:cs typeface="Times New Roman" pitchFamily="18" charset="0"/>
            </a:endParaRPr>
          </a:p>
        </p:txBody>
      </p:sp>
      <p:sp>
        <p:nvSpPr>
          <p:cNvPr id="5" name="Subtitle 4">
            <a:extLst>
              <a:ext uri="{FF2B5EF4-FFF2-40B4-BE49-F238E27FC236}">
                <a16:creationId xmlns:a16="http://schemas.microsoft.com/office/drawing/2014/main" xmlns="" id="{078E15FD-69F7-4AA8-8766-4760730F0715}"/>
              </a:ext>
            </a:extLst>
          </p:cNvPr>
          <p:cNvSpPr txBox="1">
            <a:spLocks noGrp="1"/>
          </p:cNvSpPr>
          <p:nvPr>
            <p:ph type="subTitle" idx="1"/>
          </p:nvPr>
        </p:nvSpPr>
        <p:spPr>
          <a:xfrm>
            <a:off x="1524000" y="3602038"/>
            <a:ext cx="9144000" cy="2838726"/>
          </a:xfrm>
          <a:prstGeom prst="rect">
            <a:avLst/>
          </a:prstGeom>
          <a:noFill/>
        </p:spPr>
        <p:txBody>
          <a:bodyPr wrap="square" rtlCol="0">
            <a:spAutoFit/>
          </a:bodyPr>
          <a:lstStyle/>
          <a:p>
            <a:pPr algn="ctr"/>
            <a:endParaRPr lang="en-US" sz="3200" dirty="0">
              <a:latin typeface="Times New Roman" pitchFamily="18" charset="0"/>
              <a:cs typeface="Times New Roman" pitchFamily="18" charset="0"/>
            </a:endParaRPr>
          </a:p>
          <a:p>
            <a:pPr algn="ctr"/>
            <a:r>
              <a:rPr lang="en-US" sz="2400" dirty="0">
                <a:latin typeface="+mj-lt"/>
                <a:cs typeface="Times New Roman" pitchFamily="18" charset="0"/>
              </a:rPr>
              <a:t>Instructor: </a:t>
            </a:r>
            <a:r>
              <a:rPr lang="en-US" sz="2400" dirty="0" err="1" smtClean="0">
                <a:latin typeface="+mj-lt"/>
                <a:cs typeface="Times New Roman" pitchFamily="18" charset="0"/>
              </a:rPr>
              <a:t>Naseer</a:t>
            </a:r>
            <a:r>
              <a:rPr lang="en-US" sz="2400" dirty="0" smtClean="0">
                <a:latin typeface="+mj-lt"/>
                <a:cs typeface="Times New Roman" pitchFamily="18" charset="0"/>
              </a:rPr>
              <a:t> </a:t>
            </a:r>
            <a:r>
              <a:rPr lang="en-US" sz="2400" dirty="0">
                <a:latin typeface="+mj-lt"/>
                <a:cs typeface="Times New Roman" pitchFamily="18" charset="0"/>
              </a:rPr>
              <a:t>Jan</a:t>
            </a:r>
          </a:p>
          <a:p>
            <a:pPr algn="ctr"/>
            <a:r>
              <a:rPr lang="en-US" sz="2400" dirty="0">
                <a:latin typeface="+mj-lt"/>
                <a:cs typeface="Times New Roman" pitchFamily="18" charset="0"/>
              </a:rPr>
              <a:t>Department of </a:t>
            </a:r>
            <a:r>
              <a:rPr lang="en-US" sz="2400" dirty="0" smtClean="0">
                <a:latin typeface="+mj-lt"/>
                <a:cs typeface="Times New Roman" pitchFamily="18" charset="0"/>
              </a:rPr>
              <a:t>Creative Technologies</a:t>
            </a:r>
            <a:endParaRPr lang="en-US" sz="2400" dirty="0">
              <a:latin typeface="+mj-lt"/>
              <a:cs typeface="Times New Roman" pitchFamily="18" charset="0"/>
            </a:endParaRPr>
          </a:p>
          <a:p>
            <a:r>
              <a:rPr lang="en-US" dirty="0" smtClean="0">
                <a:latin typeface="+mj-lt"/>
                <a:cs typeface="Times New Roman" pitchFamily="18" charset="0"/>
              </a:rPr>
              <a:t>Air University</a:t>
            </a:r>
            <a:endParaRPr lang="en-US" sz="2400" dirty="0">
              <a:latin typeface="+mj-lt"/>
              <a:cs typeface="Times New Roman" pitchFamily="18" charset="0"/>
            </a:endParaRPr>
          </a:p>
          <a:p>
            <a:pPr algn="ctr"/>
            <a:r>
              <a:rPr lang="en-US" dirty="0" smtClean="0">
                <a:latin typeface="+mj-lt"/>
                <a:cs typeface="Times New Roman" pitchFamily="18" charset="0"/>
              </a:rPr>
              <a:t>Islamabad</a:t>
            </a:r>
            <a:r>
              <a:rPr lang="en-US" sz="2400" dirty="0" smtClean="0">
                <a:latin typeface="+mj-lt"/>
                <a:cs typeface="Times New Roman" pitchFamily="18" charset="0"/>
              </a:rPr>
              <a:t>, </a:t>
            </a:r>
            <a:r>
              <a:rPr lang="en-US" sz="2400" dirty="0">
                <a:latin typeface="+mj-lt"/>
                <a:cs typeface="Times New Roman" pitchFamily="18" charset="0"/>
              </a:rPr>
              <a:t>Pakistan</a:t>
            </a:r>
          </a:p>
          <a:p>
            <a:pPr algn="ctr"/>
            <a:endParaRPr lang="en-US" dirty="0">
              <a:latin typeface="Times New Roman" pitchFamily="18" charset="0"/>
              <a:cs typeface="Times New Roman" pitchFamily="18" charset="0"/>
            </a:endParaRPr>
          </a:p>
        </p:txBody>
      </p:sp>
      <p:sp>
        <p:nvSpPr>
          <p:cNvPr id="3"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
        <p:nvSpPr>
          <p:cNvPr id="6" name="Slide Number Placeholder 5">
            <a:extLst>
              <a:ext uri="{FF2B5EF4-FFF2-40B4-BE49-F238E27FC236}">
                <a16:creationId xmlns:a16="http://schemas.microsoft.com/office/drawing/2014/main" xmlns="" id="{E5F02262-9B1F-47CD-B14C-44FED8529CD7}"/>
              </a:ext>
            </a:extLst>
          </p:cNvPr>
          <p:cNvSpPr>
            <a:spLocks noGrp="1"/>
          </p:cNvSpPr>
          <p:nvPr>
            <p:ph type="sldNum" sz="quarter" idx="12"/>
          </p:nvPr>
        </p:nvSpPr>
        <p:spPr/>
        <p:txBody>
          <a:bodyPr/>
          <a:lstStyle/>
          <a:p>
            <a:fld id="{9BB8EDE5-9AB5-4B4D-985A-2C24811CE893}" type="slidenum">
              <a:rPr lang="en-US" smtClean="0"/>
              <a:t>1</a:t>
            </a:fld>
            <a:endParaRPr lang="en-US" dirty="0"/>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01038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68FA9-1600-45D1-A6E5-8A4DE3D3BE5D}"/>
              </a:ext>
            </a:extLst>
          </p:cNvPr>
          <p:cNvSpPr>
            <a:spLocks noGrp="1"/>
          </p:cNvSpPr>
          <p:nvPr>
            <p:ph type="title"/>
          </p:nvPr>
        </p:nvSpPr>
        <p:spPr>
          <a:xfrm>
            <a:off x="838200" y="365126"/>
            <a:ext cx="10515600" cy="747238"/>
          </a:xfrm>
        </p:spPr>
        <p:txBody>
          <a:bodyPr>
            <a:normAutofit/>
          </a:bodyPr>
          <a:lstStyle/>
          <a:p>
            <a:pPr algn="ctr"/>
            <a:r>
              <a:rPr lang="sv-SE" sz="3200" b="1" dirty="0" smtClean="0">
                <a:cs typeface="Times New Roman" pitchFamily="18" charset="0"/>
              </a:rPr>
              <a:t>Agenda</a:t>
            </a:r>
            <a:endParaRPr lang="en-US" sz="3200" b="1" dirty="0"/>
          </a:p>
        </p:txBody>
      </p:sp>
      <p:sp>
        <p:nvSpPr>
          <p:cNvPr id="3" name="Content Placeholder 2">
            <a:extLst>
              <a:ext uri="{FF2B5EF4-FFF2-40B4-BE49-F238E27FC236}">
                <a16:creationId xmlns:a16="http://schemas.microsoft.com/office/drawing/2014/main" xmlns="" id="{565AF10D-A9D7-42AD-A9CA-AFDA606E7C06}"/>
              </a:ext>
            </a:extLst>
          </p:cNvPr>
          <p:cNvSpPr>
            <a:spLocks noGrp="1"/>
          </p:cNvSpPr>
          <p:nvPr>
            <p:ph idx="1"/>
          </p:nvPr>
        </p:nvSpPr>
        <p:spPr>
          <a:xfrm>
            <a:off x="508000" y="1055077"/>
            <a:ext cx="11271250" cy="5262196"/>
          </a:xfrm>
        </p:spPr>
        <p:txBody>
          <a:bodyPr>
            <a:normAutofit/>
          </a:bodyPr>
          <a:lstStyle/>
          <a:p>
            <a:pPr marL="0" indent="0">
              <a:buNone/>
            </a:pPr>
            <a:r>
              <a:rPr lang="sv-SE" sz="2400" dirty="0"/>
              <a:t>Week 1 Review</a:t>
            </a:r>
          </a:p>
          <a:p>
            <a:pPr>
              <a:buFont typeface="Wingdings" panose="05000000000000000000" pitchFamily="2" charset="2"/>
              <a:buChar char="Ø"/>
            </a:pPr>
            <a:r>
              <a:rPr lang="en-US" sz="2400" dirty="0"/>
              <a:t>If statement, Switch and loops</a:t>
            </a:r>
          </a:p>
          <a:p>
            <a:pPr algn="just" fontAlgn="base">
              <a:buFont typeface="Wingdings" panose="05000000000000000000" pitchFamily="2" charset="2"/>
              <a:buChar char="Ø"/>
            </a:pPr>
            <a:r>
              <a:rPr lang="en-US" sz="2200" b="1" dirty="0"/>
              <a:t>Subtopics</a:t>
            </a:r>
          </a:p>
          <a:p>
            <a:pPr lvl="1" algn="just" fontAlgn="base">
              <a:buFont typeface="Wingdings" panose="05000000000000000000" pitchFamily="2" charset="2"/>
              <a:buChar char="§"/>
            </a:pPr>
            <a:r>
              <a:rPr lang="en-US" sz="1800" dirty="0" smtClean="0"/>
              <a:t>Break </a:t>
            </a:r>
            <a:r>
              <a:rPr lang="en-US" sz="1800" dirty="0" smtClean="0"/>
              <a:t>statement</a:t>
            </a:r>
          </a:p>
          <a:p>
            <a:pPr marL="457200" lvl="1" indent="0" algn="just" fontAlgn="base">
              <a:buNone/>
            </a:pPr>
            <a:endParaRPr lang="en-US" sz="1800" dirty="0"/>
          </a:p>
          <a:p>
            <a:pPr marL="457200" lvl="1" indent="0" algn="just" fontAlgn="base">
              <a:buNone/>
            </a:pPr>
            <a:endParaRPr lang="en-US" sz="1800" dirty="0"/>
          </a:p>
          <a:p>
            <a:pPr>
              <a:buFont typeface="Wingdings" panose="05000000000000000000" pitchFamily="2" charset="2"/>
              <a:buChar char="Ø"/>
            </a:pPr>
            <a:endParaRPr lang="sv-SE" sz="22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2</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4675"/>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33061392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smtClean="0">
                <a:cs typeface="Times New Roman" pitchFamily="18" charset="0"/>
              </a:rPr>
              <a:t>Overview</a:t>
            </a:r>
            <a:endParaRPr lang="en-US" sz="3200" b="1" dirty="0">
              <a:cs typeface="Times New Roman" pitchFamily="18" charset="0"/>
            </a:endParaRPr>
          </a:p>
        </p:txBody>
      </p:sp>
      <p:sp>
        <p:nvSpPr>
          <p:cNvPr id="3" name="Content Placeholder 2">
            <a:extLst>
              <a:ext uri="{FF2B5EF4-FFF2-40B4-BE49-F238E27FC236}">
                <a16:creationId xmlns:a16="http://schemas.microsoft.com/office/drawing/2014/main" xmlns="" id="{565AF10D-A9D7-42AD-A9CA-AFDA606E7C06}"/>
              </a:ext>
            </a:extLst>
          </p:cNvPr>
          <p:cNvSpPr>
            <a:spLocks noGrp="1"/>
          </p:cNvSpPr>
          <p:nvPr>
            <p:ph idx="1"/>
          </p:nvPr>
        </p:nvSpPr>
        <p:spPr>
          <a:xfrm>
            <a:off x="508000" y="1055077"/>
            <a:ext cx="11271250" cy="5262196"/>
          </a:xfrm>
        </p:spPr>
        <p:txBody>
          <a:bodyPr>
            <a:normAutofit/>
          </a:bodyPr>
          <a:lstStyle/>
          <a:p>
            <a:r>
              <a:rPr lang="en-US" sz="2400" dirty="0"/>
              <a:t>Computers and software systems become pervasive in modern society. </a:t>
            </a:r>
          </a:p>
          <a:p>
            <a:r>
              <a:rPr lang="en-US" sz="2400" dirty="0"/>
              <a:t>Worldwide users rely on global online infrastructure to fulfill their needs for information processing, storage, search, and retrieval. All these needs are met with the support of the underlying software. </a:t>
            </a:r>
          </a:p>
          <a:p>
            <a:r>
              <a:rPr lang="en-US" sz="2400" dirty="0"/>
              <a:t>This reliance requires the software to function correctly over a long time, to be easy to use, and so on. </a:t>
            </a:r>
          </a:p>
          <a:p>
            <a:r>
              <a:rPr lang="en-US" sz="2400" dirty="0"/>
              <a:t>In general, such requirements for high </a:t>
            </a:r>
            <a:r>
              <a:rPr lang="en-US" sz="2400" i="1" dirty="0"/>
              <a:t>quality </a:t>
            </a:r>
            <a:r>
              <a:rPr lang="en-US" sz="2400" dirty="0"/>
              <a:t>need to be satisfied by the people involved in the development and support of these software systems through various quality assurance activities, and the claims for high quality need to be supported by evidence based on concrete measurements and analyses. </a:t>
            </a:r>
            <a:br>
              <a:rPr lang="en-US" sz="2400" dirty="0"/>
            </a:br>
            <a:endParaRPr lang="en-US" sz="2400" dirty="0"/>
          </a:p>
          <a:p>
            <a:pPr marL="0" indent="0">
              <a:buNone/>
            </a:pPr>
            <a:endParaRPr lang="en-US" sz="2200" dirty="0">
              <a:cs typeface="Times New Roman" pitchFamily="18" charset="0"/>
            </a:endParaRPr>
          </a:p>
          <a:p>
            <a:pPr marL="0" indent="0" algn="ctr">
              <a:buNone/>
            </a:pPr>
            <a:endParaRPr lang="sv-SE" sz="2200" b="1"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3</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14711369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smtClean="0">
                <a:cs typeface="Times New Roman" pitchFamily="18" charset="0"/>
              </a:rPr>
              <a:t>Quality Expectation</a:t>
            </a:r>
            <a:endParaRPr lang="en-US" sz="3200" b="1" dirty="0">
              <a:cs typeface="Times New Roman" pitchFamily="18" charset="0"/>
            </a:endParaRPr>
          </a:p>
        </p:txBody>
      </p:sp>
      <p:sp>
        <p:nvSpPr>
          <p:cNvPr id="3" name="Content Placeholder 2">
            <a:extLst>
              <a:ext uri="{FF2B5EF4-FFF2-40B4-BE49-F238E27FC236}">
                <a16:creationId xmlns:a16="http://schemas.microsoft.com/office/drawing/2014/main" xmlns="" id="{565AF10D-A9D7-42AD-A9CA-AFDA606E7C06}"/>
              </a:ext>
            </a:extLst>
          </p:cNvPr>
          <p:cNvSpPr>
            <a:spLocks noGrp="1"/>
          </p:cNvSpPr>
          <p:nvPr>
            <p:ph idx="1"/>
          </p:nvPr>
        </p:nvSpPr>
        <p:spPr>
          <a:xfrm>
            <a:off x="508000" y="1055077"/>
            <a:ext cx="11271250" cy="5262196"/>
          </a:xfrm>
        </p:spPr>
        <p:txBody>
          <a:bodyPr>
            <a:normAutofit lnSpcReduction="10000"/>
          </a:bodyPr>
          <a:lstStyle/>
          <a:p>
            <a:pPr>
              <a:buFont typeface="Wingdings" panose="05000000000000000000" pitchFamily="2" charset="2"/>
              <a:buChar char="Ø"/>
            </a:pPr>
            <a:r>
              <a:rPr lang="en-US" sz="2400" dirty="0" smtClean="0"/>
              <a:t>The </a:t>
            </a:r>
            <a:r>
              <a:rPr lang="en-US" sz="2400" dirty="0"/>
              <a:t>software systems must do what they are supposed to do. In other words, </a:t>
            </a:r>
            <a:r>
              <a:rPr lang="en-US" sz="2400" dirty="0" smtClean="0"/>
              <a:t>they must </a:t>
            </a:r>
            <a:r>
              <a:rPr lang="en-US" sz="2400" dirty="0"/>
              <a:t>do the right </a:t>
            </a:r>
            <a:r>
              <a:rPr lang="en-US" sz="2400" dirty="0" smtClean="0"/>
              <a:t>things.</a:t>
            </a:r>
          </a:p>
          <a:p>
            <a:pPr lvl="1">
              <a:buFont typeface="Wingdings" panose="05000000000000000000" pitchFamily="2" charset="2"/>
              <a:buChar char="§"/>
            </a:pPr>
            <a:r>
              <a:rPr lang="en-US" sz="2000" dirty="0" smtClean="0"/>
              <a:t>the </a:t>
            </a:r>
            <a:r>
              <a:rPr lang="en-US" sz="2000" dirty="0"/>
              <a:t>software be the “right software”, or perform the </a:t>
            </a:r>
            <a:r>
              <a:rPr lang="en-US" sz="2000" dirty="0" smtClean="0"/>
              <a:t>right functions</a:t>
            </a:r>
            <a:r>
              <a:rPr lang="en-US" sz="2000" dirty="0"/>
              <a:t>. </a:t>
            </a:r>
            <a:endParaRPr lang="en-US" sz="2000" dirty="0" smtClean="0"/>
          </a:p>
          <a:p>
            <a:pPr lvl="1">
              <a:buFont typeface="Wingdings" panose="05000000000000000000" pitchFamily="2" charset="2"/>
              <a:buChar char="§"/>
            </a:pPr>
            <a:r>
              <a:rPr lang="en-US" sz="2000" dirty="0" smtClean="0"/>
              <a:t>For </a:t>
            </a:r>
            <a:r>
              <a:rPr lang="en-US" sz="2000" dirty="0"/>
              <a:t>example, an airline reservation system is supposed to handle reservations</a:t>
            </a:r>
            <a:r>
              <a:rPr lang="en-US" sz="2000" dirty="0" smtClean="0"/>
              <a:t>, not </a:t>
            </a:r>
            <a:r>
              <a:rPr lang="en-US" sz="2000" dirty="0"/>
              <a:t>intended to fly airplanes automatically. </a:t>
            </a:r>
            <a:endParaRPr lang="en-US" sz="2000" dirty="0" smtClean="0"/>
          </a:p>
          <a:p>
            <a:pPr lvl="1">
              <a:buFont typeface="Wingdings" panose="05000000000000000000" pitchFamily="2" charset="2"/>
              <a:buChar char="§"/>
            </a:pPr>
            <a:r>
              <a:rPr lang="en-US" sz="2000" dirty="0" smtClean="0"/>
              <a:t>The </a:t>
            </a:r>
            <a:r>
              <a:rPr lang="en-US" sz="2000" dirty="0"/>
              <a:t>focus of the related activities is to </a:t>
            </a:r>
            <a:r>
              <a:rPr lang="en-US" sz="2000" i="1" dirty="0" smtClean="0"/>
              <a:t>validate </a:t>
            </a:r>
            <a:r>
              <a:rPr lang="en-US" sz="2000" dirty="0" smtClean="0"/>
              <a:t>the </a:t>
            </a:r>
            <a:r>
              <a:rPr lang="en-US" sz="2000" dirty="0"/>
              <a:t>required software functions under their intended operational environment. </a:t>
            </a:r>
            <a:endParaRPr lang="en-US" sz="2000" dirty="0" smtClean="0"/>
          </a:p>
          <a:p>
            <a:pPr>
              <a:buFont typeface="Wingdings" panose="05000000000000000000" pitchFamily="2" charset="2"/>
              <a:buChar char="Ø"/>
            </a:pPr>
            <a:r>
              <a:rPr lang="en-US" sz="2400" dirty="0" smtClean="0"/>
              <a:t>They must perform these specific tasks correctly or satisfactorily. In other words, they must do the things right.</a:t>
            </a:r>
          </a:p>
          <a:p>
            <a:pPr lvl="1">
              <a:buFont typeface="Wingdings" panose="05000000000000000000" pitchFamily="2" charset="2"/>
              <a:buChar char="§"/>
            </a:pPr>
            <a:r>
              <a:rPr lang="en-US" sz="2100" dirty="0"/>
              <a:t>the </a:t>
            </a:r>
            <a:r>
              <a:rPr lang="en-US" sz="2100" dirty="0"/>
              <a:t>software systems perform their intended functions without problems. </a:t>
            </a:r>
            <a:endParaRPr lang="en-US" sz="2100" dirty="0"/>
          </a:p>
          <a:p>
            <a:pPr lvl="1">
              <a:buFont typeface="Wingdings" panose="05000000000000000000" pitchFamily="2" charset="2"/>
              <a:buChar char="§"/>
            </a:pPr>
            <a:r>
              <a:rPr lang="en-US" sz="2100" dirty="0" smtClean="0"/>
              <a:t>the </a:t>
            </a:r>
            <a:r>
              <a:rPr lang="en-US" sz="2100" dirty="0"/>
              <a:t>system should help travel agents or </a:t>
            </a:r>
            <a:r>
              <a:rPr lang="en-US" sz="2100" dirty="0"/>
              <a:t>individual travelers </a:t>
            </a:r>
            <a:r>
              <a:rPr lang="en-US" sz="2100" dirty="0"/>
              <a:t>make valid reservations within a pre-specified time limit, instead of making </a:t>
            </a:r>
            <a:r>
              <a:rPr lang="en-US" sz="2100" dirty="0"/>
              <a:t>invalid ones</a:t>
            </a:r>
            <a:r>
              <a:rPr lang="en-US" sz="2100" dirty="0"/>
              <a:t>, taking too long to make a reservation, or refusing to make reservations without </a:t>
            </a:r>
            <a:r>
              <a:rPr lang="en-US" sz="2100" dirty="0"/>
              <a:t>proper justification</a:t>
            </a:r>
            <a:r>
              <a:rPr lang="en-US" sz="2100" dirty="0"/>
              <a:t>. </a:t>
            </a:r>
            <a:endParaRPr lang="en-US" sz="2100" dirty="0"/>
          </a:p>
          <a:p>
            <a:pPr lvl="1">
              <a:buFont typeface="Wingdings" panose="05000000000000000000" pitchFamily="2" charset="2"/>
              <a:buChar char="§"/>
            </a:pPr>
            <a:r>
              <a:rPr lang="en-US" sz="2100" dirty="0"/>
              <a:t>The </a:t>
            </a:r>
            <a:r>
              <a:rPr lang="en-US" sz="2100" dirty="0"/>
              <a:t>focus of the related activities is to verify that the implemented </a:t>
            </a:r>
            <a:r>
              <a:rPr lang="en-US" sz="2100" dirty="0"/>
              <a:t>software functions </a:t>
            </a:r>
            <a:r>
              <a:rPr lang="en-US" sz="2100" dirty="0"/>
              <a:t>operate as specified </a:t>
            </a:r>
            <a:br>
              <a:rPr lang="en-US" sz="2100" dirty="0"/>
            </a:br>
            <a:endParaRPr lang="en-US" sz="2100" dirty="0"/>
          </a:p>
          <a:p>
            <a:pPr marL="0" indent="0" algn="ctr">
              <a:buNone/>
            </a:pPr>
            <a:endParaRPr lang="sv-SE" sz="2200" b="1"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4</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07173" y="10301"/>
            <a:ext cx="1284826" cy="107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30124642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smtClean="0">
                <a:cs typeface="Times New Roman" pitchFamily="18" charset="0"/>
              </a:rPr>
              <a:t>Quality Expectation</a:t>
            </a:r>
            <a:endParaRPr lang="en-US" sz="3200" b="1" dirty="0">
              <a:cs typeface="Times New Roman" pitchFamily="18" charset="0"/>
            </a:endParaRPr>
          </a:p>
        </p:txBody>
      </p:sp>
      <p:sp>
        <p:nvSpPr>
          <p:cNvPr id="3" name="Content Placeholder 2">
            <a:extLst>
              <a:ext uri="{FF2B5EF4-FFF2-40B4-BE49-F238E27FC236}">
                <a16:creationId xmlns:a16="http://schemas.microsoft.com/office/drawing/2014/main" xmlns="" id="{565AF10D-A9D7-42AD-A9CA-AFDA606E7C06}"/>
              </a:ext>
            </a:extLst>
          </p:cNvPr>
          <p:cNvSpPr>
            <a:spLocks noGrp="1"/>
          </p:cNvSpPr>
          <p:nvPr>
            <p:ph idx="1"/>
          </p:nvPr>
        </p:nvSpPr>
        <p:spPr>
          <a:xfrm>
            <a:off x="508000" y="1055077"/>
            <a:ext cx="11271250" cy="5262196"/>
          </a:xfrm>
        </p:spPr>
        <p:txBody>
          <a:bodyPr>
            <a:normAutofit/>
          </a:bodyPr>
          <a:lstStyle/>
          <a:p>
            <a:pPr>
              <a:buFont typeface="Wingdings" panose="05000000000000000000" pitchFamily="2" charset="2"/>
              <a:buChar char="Ø"/>
            </a:pPr>
            <a:r>
              <a:rPr lang="en-US" sz="2400" dirty="0" smtClean="0"/>
              <a:t>the </a:t>
            </a:r>
            <a:r>
              <a:rPr lang="en-US" sz="2400" dirty="0"/>
              <a:t>tasks for software </a:t>
            </a:r>
            <a:r>
              <a:rPr lang="en-US" sz="2400" dirty="0" smtClean="0"/>
              <a:t>quality assurance </a:t>
            </a:r>
            <a:r>
              <a:rPr lang="en-US" sz="2400" dirty="0"/>
              <a:t>and quality engineering </a:t>
            </a:r>
            <a:r>
              <a:rPr lang="en-US" sz="2400" dirty="0" smtClean="0"/>
              <a:t>are to </a:t>
            </a:r>
            <a:r>
              <a:rPr lang="en-US" sz="2400" dirty="0"/>
              <a:t>ensure software quality through the related validation and verification activities. </a:t>
            </a:r>
            <a:endParaRPr lang="en-US" sz="2400" dirty="0" smtClean="0"/>
          </a:p>
          <a:p>
            <a:pPr>
              <a:buFont typeface="Wingdings" panose="05000000000000000000" pitchFamily="2" charset="2"/>
              <a:buChar char="Ø"/>
            </a:pPr>
            <a:r>
              <a:rPr lang="en-US" sz="2400" dirty="0"/>
              <a:t>These activities </a:t>
            </a:r>
            <a:r>
              <a:rPr lang="en-US" sz="2400" dirty="0"/>
              <a:t>need to be carried out by the people and organizations responsible for developing and supporting these software systems in an overall quality engineering process </a:t>
            </a:r>
            <a:r>
              <a:rPr lang="en-US" sz="2400" dirty="0"/>
              <a:t>that inc1udes:</a:t>
            </a:r>
          </a:p>
          <a:p>
            <a:pPr lvl="1">
              <a:buFont typeface="Wingdings" panose="05000000000000000000" pitchFamily="2" charset="2"/>
              <a:buChar char="§"/>
            </a:pPr>
            <a:r>
              <a:rPr lang="en-US" sz="2000" dirty="0" smtClean="0"/>
              <a:t>quality planning</a:t>
            </a:r>
            <a:endParaRPr lang="en-US" sz="2000" dirty="0"/>
          </a:p>
          <a:p>
            <a:pPr lvl="1">
              <a:buFont typeface="Wingdings" panose="05000000000000000000" pitchFamily="2" charset="2"/>
              <a:buChar char="§"/>
            </a:pPr>
            <a:r>
              <a:rPr lang="en-US" sz="2000" dirty="0" smtClean="0"/>
              <a:t>execution </a:t>
            </a:r>
            <a:r>
              <a:rPr lang="en-US" sz="2000" dirty="0"/>
              <a:t>of selected </a:t>
            </a:r>
            <a:r>
              <a:rPr lang="en-US" sz="2000" dirty="0"/>
              <a:t>quality assurance</a:t>
            </a:r>
            <a:r>
              <a:rPr lang="en-US" sz="2000" dirty="0" smtClean="0"/>
              <a:t> </a:t>
            </a:r>
            <a:r>
              <a:rPr lang="en-US" sz="2000" dirty="0"/>
              <a:t>or software validation and verification </a:t>
            </a:r>
            <a:r>
              <a:rPr lang="en-US" sz="2000" dirty="0" smtClean="0"/>
              <a:t>activities</a:t>
            </a:r>
            <a:endParaRPr lang="en-US" sz="2000" dirty="0"/>
          </a:p>
          <a:p>
            <a:pPr lvl="1">
              <a:buFont typeface="Wingdings" panose="05000000000000000000" pitchFamily="2" charset="2"/>
              <a:buChar char="§"/>
            </a:pPr>
            <a:r>
              <a:rPr lang="en-US" sz="2000" dirty="0" smtClean="0"/>
              <a:t>measurement </a:t>
            </a:r>
            <a:r>
              <a:rPr lang="en-US" sz="2000" dirty="0"/>
              <a:t>and analysis to provide convincing evidence to demonstrate software</a:t>
            </a:r>
            <a:br>
              <a:rPr lang="en-US" sz="2000" dirty="0"/>
            </a:br>
            <a:r>
              <a:rPr lang="en-US" sz="2000" dirty="0"/>
              <a:t>quality to all parties involved</a:t>
            </a:r>
            <a:r>
              <a:rPr lang="en-US" sz="2000" dirty="0"/>
              <a:t> </a:t>
            </a:r>
            <a:br>
              <a:rPr lang="en-US" sz="2000" dirty="0"/>
            </a:br>
            <a:endParaRPr lang="sv-SE" sz="1800" b="1"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5</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07173" y="10301"/>
            <a:ext cx="1284826" cy="107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34571721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smtClean="0">
                <a:cs typeface="Times New Roman" pitchFamily="18" charset="0"/>
              </a:rPr>
              <a:t>Quality Expectation</a:t>
            </a:r>
            <a:endParaRPr lang="en-US" sz="3200" b="1" dirty="0">
              <a:cs typeface="Times New Roman" pitchFamily="18" charset="0"/>
            </a:endParaRPr>
          </a:p>
        </p:txBody>
      </p:sp>
      <p:sp>
        <p:nvSpPr>
          <p:cNvPr id="3" name="Content Placeholder 2">
            <a:extLst>
              <a:ext uri="{FF2B5EF4-FFF2-40B4-BE49-F238E27FC236}">
                <a16:creationId xmlns:a16="http://schemas.microsoft.com/office/drawing/2014/main" xmlns="" id="{565AF10D-A9D7-42AD-A9CA-AFDA606E7C06}"/>
              </a:ext>
            </a:extLst>
          </p:cNvPr>
          <p:cNvSpPr>
            <a:spLocks noGrp="1"/>
          </p:cNvSpPr>
          <p:nvPr>
            <p:ph idx="1"/>
          </p:nvPr>
        </p:nvSpPr>
        <p:spPr>
          <a:xfrm>
            <a:off x="508000" y="1055077"/>
            <a:ext cx="11271250" cy="5262196"/>
          </a:xfrm>
        </p:spPr>
        <p:txBody>
          <a:bodyPr>
            <a:normAutofit/>
          </a:bodyPr>
          <a:lstStyle/>
          <a:p>
            <a:pPr algn="just">
              <a:buFont typeface="Wingdings" panose="05000000000000000000" pitchFamily="2" charset="2"/>
              <a:buChar char="Ø"/>
            </a:pPr>
            <a:r>
              <a:rPr lang="en-US" sz="2400" dirty="0" smtClean="0"/>
              <a:t>the </a:t>
            </a:r>
            <a:r>
              <a:rPr lang="en-US" sz="2400" dirty="0"/>
              <a:t>negative impact of software problems is </a:t>
            </a:r>
            <a:r>
              <a:rPr lang="en-US" sz="2400" dirty="0" smtClean="0"/>
              <a:t>also increasing</a:t>
            </a:r>
            <a:r>
              <a:rPr lang="en-US" sz="2400" dirty="0"/>
              <a:t>, accompanying the pervasive use of and reliance on software systems in </a:t>
            </a:r>
            <a:r>
              <a:rPr lang="en-US" sz="2400" dirty="0" smtClean="0"/>
              <a:t>modern society</a:t>
            </a:r>
            <a:r>
              <a:rPr lang="en-US" sz="2400" dirty="0"/>
              <a:t>. </a:t>
            </a:r>
            <a:endParaRPr lang="en-US" sz="2400" dirty="0" smtClean="0"/>
          </a:p>
          <a:p>
            <a:pPr algn="just">
              <a:buFont typeface="Wingdings" panose="05000000000000000000" pitchFamily="2" charset="2"/>
              <a:buChar char="Ø"/>
            </a:pPr>
            <a:r>
              <a:rPr lang="en-US" sz="2400" dirty="0" smtClean="0"/>
              <a:t>The </a:t>
            </a:r>
            <a:r>
              <a:rPr lang="en-US" sz="2400" dirty="0"/>
              <a:t>problems could be associated with performing wrong functions, or </a:t>
            </a:r>
            <a:r>
              <a:rPr lang="en-US" sz="2400" dirty="0" smtClean="0"/>
              <a:t>performing intended </a:t>
            </a:r>
            <a:r>
              <a:rPr lang="en-US" sz="2400" dirty="0"/>
              <a:t>functions incorrectly, thus causing unintended consequences. </a:t>
            </a:r>
            <a:endParaRPr lang="en-US" sz="2400" dirty="0" smtClean="0"/>
          </a:p>
          <a:p>
            <a:pPr algn="just">
              <a:buFont typeface="Wingdings" panose="05000000000000000000" pitchFamily="2" charset="2"/>
              <a:buChar char="Ø"/>
            </a:pPr>
            <a:r>
              <a:rPr lang="en-US" sz="2400" dirty="0" smtClean="0"/>
              <a:t>We </a:t>
            </a:r>
            <a:r>
              <a:rPr lang="en-US" sz="2400" dirty="0"/>
              <a:t>would like </a:t>
            </a:r>
            <a:r>
              <a:rPr lang="en-US" sz="2400" dirty="0" smtClean="0"/>
              <a:t>to see </a:t>
            </a:r>
            <a:r>
              <a:rPr lang="en-US" sz="2400" dirty="0"/>
              <a:t>such negative impact be eliminated, if possible. However, due to the increasing </a:t>
            </a:r>
            <a:r>
              <a:rPr lang="en-US" sz="2400" dirty="0" smtClean="0"/>
              <a:t>demand for </a:t>
            </a:r>
            <a:r>
              <a:rPr lang="en-US" sz="2400" dirty="0"/>
              <a:t>automation, additional functionality and </a:t>
            </a:r>
            <a:r>
              <a:rPr lang="en-US" sz="2400" dirty="0" smtClean="0"/>
              <a:t>convenience by </a:t>
            </a:r>
            <a:r>
              <a:rPr lang="en-US" sz="2400" dirty="0"/>
              <a:t>modern society to the </a:t>
            </a:r>
            <a:r>
              <a:rPr lang="en-US" sz="2400" dirty="0" smtClean="0"/>
              <a:t>computer and </a:t>
            </a:r>
            <a:r>
              <a:rPr lang="en-US" sz="2400" dirty="0"/>
              <a:t>software systems, and due to the ubiquitous nature of modern computer, software, </a:t>
            </a:r>
            <a:r>
              <a:rPr lang="en-US" sz="2400" dirty="0" smtClean="0"/>
              <a:t>and information </a:t>
            </a:r>
            <a:r>
              <a:rPr lang="en-US" sz="2400" dirty="0"/>
              <a:t>infrastructure, the size and complexity of modern software systems have </a:t>
            </a:r>
            <a:r>
              <a:rPr lang="en-US" sz="2400" dirty="0" smtClean="0"/>
              <a:t>also increased </a:t>
            </a:r>
            <a:r>
              <a:rPr lang="en-US" sz="2400" dirty="0"/>
              <a:t>steadily. </a:t>
            </a:r>
            <a:endParaRPr lang="en-US" sz="2400" dirty="0" smtClean="0"/>
          </a:p>
          <a:p>
            <a:pPr algn="just">
              <a:buFont typeface="Wingdings" panose="05000000000000000000" pitchFamily="2" charset="2"/>
              <a:buChar char="Ø"/>
            </a:pPr>
            <a:r>
              <a:rPr lang="en-US" sz="2400" dirty="0" smtClean="0"/>
              <a:t>This </a:t>
            </a:r>
            <a:r>
              <a:rPr lang="en-US" sz="2400" dirty="0"/>
              <a:t>increase in size and complexity also has unintended </a:t>
            </a:r>
            <a:r>
              <a:rPr lang="en-US" sz="2400" dirty="0" smtClean="0"/>
              <a:t>consequences in </a:t>
            </a:r>
            <a:r>
              <a:rPr lang="en-US" sz="2400" dirty="0"/>
              <a:t>terms of causing quality problems.</a:t>
            </a:r>
            <a:endParaRPr lang="sv-SE" sz="1800" b="1"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6</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07173" y="10301"/>
            <a:ext cx="1284826" cy="107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33885718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smtClean="0">
                <a:cs typeface="Times New Roman" pitchFamily="18" charset="0"/>
              </a:rPr>
              <a:t>Quality Problems in Large Software System</a:t>
            </a:r>
            <a:endParaRPr lang="en-US" sz="3200" b="1" dirty="0">
              <a:cs typeface="Times New Roman" pitchFamily="18" charset="0"/>
            </a:endParaRPr>
          </a:p>
        </p:txBody>
      </p:sp>
      <p:sp>
        <p:nvSpPr>
          <p:cNvPr id="3" name="Content Placeholder 2">
            <a:extLst>
              <a:ext uri="{FF2B5EF4-FFF2-40B4-BE49-F238E27FC236}">
                <a16:creationId xmlns:a16="http://schemas.microsoft.com/office/drawing/2014/main" xmlns="" id="{565AF10D-A9D7-42AD-A9CA-AFDA606E7C06}"/>
              </a:ext>
            </a:extLst>
          </p:cNvPr>
          <p:cNvSpPr>
            <a:spLocks noGrp="1"/>
          </p:cNvSpPr>
          <p:nvPr>
            <p:ph idx="1"/>
          </p:nvPr>
        </p:nvSpPr>
        <p:spPr>
          <a:xfrm>
            <a:off x="508000" y="1055077"/>
            <a:ext cx="11271250" cy="5262196"/>
          </a:xfrm>
        </p:spPr>
        <p:txBody>
          <a:bodyPr>
            <a:normAutofit lnSpcReduction="10000"/>
          </a:bodyPr>
          <a:lstStyle/>
          <a:p>
            <a:pPr algn="just">
              <a:buFont typeface="Wingdings" panose="05000000000000000000" pitchFamily="2" charset="2"/>
              <a:buChar char="Ø"/>
            </a:pPr>
            <a:r>
              <a:rPr lang="en-US" sz="2400" dirty="0"/>
              <a:t>Many software systems nowadays are highly complex and contain millions of lines of source code. Examples are Microsoft Windows and UNIX operations systems, database products, aviation and in-flight entertainment software, various command communication/control (CCC) systems, etc.</a:t>
            </a:r>
          </a:p>
          <a:p>
            <a:pPr lvl="1" algn="just">
              <a:buFont typeface="Wingdings" panose="05000000000000000000" pitchFamily="2" charset="2"/>
              <a:buChar char="§"/>
            </a:pPr>
            <a:r>
              <a:rPr lang="en-US" sz="2000" dirty="0"/>
              <a:t>Developers: hundreds or even thousands of people in their development</a:t>
            </a:r>
          </a:p>
          <a:p>
            <a:pPr lvl="1" algn="just">
              <a:buFont typeface="Wingdings" panose="05000000000000000000" pitchFamily="2" charset="2"/>
              <a:buChar char="§"/>
            </a:pPr>
            <a:r>
              <a:rPr lang="en-US" sz="2000" dirty="0"/>
              <a:t>Project life: months or even years</a:t>
            </a:r>
          </a:p>
          <a:p>
            <a:pPr lvl="1" algn="just">
              <a:buFont typeface="Wingdings" panose="05000000000000000000" pitchFamily="2" charset="2"/>
              <a:buChar char="§"/>
            </a:pPr>
            <a:r>
              <a:rPr lang="en-US" sz="2000" dirty="0"/>
              <a:t>Operation/application domain:  diverse, and sometimes unanticipated, application environments</a:t>
            </a:r>
          </a:p>
          <a:p>
            <a:pPr algn="just">
              <a:buFont typeface="Wingdings" panose="05000000000000000000" pitchFamily="2" charset="2"/>
              <a:buChar char="Ø"/>
            </a:pPr>
            <a:r>
              <a:rPr lang="en-US" sz="2400" dirty="0"/>
              <a:t>One may argue that some systems are unnecessarily large and complex. </a:t>
            </a:r>
            <a:endParaRPr lang="en-US" sz="2400" dirty="0" smtClean="0"/>
          </a:p>
          <a:p>
            <a:pPr algn="just">
              <a:buFont typeface="Wingdings" panose="05000000000000000000" pitchFamily="2" charset="2"/>
              <a:buChar char="Ø"/>
            </a:pPr>
            <a:r>
              <a:rPr lang="en-US" sz="2400" dirty="0" smtClean="0"/>
              <a:t>According </a:t>
            </a:r>
            <a:r>
              <a:rPr lang="en-US" sz="2400" dirty="0"/>
              <a:t>to (Wirth, 1995), such “fat software” may be caused by </a:t>
            </a:r>
          </a:p>
          <a:p>
            <a:pPr lvl="1" algn="just">
              <a:buFont typeface="Wingdings" panose="05000000000000000000" pitchFamily="2" charset="2"/>
              <a:buChar char="§"/>
            </a:pPr>
            <a:r>
              <a:rPr lang="en-US" sz="2000" dirty="0"/>
              <a:t>indiscriminately adding non-essential </a:t>
            </a:r>
            <a:r>
              <a:rPr lang="en-US" sz="2000" dirty="0" smtClean="0"/>
              <a:t>features </a:t>
            </a:r>
            <a:endParaRPr lang="en-US" sz="2000" dirty="0"/>
          </a:p>
          <a:p>
            <a:pPr lvl="1" algn="just">
              <a:buFont typeface="Wingdings" panose="05000000000000000000" pitchFamily="2" charset="2"/>
              <a:buChar char="§"/>
            </a:pPr>
            <a:r>
              <a:rPr lang="en-US" sz="2000" dirty="0"/>
              <a:t>poor </a:t>
            </a:r>
            <a:r>
              <a:rPr lang="en-US" sz="2000" dirty="0" smtClean="0"/>
              <a:t>design</a:t>
            </a:r>
            <a:endParaRPr lang="en-US" sz="2000" dirty="0"/>
          </a:p>
          <a:p>
            <a:pPr lvl="1" algn="just">
              <a:buFont typeface="Wingdings" panose="05000000000000000000" pitchFamily="2" charset="2"/>
              <a:buChar char="§"/>
            </a:pPr>
            <a:r>
              <a:rPr lang="en-US" sz="2000" dirty="0"/>
              <a:t>improper choices of languages and </a:t>
            </a:r>
            <a:r>
              <a:rPr lang="en-US" sz="2000" dirty="0" smtClean="0"/>
              <a:t>methodologies </a:t>
            </a:r>
            <a:endParaRPr lang="en-US" sz="2000" dirty="0"/>
          </a:p>
          <a:p>
            <a:pPr algn="just">
              <a:buFont typeface="Wingdings" panose="05000000000000000000" pitchFamily="2" charset="2"/>
              <a:buChar char="Ø"/>
            </a:pPr>
            <a:r>
              <a:rPr lang="en-US" sz="2400" dirty="0"/>
              <a:t>which could be addressed by disciplined methodologies and return to essentials for “lean software”. </a:t>
            </a:r>
          </a:p>
          <a:p>
            <a:pPr algn="just">
              <a:buFont typeface="Wingdings" panose="05000000000000000000" pitchFamily="2" charset="2"/>
              <a:buChar char="Ø"/>
            </a:pPr>
            <a:r>
              <a:rPr lang="en-US" sz="2400" dirty="0"/>
              <a:t>Various QA </a:t>
            </a:r>
            <a:r>
              <a:rPr lang="en-US" sz="2400" dirty="0" smtClean="0"/>
              <a:t>techniques can </a:t>
            </a:r>
            <a:r>
              <a:rPr lang="en-US" sz="2400" dirty="0"/>
              <a:t>help produce high-quality, lean software.</a:t>
            </a:r>
          </a:p>
        </p:txBody>
      </p:sp>
      <p:sp>
        <p:nvSpPr>
          <p:cNvPr id="5" name="Slide Number Placeholder 4"/>
          <p:cNvSpPr>
            <a:spLocks noGrp="1"/>
          </p:cNvSpPr>
          <p:nvPr>
            <p:ph type="sldNum" sz="quarter" idx="12"/>
          </p:nvPr>
        </p:nvSpPr>
        <p:spPr/>
        <p:txBody>
          <a:bodyPr/>
          <a:lstStyle/>
          <a:p>
            <a:fld id="{9BB8EDE5-9AB5-4B4D-985A-2C24811CE893}" type="slidenum">
              <a:rPr lang="en-US" smtClean="0"/>
              <a:t>7</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07173" y="10301"/>
            <a:ext cx="1284826" cy="107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17034983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smtClean="0">
                <a:cs typeface="Times New Roman" pitchFamily="18" charset="0"/>
              </a:rPr>
              <a:t>Testing, Quality Assurance and Quality Engineering</a:t>
            </a:r>
            <a:endParaRPr lang="en-US" sz="3200" b="1" dirty="0">
              <a:cs typeface="Times New Roman" pitchFamily="18" charset="0"/>
            </a:endParaRPr>
          </a:p>
        </p:txBody>
      </p:sp>
      <p:sp>
        <p:nvSpPr>
          <p:cNvPr id="3" name="Content Placeholder 2">
            <a:extLst>
              <a:ext uri="{FF2B5EF4-FFF2-40B4-BE49-F238E27FC236}">
                <a16:creationId xmlns:a16="http://schemas.microsoft.com/office/drawing/2014/main" xmlns="" id="{565AF10D-A9D7-42AD-A9CA-AFDA606E7C06}"/>
              </a:ext>
            </a:extLst>
          </p:cNvPr>
          <p:cNvSpPr>
            <a:spLocks noGrp="1"/>
          </p:cNvSpPr>
          <p:nvPr>
            <p:ph idx="1"/>
          </p:nvPr>
        </p:nvSpPr>
        <p:spPr>
          <a:xfrm>
            <a:off x="508000" y="1055077"/>
            <a:ext cx="11271250" cy="5262196"/>
          </a:xfrm>
        </p:spPr>
        <p:txBody>
          <a:bodyPr>
            <a:normAutofit fontScale="92500" lnSpcReduction="10000"/>
          </a:bodyPr>
          <a:lstStyle/>
          <a:p>
            <a:pPr algn="just">
              <a:buFont typeface="Wingdings" panose="05000000000000000000" pitchFamily="2" charset="2"/>
              <a:buChar char="Ø"/>
            </a:pPr>
            <a:r>
              <a:rPr lang="en-US" sz="2400" dirty="0"/>
              <a:t>The above factors </a:t>
            </a:r>
            <a:r>
              <a:rPr lang="en-US" sz="2400" dirty="0" smtClean="0"/>
              <a:t>discussed so far make </a:t>
            </a:r>
            <a:r>
              <a:rPr lang="en-US" sz="2400" dirty="0"/>
              <a:t>it virtually impossible or practically infeasible to achieve the complete prevention or elimination of software problems and related negative impact. </a:t>
            </a:r>
          </a:p>
          <a:p>
            <a:pPr algn="just">
              <a:buFont typeface="Wingdings" panose="05000000000000000000" pitchFamily="2" charset="2"/>
              <a:buChar char="Ø"/>
            </a:pPr>
            <a:r>
              <a:rPr lang="en-US" sz="2400" dirty="0"/>
              <a:t>Consequently, various software QA activities are carried out </a:t>
            </a:r>
          </a:p>
          <a:p>
            <a:pPr lvl="1" algn="just">
              <a:buFont typeface="Wingdings" panose="05000000000000000000" pitchFamily="2" charset="2"/>
              <a:buChar char="§"/>
            </a:pPr>
            <a:r>
              <a:rPr lang="en-US" sz="2000" dirty="0"/>
              <a:t>to prevent or eliminate certain classes of problems that lead to such negative impact, or </a:t>
            </a:r>
          </a:p>
          <a:p>
            <a:pPr lvl="1" algn="just">
              <a:buFont typeface="Wingdings" panose="05000000000000000000" pitchFamily="2" charset="2"/>
              <a:buChar char="§"/>
            </a:pPr>
            <a:r>
              <a:rPr lang="en-US" sz="2000" dirty="0"/>
              <a:t>to reduce the likelihood or severity of such negative impact when it is unavoidable.</a:t>
            </a:r>
          </a:p>
          <a:p>
            <a:pPr algn="just">
              <a:buFont typeface="Wingdings" panose="05000000000000000000" pitchFamily="2" charset="2"/>
              <a:buChar char="Ø"/>
            </a:pPr>
            <a:r>
              <a:rPr lang="en-US" sz="2400" dirty="0"/>
              <a:t>Software testing plays a central role among the software QA activities. By running the software system or executing its prescribed functions, testers can determine if the observed system behavior conforms to its specifications or requirements. </a:t>
            </a:r>
          </a:p>
          <a:p>
            <a:pPr algn="just">
              <a:buFont typeface="Wingdings" panose="05000000000000000000" pitchFamily="2" charset="2"/>
              <a:buChar char="Ø"/>
            </a:pPr>
            <a:r>
              <a:rPr lang="en-US" sz="2400" dirty="0"/>
              <a:t>If discrepancies exist between the two, follow-up actions can be carried out to locate and remove the related problems in software code, which may also include modifying the software design.</a:t>
            </a:r>
          </a:p>
          <a:p>
            <a:pPr algn="just">
              <a:buFont typeface="Wingdings" panose="05000000000000000000" pitchFamily="2" charset="2"/>
              <a:buChar char="Ø"/>
            </a:pPr>
            <a:r>
              <a:rPr lang="en-US" sz="2400" dirty="0"/>
              <a:t>Therefore, the detection and removal of defects through testing help reduce the number of defects in delivered software products, thus helping to achieve the quality goals. </a:t>
            </a:r>
            <a:endParaRPr lang="en-US" sz="2400" dirty="0" smtClean="0"/>
          </a:p>
          <a:p>
            <a:pPr algn="just">
              <a:buFont typeface="Wingdings" panose="05000000000000000000" pitchFamily="2" charset="2"/>
              <a:buChar char="Ø"/>
            </a:pPr>
            <a:r>
              <a:rPr lang="en-US" sz="2400" dirty="0"/>
              <a:t>testing is the most frequently used means to assure and to demonstrate software quality. </a:t>
            </a:r>
          </a:p>
        </p:txBody>
      </p:sp>
      <p:sp>
        <p:nvSpPr>
          <p:cNvPr id="5" name="Slide Number Placeholder 4"/>
          <p:cNvSpPr>
            <a:spLocks noGrp="1"/>
          </p:cNvSpPr>
          <p:nvPr>
            <p:ph type="sldNum" sz="quarter" idx="12"/>
          </p:nvPr>
        </p:nvSpPr>
        <p:spPr/>
        <p:txBody>
          <a:bodyPr/>
          <a:lstStyle/>
          <a:p>
            <a:fld id="{9BB8EDE5-9AB5-4B4D-985A-2C24811CE893}" type="slidenum">
              <a:rPr lang="en-US" smtClean="0"/>
              <a:t>8</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07173" y="10301"/>
            <a:ext cx="1284826" cy="107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6699696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smtClean="0">
                <a:cs typeface="Times New Roman" pitchFamily="18" charset="0"/>
              </a:rPr>
              <a:t>Testing, Quality Assurance and Quality Engineering</a:t>
            </a:r>
            <a:endParaRPr lang="en-US" sz="3200" b="1" dirty="0">
              <a:cs typeface="Times New Roman" pitchFamily="18" charset="0"/>
            </a:endParaRPr>
          </a:p>
        </p:txBody>
      </p:sp>
      <p:sp>
        <p:nvSpPr>
          <p:cNvPr id="3" name="Content Placeholder 2">
            <a:extLst>
              <a:ext uri="{FF2B5EF4-FFF2-40B4-BE49-F238E27FC236}">
                <a16:creationId xmlns:a16="http://schemas.microsoft.com/office/drawing/2014/main" xmlns="" id="{565AF10D-A9D7-42AD-A9CA-AFDA606E7C06}"/>
              </a:ext>
            </a:extLst>
          </p:cNvPr>
          <p:cNvSpPr>
            <a:spLocks noGrp="1"/>
          </p:cNvSpPr>
          <p:nvPr>
            <p:ph idx="1"/>
          </p:nvPr>
        </p:nvSpPr>
        <p:spPr>
          <a:xfrm>
            <a:off x="508000" y="1055077"/>
            <a:ext cx="11271250" cy="5262196"/>
          </a:xfrm>
        </p:spPr>
        <p:txBody>
          <a:bodyPr>
            <a:normAutofit/>
          </a:bodyPr>
          <a:lstStyle/>
          <a:p>
            <a:pPr algn="just">
              <a:buFont typeface="Wingdings" panose="05000000000000000000" pitchFamily="2" charset="2"/>
              <a:buChar char="Ø"/>
            </a:pPr>
            <a:r>
              <a:rPr lang="en-US" sz="2400" dirty="0"/>
              <a:t>there are many other QA alternatives supported by related </a:t>
            </a:r>
            <a:r>
              <a:rPr lang="en-US" sz="2400" dirty="0" smtClean="0"/>
              <a:t>techniques and </a:t>
            </a:r>
            <a:r>
              <a:rPr lang="en-US" sz="2400" dirty="0"/>
              <a:t>activities, such as inspection, formal verification, defect prevention, and fault tolerance.</a:t>
            </a:r>
          </a:p>
          <a:p>
            <a:pPr algn="just">
              <a:buFont typeface="Wingdings" panose="05000000000000000000" pitchFamily="2" charset="2"/>
              <a:buChar char="Ø"/>
            </a:pPr>
            <a:r>
              <a:rPr lang="en-US" sz="2400" dirty="0"/>
              <a:t>Inspection is a critical examination of software code or other artifacts by human </a:t>
            </a:r>
            <a:r>
              <a:rPr lang="en-US" sz="2400" dirty="0" smtClean="0"/>
              <a:t>inspectors to </a:t>
            </a:r>
            <a:r>
              <a:rPr lang="en-US" sz="2400" dirty="0"/>
              <a:t>identify and remove problems directly, without resorting to execution. </a:t>
            </a:r>
          </a:p>
          <a:p>
            <a:pPr algn="just">
              <a:buFont typeface="Wingdings" panose="05000000000000000000" pitchFamily="2" charset="2"/>
              <a:buChar char="Ø"/>
            </a:pPr>
            <a:r>
              <a:rPr lang="en-US" sz="2400" dirty="0"/>
              <a:t>Fault tolerance prevents global system failures even if local problems exist, through various </a:t>
            </a:r>
            <a:r>
              <a:rPr lang="en-US" sz="2400" dirty="0" smtClean="0"/>
              <a:t>redundancies strategically </a:t>
            </a:r>
            <a:r>
              <a:rPr lang="en-US" sz="2400" dirty="0"/>
              <a:t>designed and implemented into the software systems. </a:t>
            </a:r>
            <a:endParaRPr lang="en-US" sz="2400" dirty="0" smtClean="0"/>
          </a:p>
          <a:p>
            <a:pPr algn="just">
              <a:buFont typeface="Wingdings" panose="05000000000000000000" pitchFamily="2" charset="2"/>
              <a:buChar char="Ø"/>
            </a:pPr>
            <a:r>
              <a:rPr lang="en-US" sz="2400" dirty="0" smtClean="0"/>
              <a:t>Other </a:t>
            </a:r>
            <a:r>
              <a:rPr lang="en-US" sz="2400" dirty="0"/>
              <a:t>QA </a:t>
            </a:r>
            <a:r>
              <a:rPr lang="en-US" sz="2400" dirty="0" smtClean="0"/>
              <a:t>techniques employ </a:t>
            </a:r>
            <a:r>
              <a:rPr lang="en-US" sz="2400" dirty="0"/>
              <a:t>specific means to assure software quality. </a:t>
            </a:r>
          </a:p>
          <a:p>
            <a:pPr marL="0" indent="0" algn="just">
              <a:buNone/>
            </a:pPr>
            <a:endParaRPr lang="en-US" sz="2400" dirty="0"/>
          </a:p>
        </p:txBody>
      </p:sp>
      <p:sp>
        <p:nvSpPr>
          <p:cNvPr id="5" name="Slide Number Placeholder 4"/>
          <p:cNvSpPr>
            <a:spLocks noGrp="1"/>
          </p:cNvSpPr>
          <p:nvPr>
            <p:ph type="sldNum" sz="quarter" idx="12"/>
          </p:nvPr>
        </p:nvSpPr>
        <p:spPr/>
        <p:txBody>
          <a:bodyPr/>
          <a:lstStyle/>
          <a:p>
            <a:fld id="{9BB8EDE5-9AB5-4B4D-985A-2C24811CE893}" type="slidenum">
              <a:rPr lang="en-US" smtClean="0"/>
              <a:t>9</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07173" y="10301"/>
            <a:ext cx="1284826" cy="107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pic>
        <p:nvPicPr>
          <p:cNvPr id="102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04096" y="4324304"/>
            <a:ext cx="4686300"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6122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smtClean="0">
                <a:cs typeface="Times New Roman" pitchFamily="18" charset="0"/>
              </a:rPr>
              <a:t>Testing, Quality Assurance and Quality Engineering</a:t>
            </a:r>
            <a:endParaRPr lang="en-US" sz="3200" b="1" dirty="0">
              <a:cs typeface="Times New Roman" pitchFamily="18" charset="0"/>
            </a:endParaRPr>
          </a:p>
        </p:txBody>
      </p:sp>
      <p:sp>
        <p:nvSpPr>
          <p:cNvPr id="3" name="Content Placeholder 2">
            <a:extLst>
              <a:ext uri="{FF2B5EF4-FFF2-40B4-BE49-F238E27FC236}">
                <a16:creationId xmlns:a16="http://schemas.microsoft.com/office/drawing/2014/main" xmlns="" id="{565AF10D-A9D7-42AD-A9CA-AFDA606E7C06}"/>
              </a:ext>
            </a:extLst>
          </p:cNvPr>
          <p:cNvSpPr>
            <a:spLocks noGrp="1"/>
          </p:cNvSpPr>
          <p:nvPr>
            <p:ph idx="1"/>
          </p:nvPr>
        </p:nvSpPr>
        <p:spPr>
          <a:xfrm>
            <a:off x="508000" y="1055077"/>
            <a:ext cx="11271250" cy="5262196"/>
          </a:xfrm>
        </p:spPr>
        <p:txBody>
          <a:bodyPr>
            <a:normAutofit/>
          </a:bodyPr>
          <a:lstStyle/>
          <a:p>
            <a:pPr algn="just">
              <a:buFont typeface="Wingdings" panose="05000000000000000000" pitchFamily="2" charset="2"/>
              <a:buChar char="Ø"/>
            </a:pPr>
            <a:r>
              <a:rPr lang="en-US" sz="2400" dirty="0"/>
              <a:t>In addition, all these QA activities need to be managed in an engineering process we</a:t>
            </a:r>
            <a:br>
              <a:rPr lang="en-US" sz="2400" dirty="0"/>
            </a:br>
            <a:r>
              <a:rPr lang="en-US" sz="2400" dirty="0"/>
              <a:t>call the software quality engineering process, with quality goals set early in the product</a:t>
            </a:r>
            <a:r>
              <a:rPr lang="en-US" sz="2400" dirty="0"/>
              <a:t> </a:t>
            </a:r>
            <a:br>
              <a:rPr lang="en-US" sz="2400" dirty="0"/>
            </a:br>
            <a:r>
              <a:rPr lang="en-US" sz="2400" dirty="0"/>
              <a:t>development, and strategies for QA selected, carried out, and monitored to achieve </a:t>
            </a:r>
            <a:r>
              <a:rPr lang="en-US" sz="2400" dirty="0" smtClean="0"/>
              <a:t>these preset </a:t>
            </a:r>
            <a:r>
              <a:rPr lang="en-US" sz="2400" dirty="0"/>
              <a:t>quality goals. </a:t>
            </a:r>
            <a:endParaRPr lang="en-US" sz="2400" dirty="0" smtClean="0"/>
          </a:p>
          <a:p>
            <a:pPr algn="just">
              <a:buFont typeface="Wingdings" panose="05000000000000000000" pitchFamily="2" charset="2"/>
              <a:buChar char="Ø"/>
            </a:pPr>
            <a:r>
              <a:rPr lang="en-US" sz="2400" dirty="0" smtClean="0"/>
              <a:t>As </a:t>
            </a:r>
            <a:r>
              <a:rPr lang="en-US" sz="2400" dirty="0"/>
              <a:t>part of this overall process, data collected during the QA activities</a:t>
            </a:r>
            <a:r>
              <a:rPr lang="en-US" sz="2400" dirty="0" smtClean="0"/>
              <a:t>, as </a:t>
            </a:r>
            <a:r>
              <a:rPr lang="en-US" sz="2400" dirty="0"/>
              <a:t>well </a:t>
            </a:r>
            <a:r>
              <a:rPr lang="en-US" sz="2400" dirty="0" smtClean="0"/>
              <a:t>as from </a:t>
            </a:r>
            <a:r>
              <a:rPr lang="en-US" sz="2400" dirty="0"/>
              <a:t>the </a:t>
            </a:r>
            <a:r>
              <a:rPr lang="en-US" sz="2400" dirty="0" smtClean="0"/>
              <a:t>overall development </a:t>
            </a:r>
            <a:r>
              <a:rPr lang="en-US" sz="2400" dirty="0"/>
              <a:t>activities</a:t>
            </a:r>
            <a:r>
              <a:rPr lang="en-US" sz="2400" dirty="0" smtClean="0"/>
              <a:t>, can </a:t>
            </a:r>
            <a:r>
              <a:rPr lang="en-US" sz="2400" dirty="0"/>
              <a:t>be </a:t>
            </a:r>
            <a:r>
              <a:rPr lang="en-US" sz="2400" dirty="0" smtClean="0"/>
              <a:t>analyzed to </a:t>
            </a:r>
            <a:r>
              <a:rPr lang="en-US" sz="2400" dirty="0"/>
              <a:t>provide feedback to </a:t>
            </a:r>
            <a:r>
              <a:rPr lang="en-US" sz="2400" dirty="0" smtClean="0"/>
              <a:t>the software development process </a:t>
            </a:r>
            <a:r>
              <a:rPr lang="en-US" sz="2400" dirty="0"/>
              <a:t>for decision making, project management</a:t>
            </a:r>
            <a:r>
              <a:rPr lang="en-US" sz="2400" dirty="0" smtClean="0"/>
              <a:t>, and quantifiable quality </a:t>
            </a:r>
            <a:r>
              <a:rPr lang="en-US" sz="2400" dirty="0"/>
              <a:t>improvement. </a:t>
            </a:r>
          </a:p>
        </p:txBody>
      </p:sp>
      <p:sp>
        <p:nvSpPr>
          <p:cNvPr id="5" name="Slide Number Placeholder 4"/>
          <p:cNvSpPr>
            <a:spLocks noGrp="1"/>
          </p:cNvSpPr>
          <p:nvPr>
            <p:ph type="sldNum" sz="quarter" idx="12"/>
          </p:nvPr>
        </p:nvSpPr>
        <p:spPr/>
        <p:txBody>
          <a:bodyPr/>
          <a:lstStyle/>
          <a:p>
            <a:fld id="{9BB8EDE5-9AB5-4B4D-985A-2C24811CE893}" type="slidenum">
              <a:rPr lang="en-US" smtClean="0"/>
              <a:t>10</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07173" y="10301"/>
            <a:ext cx="1284826" cy="107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29443203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t>Questions</a:t>
            </a:r>
          </a:p>
        </p:txBody>
      </p:sp>
      <p:sp>
        <p:nvSpPr>
          <p:cNvPr id="3" name="Content Placeholder 2">
            <a:extLst>
              <a:ext uri="{FF2B5EF4-FFF2-40B4-BE49-F238E27FC236}">
                <a16:creationId xmlns:a16="http://schemas.microsoft.com/office/drawing/2014/main" xmlns="" id="{565AF10D-A9D7-42AD-A9CA-AFDA606E7C06}"/>
              </a:ext>
            </a:extLst>
          </p:cNvPr>
          <p:cNvSpPr>
            <a:spLocks noGrp="1"/>
          </p:cNvSpPr>
          <p:nvPr>
            <p:ph idx="1"/>
          </p:nvPr>
        </p:nvSpPr>
        <p:spPr>
          <a:xfrm>
            <a:off x="482600" y="1055077"/>
            <a:ext cx="11461750" cy="5262196"/>
          </a:xfrm>
        </p:spPr>
        <p:txBody>
          <a:bodyPr>
            <a:normAutofit/>
          </a:bodyPr>
          <a:lstStyle/>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r>
              <a:rPr lang="en-US" b="1" dirty="0"/>
              <a:t>			Questions and Answers sessions</a:t>
            </a:r>
            <a:endParaRPr lang="en-US" dirty="0"/>
          </a:p>
        </p:txBody>
      </p:sp>
      <p:sp>
        <p:nvSpPr>
          <p:cNvPr id="4" name="Slide Number Placeholder 3"/>
          <p:cNvSpPr>
            <a:spLocks noGrp="1"/>
          </p:cNvSpPr>
          <p:nvPr>
            <p:ph type="sldNum" sz="quarter" idx="12"/>
          </p:nvPr>
        </p:nvSpPr>
        <p:spPr/>
        <p:txBody>
          <a:bodyPr/>
          <a:lstStyle/>
          <a:p>
            <a:fld id="{9BB8EDE5-9AB5-4B4D-985A-2C24811CE893}" type="slidenum">
              <a:rPr lang="en-US" smtClean="0"/>
              <a:t>11</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5963069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68FA9-1600-45D1-A6E5-8A4DE3D3BE5D}"/>
              </a:ext>
            </a:extLst>
          </p:cNvPr>
          <p:cNvSpPr>
            <a:spLocks noGrp="1"/>
          </p:cNvSpPr>
          <p:nvPr>
            <p:ph type="title"/>
          </p:nvPr>
        </p:nvSpPr>
        <p:spPr>
          <a:xfrm>
            <a:off x="838200" y="365126"/>
            <a:ext cx="10515600" cy="747238"/>
          </a:xfrm>
        </p:spPr>
        <p:txBody>
          <a:bodyPr>
            <a:normAutofit/>
          </a:bodyPr>
          <a:lstStyle/>
          <a:p>
            <a:pPr algn="ctr"/>
            <a:endParaRPr lang="en-US" sz="3200" b="1" dirty="0"/>
          </a:p>
        </p:txBody>
      </p:sp>
      <p:sp>
        <p:nvSpPr>
          <p:cNvPr id="3" name="Content Placeholder 2">
            <a:extLst>
              <a:ext uri="{FF2B5EF4-FFF2-40B4-BE49-F238E27FC236}">
                <a16:creationId xmlns:a16="http://schemas.microsoft.com/office/drawing/2014/main" xmlns="" id="{565AF10D-A9D7-42AD-A9CA-AFDA606E7C06}"/>
              </a:ext>
            </a:extLst>
          </p:cNvPr>
          <p:cNvSpPr>
            <a:spLocks noGrp="1"/>
          </p:cNvSpPr>
          <p:nvPr>
            <p:ph idx="1"/>
          </p:nvPr>
        </p:nvSpPr>
        <p:spPr>
          <a:xfrm>
            <a:off x="482600" y="1055077"/>
            <a:ext cx="11461750" cy="5262196"/>
          </a:xfrm>
        </p:spPr>
        <p:txBody>
          <a:bodyPr>
            <a:normAutofit/>
          </a:bodyPr>
          <a:lstStyle/>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endParaRPr lang="en-US" b="1" dirty="0"/>
          </a:p>
        </p:txBody>
      </p:sp>
      <p:pic>
        <p:nvPicPr>
          <p:cNvPr id="9" name="Picture 8">
            <a:extLst>
              <a:ext uri="{FF2B5EF4-FFF2-40B4-BE49-F238E27FC236}">
                <a16:creationId xmlns:a16="http://schemas.microsoft.com/office/drawing/2014/main" xmlns="" id="{27BA220A-04FE-4CA5-AAB4-C050E821C4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0" y="2476500"/>
            <a:ext cx="6096000" cy="1905000"/>
          </a:xfrm>
          <a:prstGeom prst="rect">
            <a:avLst/>
          </a:prstGeom>
        </p:spPr>
      </p:pic>
      <p:sp>
        <p:nvSpPr>
          <p:cNvPr id="4" name="Slide Number Placeholder 3"/>
          <p:cNvSpPr>
            <a:spLocks noGrp="1"/>
          </p:cNvSpPr>
          <p:nvPr>
            <p:ph type="sldNum" sz="quarter" idx="12"/>
          </p:nvPr>
        </p:nvSpPr>
        <p:spPr/>
        <p:txBody>
          <a:bodyPr/>
          <a:lstStyle/>
          <a:p>
            <a:fld id="{9BB8EDE5-9AB5-4B4D-985A-2C24811CE893}" type="slidenum">
              <a:rPr lang="en-US" smtClean="0"/>
              <a:t>12</a:t>
            </a:fld>
            <a:endParaRPr lang="en-US"/>
          </a:p>
        </p:txBody>
      </p:sp>
      <p:pic>
        <p:nvPicPr>
          <p:cNvPr id="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2">
            <a:extLst>
              <a:ext uri="{FF2B5EF4-FFF2-40B4-BE49-F238E27FC236}">
                <a16:creationId xmlns:a16="http://schemas.microsoft.com/office/drawing/2014/main" xmlns="" id="{FDF53A62-6603-4F1D-B7BE-046B394055AC}"/>
              </a:ext>
            </a:extLst>
          </p:cNvPr>
          <p:cNvSpPr>
            <a:spLocks noGrp="1"/>
          </p:cNvSpPr>
          <p:nvPr>
            <p:ph type="ftr" sz="quarter" idx="11"/>
          </p:nvPr>
        </p:nvSpPr>
        <p:spPr>
          <a:xfrm>
            <a:off x="1904377" y="6343225"/>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306872812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1525</TotalTime>
  <Words>1119</Words>
  <Application>Microsoft Office PowerPoint</Application>
  <PresentationFormat>Custom</PresentationFormat>
  <Paragraphs>127</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Agenda</vt:lpstr>
      <vt:lpstr>Overview</vt:lpstr>
      <vt:lpstr>Quality Expectation</vt:lpstr>
      <vt:lpstr>Quality Expectation</vt:lpstr>
      <vt:lpstr>Quality Expectation</vt:lpstr>
      <vt:lpstr>Quality Problems in Large Software System</vt:lpstr>
      <vt:lpstr>Testing, Quality Assurance and Quality Engineering</vt:lpstr>
      <vt:lpstr>Testing, Quality Assurance and Quality Engineering</vt:lpstr>
      <vt:lpstr>Testing, Quality Assurance and Quality Engineering</vt:lpstr>
      <vt:lpstr>Questions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Naseer Jan</dc:creator>
  <cp:lastModifiedBy>janna</cp:lastModifiedBy>
  <cp:revision>149</cp:revision>
  <dcterms:created xsi:type="dcterms:W3CDTF">2020-03-22T07:59:51Z</dcterms:created>
  <dcterms:modified xsi:type="dcterms:W3CDTF">2025-09-20T12:01:10Z</dcterms:modified>
</cp:coreProperties>
</file>
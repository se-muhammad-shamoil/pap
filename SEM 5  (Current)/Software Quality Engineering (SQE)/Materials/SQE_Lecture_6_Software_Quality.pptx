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4.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5.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6.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7.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8.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9.xml" ContentType="application/vnd.openxmlformats-officedocument.presentationml.notesSlide+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10.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11.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notesSlides/notesSlide12.xml" ContentType="application/vnd.openxmlformats-officedocument.presentationml.notesSlide+xml"/>
  <Override PartName="/ppt/ink/ink37.xml" ContentType="application/inkml+xml"/>
  <Override PartName="/ppt/ink/ink38.xml" ContentType="application/inkml+xml"/>
  <Override PartName="/ppt/ink/ink39.xml" ContentType="application/inkml+xml"/>
  <Override PartName="/ppt/ink/ink40.xml" ContentType="application/inkml+xml"/>
  <Override PartName="/ppt/notesSlides/notesSlide13.xml" ContentType="application/vnd.openxmlformats-officedocument.presentationml.notesSlide+xml"/>
  <Override PartName="/ppt/ink/ink41.xml" ContentType="application/inkml+xml"/>
  <Override PartName="/ppt/ink/ink42.xml" ContentType="application/inkml+xml"/>
  <Override PartName="/ppt/ink/ink43.xml" ContentType="application/inkml+xml"/>
  <Override PartName="/ppt/ink/ink44.xml" ContentType="application/inkml+xml"/>
  <Override PartName="/ppt/notesSlides/notesSlide14.xml" ContentType="application/vnd.openxmlformats-officedocument.presentationml.notesSlide+xml"/>
  <Override PartName="/ppt/ink/ink45.xml" ContentType="application/inkml+xml"/>
  <Override PartName="/ppt/ink/ink46.xml" ContentType="application/inkml+xml"/>
  <Override PartName="/ppt/ink/ink47.xml" ContentType="application/inkml+xml"/>
  <Override PartName="/ppt/ink/ink48.xml" ContentType="application/inkml+xml"/>
  <Override PartName="/ppt/notesSlides/notesSlide15.xml" ContentType="application/vnd.openxmlformats-officedocument.presentationml.notesSlide+xml"/>
  <Override PartName="/ppt/ink/ink49.xml" ContentType="application/inkml+xml"/>
  <Override PartName="/ppt/ink/ink50.xml" ContentType="application/inkml+xml"/>
  <Override PartName="/ppt/ink/ink51.xml" ContentType="application/inkml+xml"/>
  <Override PartName="/ppt/ink/ink52.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47" r:id="rId2"/>
    <p:sldId id="257" r:id="rId3"/>
    <p:sldId id="344" r:id="rId4"/>
    <p:sldId id="399" r:id="rId5"/>
    <p:sldId id="400" r:id="rId6"/>
    <p:sldId id="401" r:id="rId7"/>
    <p:sldId id="402" r:id="rId8"/>
    <p:sldId id="403" r:id="rId9"/>
    <p:sldId id="404" r:id="rId10"/>
    <p:sldId id="405" r:id="rId11"/>
    <p:sldId id="398" r:id="rId12"/>
    <p:sldId id="396" r:id="rId13"/>
    <p:sldId id="397" r:id="rId14"/>
    <p:sldId id="406" r:id="rId15"/>
    <p:sldId id="407" r:id="rId16"/>
    <p:sldId id="314" r:id="rId17"/>
    <p:sldId id="31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p:scale>
          <a:sx n="87" d="100"/>
          <a:sy n="87" d="100"/>
        </p:scale>
        <p:origin x="-514"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Group>
    <inkml:annotationXML>
      <emma:emma xmlns:emma="http://www.w3.org/2003/04/emma" version="1.0">
        <emma:interpretation id="{715597FB-458F-4BBA-8D14-C94F987838E5}" emma:medium="tactile" emma:mode="ink">
          <msink:context xmlns:msink="http://schemas.microsoft.com/ink/2010/main" type="inkDrawing" rotatedBoundingBox="12611,6550 12626,6550 12626,6565 12611,6565" shapeName="Other"/>
        </emma:interpretation>
      </emma:emma>
    </inkml:annotationXML>
    <inkml:trace contextRef="#ctx0" brushRef="#br0">0 0 91,'0'0'0,"0"0"-9</inkml:trace>
  </inkml:traceGroup>
</inkml:ink>
</file>

<file path=ppt/ink/ink2.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Group>
    <inkml:annotationXML>
      <emma:emma xmlns:emma="http://www.w3.org/2003/04/emma" version="1.0">
        <emma:interpretation id="{629B0374-516D-44F2-A689-6553596A51DF}" emma:medium="tactile" emma:mode="ink">
          <msink:context xmlns:msink="http://schemas.microsoft.com/ink/2010/main" type="inkDrawing" rotatedBoundingBox="27818,9819 27833,9819 27833,9834 27818,9834" shapeName="Other"/>
        </emma:interpretation>
      </emma:emma>
    </inkml:annotationXML>
    <inkml:trace contextRef="#ctx0" brushRef="#br0">0 0</inkml:trace>
  </inkml:traceGroup>
</inkml:ink>
</file>

<file path=ppt/ink/ink3.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Group>
    <inkml:annotationXML>
      <emma:emma xmlns:emma="http://www.w3.org/2003/04/emma" version="1.0">
        <emma:interpretation id="{9CB93255-E0AB-4DC9-A20B-65541CE6A561}" emma:medium="tactile" emma:mode="ink">
          <msink:context xmlns:msink="http://schemas.microsoft.com/ink/2010/main" type="inkDrawing" rotatedBoundingBox="5411,8871 5426,8871 5426,8886 5411,8886" shapeName="Other"/>
        </emma:interpretation>
      </emma:emma>
    </inkml:annotationXML>
    <inkml:trace contextRef="#ctx0" brushRef="#br0">0 0 191,'0'0'0,"0"0"-84</inkml:trace>
  </inkml:traceGroup>
</inkml:ink>
</file>

<file path=ppt/ink/ink4.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Group>
    <inkml:annotationXML>
      <emma:emma xmlns:emma="http://www.w3.org/2003/04/emma" version="1.0">
        <emma:interpretation id="{5A30A086-5699-45AB-B652-B76CAA3B9017}" emma:medium="tactile" emma:mode="ink">
          <msink:context xmlns:msink="http://schemas.microsoft.com/ink/2010/main" type="inkDrawing" rotatedBoundingBox="8866,8734 8916,8685 8942,8712 8893,8761" shapeName="Other"/>
        </emma:interpretation>
      </emma:emma>
    </inkml:annotationXML>
    <inkml:trace contextRef="#ctx0" brushRef="#br0">54 37 1345,'0'-6'0,"-2"-5"-7,-3 0 0,3 4-7,0 5 1,0 2-51,-5 5 0,-4 5-48,0 8 1,-2 4-544</inkml:trace>
  </inkml:traceGroup>
</inkml:ink>
</file>

<file path=ppt/ink/ink5.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6.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7.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8.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9.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10.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11.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12.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13.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14.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15.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16.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17.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18.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19.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20.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21.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22.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23.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24.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25.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26.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27.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28.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29.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30.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31.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32.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33.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34.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35.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36.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37.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38.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39.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40.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41.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42.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43.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44.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45.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46.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47.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48.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ink/ink49.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2:19.261"/>
    </inkml:context>
    <inkml:brush xml:id="br0">
      <inkml:brushProperty name="width" value="0.11667" units="cm"/>
      <inkml:brushProperty name="height" value="0.11667" units="cm"/>
      <inkml:brushProperty name="fitToCurve" value="1"/>
    </inkml:brush>
  </inkml:definitions>
  <inkml:trace contextRef="#ctx0" brushRef="#br0">0 0 91,'0'0'0,"0"0"-9</inkml:trace>
</inkml:ink>
</file>

<file path=ppt/ink/ink50.xml><?xml version="1.0" encoding="utf-8"?>
<inkml:ink xmlns:inkml="http://www.w3.org/2003/InkML">
  <inkml:definitions>
    <inkml:context xml:id="ctx0">
      <inkml:inkSource xml:id="inkSrc0">
        <inkml:traceFormat>
          <inkml:channel name="X" type="integer" max="3840" units="cm"/>
          <inkml:channel name="Y" type="integer" max="2160" units="cm"/>
        </inkml:traceFormat>
        <inkml:channelProperties>
          <inkml:channelProperty channel="X" name="resolution" value="111.62791" units="1/cm"/>
          <inkml:channelProperty channel="Y" name="resolution" value="111.9171" units="1/cm"/>
        </inkml:channelProperties>
      </inkml:inkSource>
      <inkml:timestamp xml:id="ts0" timeString="2025-10-14T07:13:21.947"/>
    </inkml:context>
    <inkml:brush xml:id="br0">
      <inkml:brushProperty name="width" value="0.11667" units="cm"/>
      <inkml:brushProperty name="height" value="0.11667" units="cm"/>
      <inkml:brushProperty name="fitToCurve" value="1"/>
    </inkml:brush>
  </inkml:definitions>
  <inkml:trace contextRef="#ctx0" brushRef="#br0">0 0</inkml:trace>
</inkml:ink>
</file>

<file path=ppt/ink/ink51.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7.955"/>
    </inkml:context>
    <inkml:brush xml:id="br0">
      <inkml:brushProperty name="width" value="0.11667" units="cm"/>
      <inkml:brushProperty name="height" value="0.11667" units="cm"/>
      <inkml:brushProperty name="fitToCurve" value="1"/>
    </inkml:brush>
  </inkml:definitions>
  <inkml:trace contextRef="#ctx0" brushRef="#br0">0 0 191,'0'0'0,"0"0"-84</inkml:trace>
</inkml:ink>
</file>

<file path=ppt/ink/ink52.xml><?xml version="1.0" encoding="utf-8"?>
<inkml:ink xmlns:inkml="http://www.w3.org/2003/InkML">
  <inkml:definitions>
    <inkml:context xml:id="ctx0">
      <inkml:inkSource xml:id="inkSrc0">
        <inkml:traceFormat>
          <inkml:channel name="X" type="integer" max="21248" units="cm"/>
          <inkml:channel name="Y" type="integer" max="12032" units="cm"/>
          <inkml:channel name="F" type="integer" max="4096" units="dev"/>
        </inkml:traceFormat>
        <inkml:channelProperties>
          <inkml:channelProperty channel="X" name="resolution" value="617.67444" units="1/cm"/>
          <inkml:channelProperty channel="Y" name="resolution" value="620.20618" units="1/cm"/>
          <inkml:channelProperty channel="F" name="resolution" value="0" units="1/dev"/>
        </inkml:channelProperties>
      </inkml:inkSource>
      <inkml:timestamp xml:id="ts0" timeString="2025-10-14T07:14:29.033"/>
    </inkml:context>
    <inkml:brush xml:id="br0">
      <inkml:brushProperty name="width" value="0.11667" units="cm"/>
      <inkml:brushProperty name="height" value="0.11667" units="cm"/>
      <inkml:brushProperty name="fitToCurve" value="1"/>
    </inkml:brush>
  </inkml:definitions>
  <inkml:trace contextRef="#ctx0" brushRef="#br0">54 37 1345,'0'-6'0,"-2"-5"-7,-3 0 0,3 4-7,0 5 1,0 2-51,-5 5 0,-4 5-48,0 8 1,-2 4-544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9CFE28-41E2-4209-938D-807C0FF82EB7}"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88D36E-D79D-465A-9C56-D160365580BD}" type="slidenum">
              <a:rPr lang="en-US" smtClean="0"/>
              <a:t>‹#›</a:t>
            </a:fld>
            <a:endParaRPr lang="en-US"/>
          </a:p>
        </p:txBody>
      </p:sp>
    </p:spTree>
    <p:extLst>
      <p:ext uri="{BB962C8B-B14F-4D97-AF65-F5344CB8AC3E}">
        <p14:creationId xmlns:p14="http://schemas.microsoft.com/office/powerpoint/2010/main" val="1925329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748CE0-F9AD-4A5F-B9CB-BD53A74CFEFF}" type="slidenum">
              <a:rPr lang="en-US" smtClean="0"/>
              <a:t>1</a:t>
            </a:fld>
            <a:endParaRPr lang="en-US"/>
          </a:p>
        </p:txBody>
      </p:sp>
    </p:spTree>
    <p:extLst>
      <p:ext uri="{BB962C8B-B14F-4D97-AF65-F5344CB8AC3E}">
        <p14:creationId xmlns:p14="http://schemas.microsoft.com/office/powerpoint/2010/main" val="196107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2</a:t>
            </a:fld>
            <a:endParaRPr lang="en-US"/>
          </a:p>
        </p:txBody>
      </p:sp>
    </p:spTree>
    <p:extLst>
      <p:ext uri="{BB962C8B-B14F-4D97-AF65-F5344CB8AC3E}">
        <p14:creationId xmlns:p14="http://schemas.microsoft.com/office/powerpoint/2010/main" val="3934219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3</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4</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5</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6</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7</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8</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9</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10</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11</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12</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13</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14</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F88D36E-D79D-465A-9C56-D160365580BD}" type="slidenum">
              <a:rPr lang="en-US" smtClean="0"/>
              <a:t>15</a:t>
            </a:fld>
            <a:endParaRPr lang="en-US"/>
          </a:p>
        </p:txBody>
      </p:sp>
    </p:spTree>
    <p:extLst>
      <p:ext uri="{BB962C8B-B14F-4D97-AF65-F5344CB8AC3E}">
        <p14:creationId xmlns:p14="http://schemas.microsoft.com/office/powerpoint/2010/main" val="1457429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748CE0-F9AD-4A5F-B9CB-BD53A74CFEFF}" type="slidenum">
              <a:rPr lang="en-US" smtClean="0"/>
              <a:t>16</a:t>
            </a:fld>
            <a:endParaRPr lang="en-US"/>
          </a:p>
        </p:txBody>
      </p:sp>
    </p:spTree>
    <p:extLst>
      <p:ext uri="{BB962C8B-B14F-4D97-AF65-F5344CB8AC3E}">
        <p14:creationId xmlns:p14="http://schemas.microsoft.com/office/powerpoint/2010/main" val="763011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748CE0-F9AD-4A5F-B9CB-BD53A74CFEFF}" type="slidenum">
              <a:rPr lang="en-US" smtClean="0"/>
              <a:t>17</a:t>
            </a:fld>
            <a:endParaRPr lang="en-US"/>
          </a:p>
        </p:txBody>
      </p:sp>
    </p:spTree>
    <p:extLst>
      <p:ext uri="{BB962C8B-B14F-4D97-AF65-F5344CB8AC3E}">
        <p14:creationId xmlns:p14="http://schemas.microsoft.com/office/powerpoint/2010/main" val="763011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C287C0-8844-43D6-82FA-5FE2D327E9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5DDCD7B3-F73A-4EEE-B479-B39309817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2BC751E7-5BCB-4D81-B0E1-8D42813F5818}"/>
              </a:ext>
            </a:extLst>
          </p:cNvPr>
          <p:cNvSpPr>
            <a:spLocks noGrp="1"/>
          </p:cNvSpPr>
          <p:nvPr>
            <p:ph type="dt" sz="half" idx="10"/>
          </p:nvPr>
        </p:nvSpPr>
        <p:spPr/>
        <p:txBody>
          <a:bodyPr/>
          <a:lstStyle/>
          <a:p>
            <a:fld id="{05D7A58D-2A4C-420F-8BC1-095F1DF53924}" type="datetime1">
              <a:rPr lang="en-US" smtClean="0"/>
              <a:t>10/21/2025</a:t>
            </a:fld>
            <a:endParaRPr lang="en-US"/>
          </a:p>
        </p:txBody>
      </p:sp>
      <p:sp>
        <p:nvSpPr>
          <p:cNvPr id="5" name="Footer Placeholder 4">
            <a:extLst>
              <a:ext uri="{FF2B5EF4-FFF2-40B4-BE49-F238E27FC236}">
                <a16:creationId xmlns="" xmlns:a16="http://schemas.microsoft.com/office/drawing/2014/main" id="{B13670C0-8F2E-4627-907A-7B1C4C50573E}"/>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 xmlns:a16="http://schemas.microsoft.com/office/drawing/2014/main" id="{18703B08-9B62-4895-8119-C1B8C8070E8F}"/>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684025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8D6461-3C5A-4A64-AD16-4A09AB7D2B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F97D7896-8992-410F-B9F1-F6F85B60FE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58D9DEC-AF66-434C-9ABA-65F1BD85C19C}"/>
              </a:ext>
            </a:extLst>
          </p:cNvPr>
          <p:cNvSpPr>
            <a:spLocks noGrp="1"/>
          </p:cNvSpPr>
          <p:nvPr>
            <p:ph type="dt" sz="half" idx="10"/>
          </p:nvPr>
        </p:nvSpPr>
        <p:spPr/>
        <p:txBody>
          <a:bodyPr/>
          <a:lstStyle/>
          <a:p>
            <a:fld id="{AFC1D356-5C4B-47D7-AF8A-948F8C253765}" type="datetime1">
              <a:rPr lang="en-US" smtClean="0"/>
              <a:t>10/21/2025</a:t>
            </a:fld>
            <a:endParaRPr lang="en-US"/>
          </a:p>
        </p:txBody>
      </p:sp>
      <p:sp>
        <p:nvSpPr>
          <p:cNvPr id="5" name="Footer Placeholder 4">
            <a:extLst>
              <a:ext uri="{FF2B5EF4-FFF2-40B4-BE49-F238E27FC236}">
                <a16:creationId xmlns="" xmlns:a16="http://schemas.microsoft.com/office/drawing/2014/main" id="{C087DE44-F4BF-4B94-8909-23BB15CB56F5}"/>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 xmlns:a16="http://schemas.microsoft.com/office/drawing/2014/main" id="{23B5DB7B-2B5B-4B32-94CF-CD9D67E3818B}"/>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3339512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4250FB-E2DF-45BB-9971-62F98AE750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AB5C522B-00C3-4087-91EA-58DE5769C1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33985D9C-FD1E-4EC9-B299-2E9AAAD6D927}"/>
              </a:ext>
            </a:extLst>
          </p:cNvPr>
          <p:cNvSpPr>
            <a:spLocks noGrp="1"/>
          </p:cNvSpPr>
          <p:nvPr>
            <p:ph type="dt" sz="half" idx="10"/>
          </p:nvPr>
        </p:nvSpPr>
        <p:spPr/>
        <p:txBody>
          <a:bodyPr/>
          <a:lstStyle/>
          <a:p>
            <a:fld id="{B033F68B-B82B-4ADB-9F2A-088F90DF9C3B}" type="datetime1">
              <a:rPr lang="en-US" smtClean="0"/>
              <a:t>10/21/2025</a:t>
            </a:fld>
            <a:endParaRPr lang="en-US"/>
          </a:p>
        </p:txBody>
      </p:sp>
      <p:sp>
        <p:nvSpPr>
          <p:cNvPr id="5" name="Footer Placeholder 4">
            <a:extLst>
              <a:ext uri="{FF2B5EF4-FFF2-40B4-BE49-F238E27FC236}">
                <a16:creationId xmlns="" xmlns:a16="http://schemas.microsoft.com/office/drawing/2014/main" id="{04C2AE4B-43F5-47E6-8187-93FDDE09996A}"/>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 xmlns:a16="http://schemas.microsoft.com/office/drawing/2014/main" id="{D70899C0-F28E-4F92-90E3-D2482F7BB88F}"/>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824403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BFCD8B-95C8-40E5-8A0C-E5BA3692EF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0119C88D-776A-40A6-8DA4-EE7B7FCCF4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07F16495-6722-41DC-845D-AD80D504BF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100C20AE-1AB9-4E6C-AEDD-859A3F7049F8}"/>
              </a:ext>
            </a:extLst>
          </p:cNvPr>
          <p:cNvSpPr>
            <a:spLocks noGrp="1"/>
          </p:cNvSpPr>
          <p:nvPr>
            <p:ph type="dt" sz="half" idx="10"/>
          </p:nvPr>
        </p:nvSpPr>
        <p:spPr/>
        <p:txBody>
          <a:bodyPr/>
          <a:lstStyle/>
          <a:p>
            <a:fld id="{9CAD9E54-BFF9-48E9-84F8-06ADFAEF8585}" type="datetime1">
              <a:rPr lang="en-US" smtClean="0"/>
              <a:t>10/21/2025</a:t>
            </a:fld>
            <a:endParaRPr lang="en-US"/>
          </a:p>
        </p:txBody>
      </p:sp>
      <p:sp>
        <p:nvSpPr>
          <p:cNvPr id="6" name="Footer Placeholder 5">
            <a:extLst>
              <a:ext uri="{FF2B5EF4-FFF2-40B4-BE49-F238E27FC236}">
                <a16:creationId xmlns="" xmlns:a16="http://schemas.microsoft.com/office/drawing/2014/main" id="{24350383-FECF-474D-B875-9A1274F3A35E}"/>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7" name="Slide Number Placeholder 6">
            <a:extLst>
              <a:ext uri="{FF2B5EF4-FFF2-40B4-BE49-F238E27FC236}">
                <a16:creationId xmlns="" xmlns:a16="http://schemas.microsoft.com/office/drawing/2014/main" id="{48E9C92E-F51B-4659-84B8-33A3A05DFAA1}"/>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1534930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50FE0F-DFF0-40B5-8928-0A2C15C2A6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A3A52696-C7D9-4A2B-A46F-5D70D8B433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E9E35E27-1AC2-4532-BB07-8DEB57BCEC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3E149BD8-49B5-4FD0-B1DF-D5C8685D3B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71FB2FA5-EF45-4C49-AACF-45D17CFFCE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741FF247-0E79-4344-B279-E302CC3B2731}"/>
              </a:ext>
            </a:extLst>
          </p:cNvPr>
          <p:cNvSpPr>
            <a:spLocks noGrp="1"/>
          </p:cNvSpPr>
          <p:nvPr>
            <p:ph type="dt" sz="half" idx="10"/>
          </p:nvPr>
        </p:nvSpPr>
        <p:spPr/>
        <p:txBody>
          <a:bodyPr/>
          <a:lstStyle/>
          <a:p>
            <a:fld id="{1DCB253F-0CCF-40ED-948B-68FF5AEBEFDA}" type="datetime1">
              <a:rPr lang="en-US" smtClean="0"/>
              <a:t>10/21/2025</a:t>
            </a:fld>
            <a:endParaRPr lang="en-US"/>
          </a:p>
        </p:txBody>
      </p:sp>
      <p:sp>
        <p:nvSpPr>
          <p:cNvPr id="8" name="Footer Placeholder 7">
            <a:extLst>
              <a:ext uri="{FF2B5EF4-FFF2-40B4-BE49-F238E27FC236}">
                <a16:creationId xmlns="" xmlns:a16="http://schemas.microsoft.com/office/drawing/2014/main" id="{5D63F0FB-C346-40DB-8012-ECB085149024}"/>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9" name="Slide Number Placeholder 8">
            <a:extLst>
              <a:ext uri="{FF2B5EF4-FFF2-40B4-BE49-F238E27FC236}">
                <a16:creationId xmlns="" xmlns:a16="http://schemas.microsoft.com/office/drawing/2014/main" id="{D0353C08-DB58-4315-8868-50208379EFD3}"/>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210267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559B29-3617-474A-9DEB-832003300E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08447382-4B94-443B-835E-01A41378ACEE}"/>
              </a:ext>
            </a:extLst>
          </p:cNvPr>
          <p:cNvSpPr>
            <a:spLocks noGrp="1"/>
          </p:cNvSpPr>
          <p:nvPr>
            <p:ph type="dt" sz="half" idx="10"/>
          </p:nvPr>
        </p:nvSpPr>
        <p:spPr/>
        <p:txBody>
          <a:bodyPr/>
          <a:lstStyle/>
          <a:p>
            <a:fld id="{D842551E-4977-4708-9D03-7BA1468D7DBB}" type="datetime1">
              <a:rPr lang="en-US" smtClean="0"/>
              <a:t>10/21/2025</a:t>
            </a:fld>
            <a:endParaRPr lang="en-US"/>
          </a:p>
        </p:txBody>
      </p:sp>
      <p:sp>
        <p:nvSpPr>
          <p:cNvPr id="4" name="Footer Placeholder 3">
            <a:extLst>
              <a:ext uri="{FF2B5EF4-FFF2-40B4-BE49-F238E27FC236}">
                <a16:creationId xmlns="" xmlns:a16="http://schemas.microsoft.com/office/drawing/2014/main" id="{721D8742-0860-4CBA-9471-6AA6D452827D}"/>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5" name="Slide Number Placeholder 4">
            <a:extLst>
              <a:ext uri="{FF2B5EF4-FFF2-40B4-BE49-F238E27FC236}">
                <a16:creationId xmlns="" xmlns:a16="http://schemas.microsoft.com/office/drawing/2014/main" id="{C99B9260-06B7-4F3E-AC0F-2974FDF6A0E5}"/>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766562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665CFCE-E032-46A1-AD47-A3A2324EA6F8}"/>
              </a:ext>
            </a:extLst>
          </p:cNvPr>
          <p:cNvSpPr>
            <a:spLocks noGrp="1"/>
          </p:cNvSpPr>
          <p:nvPr>
            <p:ph type="dt" sz="half" idx="10"/>
          </p:nvPr>
        </p:nvSpPr>
        <p:spPr/>
        <p:txBody>
          <a:bodyPr/>
          <a:lstStyle/>
          <a:p>
            <a:fld id="{DC3FD97C-BC33-41C0-BF1F-A2B9C695E72E}" type="datetime1">
              <a:rPr lang="en-US" smtClean="0"/>
              <a:t>10/21/2025</a:t>
            </a:fld>
            <a:endParaRPr lang="en-US"/>
          </a:p>
        </p:txBody>
      </p:sp>
      <p:sp>
        <p:nvSpPr>
          <p:cNvPr id="3" name="Footer Placeholder 2">
            <a:extLst>
              <a:ext uri="{FF2B5EF4-FFF2-40B4-BE49-F238E27FC236}">
                <a16:creationId xmlns="" xmlns:a16="http://schemas.microsoft.com/office/drawing/2014/main" id="{1DD5BDAE-E628-495B-83A2-096A3CE9D353}"/>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4" name="Slide Number Placeholder 3">
            <a:extLst>
              <a:ext uri="{FF2B5EF4-FFF2-40B4-BE49-F238E27FC236}">
                <a16:creationId xmlns="" xmlns:a16="http://schemas.microsoft.com/office/drawing/2014/main" id="{F028C6CF-8532-4D4B-8BCC-D58E3EC12D64}"/>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267069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EE2F1B-4E3B-4DDD-A5F0-35DE06C5D8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E2444EE9-10A2-4B62-A38A-A187A64DAC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A766DB3A-B449-48EB-8A7D-7A7F719640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52FC067-2261-4BF0-A481-3CC4E004FF1C}"/>
              </a:ext>
            </a:extLst>
          </p:cNvPr>
          <p:cNvSpPr>
            <a:spLocks noGrp="1"/>
          </p:cNvSpPr>
          <p:nvPr>
            <p:ph type="dt" sz="half" idx="10"/>
          </p:nvPr>
        </p:nvSpPr>
        <p:spPr/>
        <p:txBody>
          <a:bodyPr/>
          <a:lstStyle/>
          <a:p>
            <a:fld id="{A3CE5555-17A4-432B-AD8A-D1F62A2F7BCA}" type="datetime1">
              <a:rPr lang="en-US" smtClean="0"/>
              <a:t>10/21/2025</a:t>
            </a:fld>
            <a:endParaRPr lang="en-US"/>
          </a:p>
        </p:txBody>
      </p:sp>
      <p:sp>
        <p:nvSpPr>
          <p:cNvPr id="6" name="Footer Placeholder 5">
            <a:extLst>
              <a:ext uri="{FF2B5EF4-FFF2-40B4-BE49-F238E27FC236}">
                <a16:creationId xmlns="" xmlns:a16="http://schemas.microsoft.com/office/drawing/2014/main" id="{023E7505-D7EF-4418-8958-BE17547490E6}"/>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7" name="Slide Number Placeholder 6">
            <a:extLst>
              <a:ext uri="{FF2B5EF4-FFF2-40B4-BE49-F238E27FC236}">
                <a16:creationId xmlns="" xmlns:a16="http://schemas.microsoft.com/office/drawing/2014/main" id="{CB6AB268-B25E-4476-881C-FBEFA1B8A132}"/>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220452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CC24AC-E495-440B-A1BC-C653102215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B9BF307B-DF1B-4661-91DA-240D0D07C8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C0AC7264-4258-4594-A543-631EDE7935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6B0AF07-3D3E-4EFB-AB7E-150B50AC0A24}"/>
              </a:ext>
            </a:extLst>
          </p:cNvPr>
          <p:cNvSpPr>
            <a:spLocks noGrp="1"/>
          </p:cNvSpPr>
          <p:nvPr>
            <p:ph type="dt" sz="half" idx="10"/>
          </p:nvPr>
        </p:nvSpPr>
        <p:spPr/>
        <p:txBody>
          <a:bodyPr/>
          <a:lstStyle/>
          <a:p>
            <a:fld id="{F5A8ADAD-9086-42EC-8A7F-C779F381BCC1}" type="datetime1">
              <a:rPr lang="en-US" smtClean="0"/>
              <a:t>10/21/2025</a:t>
            </a:fld>
            <a:endParaRPr lang="en-US"/>
          </a:p>
        </p:txBody>
      </p:sp>
      <p:sp>
        <p:nvSpPr>
          <p:cNvPr id="6" name="Footer Placeholder 5">
            <a:extLst>
              <a:ext uri="{FF2B5EF4-FFF2-40B4-BE49-F238E27FC236}">
                <a16:creationId xmlns="" xmlns:a16="http://schemas.microsoft.com/office/drawing/2014/main" id="{6A919445-EA65-4FEA-BF60-147F1C9101C7}"/>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7" name="Slide Number Placeholder 6">
            <a:extLst>
              <a:ext uri="{FF2B5EF4-FFF2-40B4-BE49-F238E27FC236}">
                <a16:creationId xmlns="" xmlns:a16="http://schemas.microsoft.com/office/drawing/2014/main" id="{5A26CF07-F013-4B00-A958-862A0D082E06}"/>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938501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FF7858-C58D-45A1-A065-DB629816E5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0C00046F-3250-4186-B430-522DAA45CA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76509E1-84D6-42BF-8501-1DD8743CB4DB}"/>
              </a:ext>
            </a:extLst>
          </p:cNvPr>
          <p:cNvSpPr>
            <a:spLocks noGrp="1"/>
          </p:cNvSpPr>
          <p:nvPr>
            <p:ph type="dt" sz="half" idx="10"/>
          </p:nvPr>
        </p:nvSpPr>
        <p:spPr/>
        <p:txBody>
          <a:bodyPr/>
          <a:lstStyle/>
          <a:p>
            <a:fld id="{6D9B923F-29BC-4418-81B4-EBA12F20B1F4}" type="datetime1">
              <a:rPr lang="en-US" smtClean="0"/>
              <a:t>10/21/2025</a:t>
            </a:fld>
            <a:endParaRPr lang="en-US"/>
          </a:p>
        </p:txBody>
      </p:sp>
      <p:sp>
        <p:nvSpPr>
          <p:cNvPr id="5" name="Footer Placeholder 4">
            <a:extLst>
              <a:ext uri="{FF2B5EF4-FFF2-40B4-BE49-F238E27FC236}">
                <a16:creationId xmlns="" xmlns:a16="http://schemas.microsoft.com/office/drawing/2014/main" id="{B099738A-BE22-41A3-888C-CD8BE734F475}"/>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 xmlns:a16="http://schemas.microsoft.com/office/drawing/2014/main" id="{5D521171-6904-4532-AFE0-1DA35A5A0B50}"/>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823934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B87F2E51-2AD6-43D4-9D9E-2D188D2C7C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9ACF6006-BE93-4D4C-AD50-2B2800AA4E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5553C4C5-15E0-40B0-A83B-68416691C0F0}"/>
              </a:ext>
            </a:extLst>
          </p:cNvPr>
          <p:cNvSpPr>
            <a:spLocks noGrp="1"/>
          </p:cNvSpPr>
          <p:nvPr>
            <p:ph type="dt" sz="half" idx="10"/>
          </p:nvPr>
        </p:nvSpPr>
        <p:spPr/>
        <p:txBody>
          <a:bodyPr/>
          <a:lstStyle/>
          <a:p>
            <a:fld id="{2062E815-029E-4494-A115-22800C80F744}" type="datetime1">
              <a:rPr lang="en-US" smtClean="0"/>
              <a:t>10/21/2025</a:t>
            </a:fld>
            <a:endParaRPr lang="en-US"/>
          </a:p>
        </p:txBody>
      </p:sp>
      <p:sp>
        <p:nvSpPr>
          <p:cNvPr id="5" name="Footer Placeholder 4">
            <a:extLst>
              <a:ext uri="{FF2B5EF4-FFF2-40B4-BE49-F238E27FC236}">
                <a16:creationId xmlns="" xmlns:a16="http://schemas.microsoft.com/office/drawing/2014/main" id="{2131AF6C-8BCB-4871-A9C2-6D1AE8934EBE}"/>
              </a:ext>
            </a:extLst>
          </p:cNvPr>
          <p:cNvSpPr>
            <a:spLocks noGrp="1"/>
          </p:cNvSpPr>
          <p:nvPr>
            <p:ph type="ftr" sz="quarter" idx="11"/>
          </p:nvPr>
        </p:nvSpPr>
        <p:spPr/>
        <p:txBody>
          <a:body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 xmlns:a16="http://schemas.microsoft.com/office/drawing/2014/main" id="{B40C3E36-63C5-4CAF-A420-9D0C9A8B0C88}"/>
              </a:ext>
            </a:extLst>
          </p:cNvPr>
          <p:cNvSpPr>
            <a:spLocks noGrp="1"/>
          </p:cNvSpPr>
          <p:nvPr>
            <p:ph type="sldNum" sz="quarter" idx="12"/>
          </p:nvPr>
        </p:nvSpPr>
        <p:spPr/>
        <p:txBody>
          <a:bodyPr/>
          <a:lstStyle/>
          <a:p>
            <a:fld id="{9BB8EDE5-9AB5-4B4D-985A-2C24811CE893}" type="slidenum">
              <a:rPr lang="en-US" smtClean="0"/>
              <a:t>‹#›</a:t>
            </a:fld>
            <a:endParaRPr lang="en-US"/>
          </a:p>
        </p:txBody>
      </p:sp>
    </p:spTree>
    <p:extLst>
      <p:ext uri="{BB962C8B-B14F-4D97-AF65-F5344CB8AC3E}">
        <p14:creationId xmlns:p14="http://schemas.microsoft.com/office/powerpoint/2010/main" val="3947216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4A36D8B5-5433-4104-A2D4-D096895EC9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4FB8C331-67B5-42F2-95F1-6DC3B3BC62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147EBE2-792B-4BE5-9EE5-4587A7A7A9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5EEF0A-2703-4387-BF00-01487F7C0C78}" type="datetime1">
              <a:rPr lang="en-US" smtClean="0"/>
              <a:t>10/21/2025</a:t>
            </a:fld>
            <a:endParaRPr lang="en-US"/>
          </a:p>
        </p:txBody>
      </p:sp>
      <p:sp>
        <p:nvSpPr>
          <p:cNvPr id="5" name="Footer Placeholder 4">
            <a:extLst>
              <a:ext uri="{FF2B5EF4-FFF2-40B4-BE49-F238E27FC236}">
                <a16:creationId xmlns="" xmlns:a16="http://schemas.microsoft.com/office/drawing/2014/main" id="{52CAA961-1653-40F5-A49E-F92867866C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 Department of Software Engineering, Capital University of Science &amp; Technology Islamabad, Pakistan </a:t>
            </a:r>
            <a:endParaRPr lang="en-US"/>
          </a:p>
        </p:txBody>
      </p:sp>
      <p:sp>
        <p:nvSpPr>
          <p:cNvPr id="6" name="Slide Number Placeholder 5">
            <a:extLst>
              <a:ext uri="{FF2B5EF4-FFF2-40B4-BE49-F238E27FC236}">
                <a16:creationId xmlns="" xmlns:a16="http://schemas.microsoft.com/office/drawing/2014/main" id="{24F91C4E-8687-4234-B530-3B86663C16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B8EDE5-9AB5-4B4D-985A-2C24811CE893}" type="slidenum">
              <a:rPr lang="en-US" smtClean="0"/>
              <a:t>‹#›</a:t>
            </a:fld>
            <a:endParaRPr lang="en-US"/>
          </a:p>
        </p:txBody>
      </p:sp>
    </p:spTree>
    <p:extLst>
      <p:ext uri="{BB962C8B-B14F-4D97-AF65-F5344CB8AC3E}">
        <p14:creationId xmlns:p14="http://schemas.microsoft.com/office/powerpoint/2010/main" val="1483743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8.xml"/><Relationship Id="rId4" Type="http://schemas.openxmlformats.org/officeDocument/2006/relationships/customXml" Target="../ink/ink5.xml"/><Relationship Id="rId9" Type="http://schemas.openxmlformats.org/officeDocument/2006/relationships/image" Target="../media/image4.emf"/></Relationships>
</file>

<file path=ppt/slides/_rels/slide5.xml.rels><?xml version="1.0" encoding="UTF-8" standalone="yes"?>
<Relationships xmlns="http://schemas.openxmlformats.org/package/2006/relationships"><Relationship Id="rId8" Type="http://schemas.openxmlformats.org/officeDocument/2006/relationships/customXml" Target="../ink/ink11.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ustomXml" Target="../ink/ink10.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12.xml"/><Relationship Id="rId4" Type="http://schemas.openxmlformats.org/officeDocument/2006/relationships/customXml" Target="../ink/ink9.xml"/><Relationship Id="rId9" Type="http://schemas.openxmlformats.org/officeDocument/2006/relationships/image" Target="../media/image4.emf"/></Relationships>
</file>

<file path=ppt/slides/_rels/slide6.xml.rels><?xml version="1.0" encoding="UTF-8" standalone="yes"?>
<Relationships xmlns="http://schemas.openxmlformats.org/package/2006/relationships"><Relationship Id="rId8" Type="http://schemas.openxmlformats.org/officeDocument/2006/relationships/customXml" Target="../ink/ink15.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ustomXml" Target="../ink/ink14.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16.xml"/><Relationship Id="rId4" Type="http://schemas.openxmlformats.org/officeDocument/2006/relationships/customXml" Target="../ink/ink13.xml"/><Relationship Id="rId9" Type="http://schemas.openxmlformats.org/officeDocument/2006/relationships/image" Target="../media/image4.emf"/></Relationships>
</file>

<file path=ppt/slides/_rels/slide7.xml.rels><?xml version="1.0" encoding="UTF-8" standalone="yes"?>
<Relationships xmlns="http://schemas.openxmlformats.org/package/2006/relationships"><Relationship Id="rId8" Type="http://schemas.openxmlformats.org/officeDocument/2006/relationships/customXml" Target="../ink/ink19.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ustomXml" Target="../ink/ink18.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20.xml"/><Relationship Id="rId4" Type="http://schemas.openxmlformats.org/officeDocument/2006/relationships/customXml" Target="../ink/ink17.xml"/><Relationship Id="rId9" Type="http://schemas.openxmlformats.org/officeDocument/2006/relationships/image" Target="../media/image4.emf"/></Relationships>
</file>

<file path=ppt/slides/_rels/slide8.xml.rels><?xml version="1.0" encoding="UTF-8" standalone="yes"?>
<Relationships xmlns="http://schemas.openxmlformats.org/package/2006/relationships"><Relationship Id="rId8" Type="http://schemas.openxmlformats.org/officeDocument/2006/relationships/customXml" Target="../ink/ink23.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customXml" Target="../ink/ink22.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24.xml"/><Relationship Id="rId4" Type="http://schemas.openxmlformats.org/officeDocument/2006/relationships/customXml" Target="../ink/ink21.xml"/><Relationship Id="rId9" Type="http://schemas.openxmlformats.org/officeDocument/2006/relationships/image" Target="../media/image4.emf"/></Relationships>
</file>

<file path=ppt/slides/_rels/slide9.xml.rels><?xml version="1.0" encoding="UTF-8" standalone="yes"?>
<Relationships xmlns="http://schemas.openxmlformats.org/package/2006/relationships"><Relationship Id="rId8" Type="http://schemas.openxmlformats.org/officeDocument/2006/relationships/customXml" Target="../ink/ink27.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26.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28.xml"/><Relationship Id="rId4" Type="http://schemas.openxmlformats.org/officeDocument/2006/relationships/customXml" Target="../ink/ink25.xml"/><Relationship Id="rId9" Type="http://schemas.openxmlformats.org/officeDocument/2006/relationships/image" Target="../media/image4.emf"/></Relationships>
</file>

<file path=ppt/slides/_rels/slide10.xml.rels><?xml version="1.0" encoding="UTF-8" standalone="yes"?>
<Relationships xmlns="http://schemas.openxmlformats.org/package/2006/relationships"><Relationship Id="rId8" Type="http://schemas.openxmlformats.org/officeDocument/2006/relationships/customXml" Target="../ink/ink31.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ustomXml" Target="../ink/ink30.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32.xml"/><Relationship Id="rId4" Type="http://schemas.openxmlformats.org/officeDocument/2006/relationships/customXml" Target="../ink/ink29.xml"/><Relationship Id="rId9" Type="http://schemas.openxmlformats.org/officeDocument/2006/relationships/image" Target="../media/image4.emf"/></Relationships>
</file>

<file path=ppt/slides/_rels/slide11.xml.rels><?xml version="1.0" encoding="UTF-8" standalone="yes"?>
<Relationships xmlns="http://schemas.openxmlformats.org/package/2006/relationships"><Relationship Id="rId8" Type="http://schemas.openxmlformats.org/officeDocument/2006/relationships/customXml" Target="../ink/ink35.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customXml" Target="../ink/ink34.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36.xml"/><Relationship Id="rId4" Type="http://schemas.openxmlformats.org/officeDocument/2006/relationships/customXml" Target="../ink/ink33.xml"/><Relationship Id="rId9" Type="http://schemas.openxmlformats.org/officeDocument/2006/relationships/image" Target="../media/image4.emf"/></Relationships>
</file>

<file path=ppt/slides/_rels/slide12.xml.rels><?xml version="1.0" encoding="UTF-8" standalone="yes"?>
<Relationships xmlns="http://schemas.openxmlformats.org/package/2006/relationships"><Relationship Id="rId8" Type="http://schemas.openxmlformats.org/officeDocument/2006/relationships/customXml" Target="../ink/ink39.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ustomXml" Target="../ink/ink38.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40.xml"/><Relationship Id="rId4" Type="http://schemas.openxmlformats.org/officeDocument/2006/relationships/customXml" Target="../ink/ink37.xml"/><Relationship Id="rId9" Type="http://schemas.openxmlformats.org/officeDocument/2006/relationships/image" Target="../media/image4.emf"/></Relationships>
</file>

<file path=ppt/slides/_rels/slide13.xml.rels><?xml version="1.0" encoding="UTF-8" standalone="yes"?>
<Relationships xmlns="http://schemas.openxmlformats.org/package/2006/relationships"><Relationship Id="rId8" Type="http://schemas.openxmlformats.org/officeDocument/2006/relationships/customXml" Target="../ink/ink43.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ustomXml" Target="../ink/ink42.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44.xml"/><Relationship Id="rId4" Type="http://schemas.openxmlformats.org/officeDocument/2006/relationships/customXml" Target="../ink/ink41.xml"/><Relationship Id="rId9" Type="http://schemas.openxmlformats.org/officeDocument/2006/relationships/image" Target="../media/image4.emf"/></Relationships>
</file>

<file path=ppt/slides/_rels/slide14.xml.rels><?xml version="1.0" encoding="UTF-8" standalone="yes"?>
<Relationships xmlns="http://schemas.openxmlformats.org/package/2006/relationships"><Relationship Id="rId8" Type="http://schemas.openxmlformats.org/officeDocument/2006/relationships/customXml" Target="../ink/ink47.xml"/><Relationship Id="rId3" Type="http://schemas.openxmlformats.org/officeDocument/2006/relationships/image" Target="../media/image1.png"/><Relationship Id="rId7" Type="http://schemas.openxmlformats.org/officeDocument/2006/relationships/image" Target="../media/image3.emf"/><Relationship Id="rId12"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customXml" Target="../ink/ink46.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48.xml"/><Relationship Id="rId4" Type="http://schemas.openxmlformats.org/officeDocument/2006/relationships/customXml" Target="../ink/ink45.xml"/><Relationship Id="rId9" Type="http://schemas.openxmlformats.org/officeDocument/2006/relationships/image" Target="../media/image4.emf"/></Relationships>
</file>

<file path=ppt/slides/_rels/slide15.xml.rels><?xml version="1.0" encoding="UTF-8" standalone="yes"?>
<Relationships xmlns="http://schemas.openxmlformats.org/package/2006/relationships"><Relationship Id="rId8" Type="http://schemas.openxmlformats.org/officeDocument/2006/relationships/customXml" Target="../ink/ink51.xml"/><Relationship Id="rId3" Type="http://schemas.openxmlformats.org/officeDocument/2006/relationships/image" Target="../media/image1.png"/><Relationship Id="rId7" Type="http://schemas.openxmlformats.org/officeDocument/2006/relationships/image" Target="../media/image3.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customXml" Target="../ink/ink50.xml"/><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customXml" Target="../ink/ink52.xml"/><Relationship Id="rId4" Type="http://schemas.openxmlformats.org/officeDocument/2006/relationships/customXml" Target="../ink/ink49.xml"/><Relationship Id="rId9"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FA624D-D77F-4746-AB43-5C687792E0E9}"/>
              </a:ext>
            </a:extLst>
          </p:cNvPr>
          <p:cNvSpPr>
            <a:spLocks noGrp="1"/>
          </p:cNvSpPr>
          <p:nvPr>
            <p:ph type="ctrTitle"/>
          </p:nvPr>
        </p:nvSpPr>
        <p:spPr/>
        <p:txBody>
          <a:bodyPr/>
          <a:lstStyle/>
          <a:p>
            <a:endParaRPr lang="en-US"/>
          </a:p>
        </p:txBody>
      </p:sp>
      <p:sp>
        <p:nvSpPr>
          <p:cNvPr id="4" name="Text Box 5">
            <a:extLst>
              <a:ext uri="{FF2B5EF4-FFF2-40B4-BE49-F238E27FC236}">
                <a16:creationId xmlns="" xmlns:a16="http://schemas.microsoft.com/office/drawing/2014/main" id="{2D9AF63B-2427-4F39-93B8-2F8191EBDCE6}"/>
              </a:ext>
            </a:extLst>
          </p:cNvPr>
          <p:cNvSpPr txBox="1">
            <a:spLocks noChangeArrowheads="1"/>
          </p:cNvSpPr>
          <p:nvPr/>
        </p:nvSpPr>
        <p:spPr bwMode="auto">
          <a:xfrm>
            <a:off x="1577498" y="1492250"/>
            <a:ext cx="8640960" cy="222478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algn="ctr"/>
            <a:r>
              <a:rPr lang="en-US" sz="3200" b="1" cap="all" dirty="0" smtClean="0"/>
              <a:t>SOFTWARE QUALITY ENGINEERING</a:t>
            </a:r>
          </a:p>
          <a:p>
            <a:pPr algn="ctr"/>
            <a:r>
              <a:rPr lang="en-US" sz="2400" b="1" dirty="0" smtClean="0">
                <a:latin typeface="+mj-lt"/>
                <a:cs typeface="Times New Roman" pitchFamily="18" charset="0"/>
              </a:rPr>
              <a:t>BS </a:t>
            </a:r>
            <a:r>
              <a:rPr lang="en-US" sz="2400" b="1" dirty="0">
                <a:latin typeface="+mj-lt"/>
                <a:cs typeface="Times New Roman" pitchFamily="18" charset="0"/>
              </a:rPr>
              <a:t>Software </a:t>
            </a:r>
            <a:r>
              <a:rPr lang="en-US" sz="2400" b="1" dirty="0" smtClean="0">
                <a:latin typeface="+mj-lt"/>
                <a:cs typeface="Times New Roman" pitchFamily="18" charset="0"/>
              </a:rPr>
              <a:t>Engineering </a:t>
            </a:r>
            <a:endParaRPr lang="en-US" sz="2400" b="1" dirty="0">
              <a:latin typeface="+mj-lt"/>
              <a:cs typeface="Times New Roman" pitchFamily="18" charset="0"/>
            </a:endParaRPr>
          </a:p>
          <a:p>
            <a:pPr algn="ctr"/>
            <a:r>
              <a:rPr lang="en-US" sz="2400" b="1" dirty="0" smtClean="0">
                <a:latin typeface="+mj-lt"/>
                <a:cs typeface="Times New Roman" pitchFamily="18" charset="0"/>
              </a:rPr>
              <a:t>Semester</a:t>
            </a:r>
            <a:r>
              <a:rPr lang="en-US" sz="2400" b="1" dirty="0">
                <a:latin typeface="+mj-lt"/>
                <a:cs typeface="Times New Roman" pitchFamily="18" charset="0"/>
              </a:rPr>
              <a:t>, </a:t>
            </a:r>
            <a:r>
              <a:rPr lang="en-US" sz="2400" b="1" dirty="0" smtClean="0">
                <a:latin typeface="+mj-lt"/>
                <a:cs typeface="Times New Roman" pitchFamily="18" charset="0"/>
              </a:rPr>
              <a:t>Fall 2025</a:t>
            </a:r>
            <a:endParaRPr lang="en-US" sz="2400" b="1" dirty="0">
              <a:latin typeface="+mj-lt"/>
              <a:cs typeface="Times New Roman" pitchFamily="18" charset="0"/>
            </a:endParaRPr>
          </a:p>
          <a:p>
            <a:pPr algn="ctr"/>
            <a:r>
              <a:rPr lang="en-US" sz="2400" b="1" dirty="0">
                <a:latin typeface="+mj-lt"/>
                <a:cs typeface="Times New Roman" pitchFamily="18" charset="0"/>
              </a:rPr>
              <a:t>Credit Hours </a:t>
            </a:r>
            <a:r>
              <a:rPr lang="en-US" sz="2400" b="1" dirty="0" smtClean="0">
                <a:latin typeface="+mj-lt"/>
                <a:cs typeface="Times New Roman" pitchFamily="18" charset="0"/>
              </a:rPr>
              <a:t>2-1</a:t>
            </a:r>
            <a:endParaRPr lang="en-US" sz="2400" b="1" dirty="0">
              <a:latin typeface="+mj-lt"/>
              <a:cs typeface="Times New Roman" pitchFamily="18" charset="0"/>
            </a:endParaRPr>
          </a:p>
        </p:txBody>
      </p:sp>
      <p:sp>
        <p:nvSpPr>
          <p:cNvPr id="5" name="Subtitle 4">
            <a:extLst>
              <a:ext uri="{FF2B5EF4-FFF2-40B4-BE49-F238E27FC236}">
                <a16:creationId xmlns="" xmlns:a16="http://schemas.microsoft.com/office/drawing/2014/main" id="{078E15FD-69F7-4AA8-8766-4760730F0715}"/>
              </a:ext>
            </a:extLst>
          </p:cNvPr>
          <p:cNvSpPr txBox="1">
            <a:spLocks noGrp="1"/>
          </p:cNvSpPr>
          <p:nvPr>
            <p:ph type="subTitle" idx="1"/>
          </p:nvPr>
        </p:nvSpPr>
        <p:spPr>
          <a:xfrm>
            <a:off x="1524000" y="3602038"/>
            <a:ext cx="9144000" cy="2838726"/>
          </a:xfrm>
          <a:prstGeom prst="rect">
            <a:avLst/>
          </a:prstGeom>
          <a:noFill/>
        </p:spPr>
        <p:txBody>
          <a:bodyPr wrap="square" rtlCol="0">
            <a:spAutoFit/>
          </a:bodyPr>
          <a:lstStyle/>
          <a:p>
            <a:pPr algn="ctr"/>
            <a:endParaRPr lang="en-US" sz="3200" dirty="0">
              <a:latin typeface="Times New Roman" pitchFamily="18" charset="0"/>
              <a:cs typeface="Times New Roman" pitchFamily="18" charset="0"/>
            </a:endParaRPr>
          </a:p>
          <a:p>
            <a:pPr algn="ctr"/>
            <a:r>
              <a:rPr lang="en-US" sz="2400" dirty="0">
                <a:latin typeface="+mj-lt"/>
                <a:cs typeface="Times New Roman" pitchFamily="18" charset="0"/>
              </a:rPr>
              <a:t>Instructor: </a:t>
            </a:r>
            <a:r>
              <a:rPr lang="en-US" sz="2400" dirty="0" err="1" smtClean="0">
                <a:latin typeface="+mj-lt"/>
                <a:cs typeface="Times New Roman" pitchFamily="18" charset="0"/>
              </a:rPr>
              <a:t>Naseer</a:t>
            </a:r>
            <a:r>
              <a:rPr lang="en-US" sz="2400" dirty="0" smtClean="0">
                <a:latin typeface="+mj-lt"/>
                <a:cs typeface="Times New Roman" pitchFamily="18" charset="0"/>
              </a:rPr>
              <a:t> </a:t>
            </a:r>
            <a:r>
              <a:rPr lang="en-US" sz="2400" dirty="0">
                <a:latin typeface="+mj-lt"/>
                <a:cs typeface="Times New Roman" pitchFamily="18" charset="0"/>
              </a:rPr>
              <a:t>Jan</a:t>
            </a:r>
          </a:p>
          <a:p>
            <a:pPr algn="ctr"/>
            <a:r>
              <a:rPr lang="en-US" sz="2400" dirty="0">
                <a:latin typeface="+mj-lt"/>
                <a:cs typeface="Times New Roman" pitchFamily="18" charset="0"/>
              </a:rPr>
              <a:t>Department of </a:t>
            </a:r>
            <a:r>
              <a:rPr lang="en-US" sz="2400" dirty="0" smtClean="0">
                <a:latin typeface="+mj-lt"/>
                <a:cs typeface="Times New Roman" pitchFamily="18" charset="0"/>
              </a:rPr>
              <a:t>Creative Technologies</a:t>
            </a:r>
            <a:endParaRPr lang="en-US" sz="2400" dirty="0">
              <a:latin typeface="+mj-lt"/>
              <a:cs typeface="Times New Roman" pitchFamily="18" charset="0"/>
            </a:endParaRPr>
          </a:p>
          <a:p>
            <a:r>
              <a:rPr lang="en-US" dirty="0" smtClean="0">
                <a:latin typeface="+mj-lt"/>
                <a:cs typeface="Times New Roman" pitchFamily="18" charset="0"/>
              </a:rPr>
              <a:t>Air University</a:t>
            </a:r>
            <a:endParaRPr lang="en-US" sz="2400" dirty="0">
              <a:latin typeface="+mj-lt"/>
              <a:cs typeface="Times New Roman" pitchFamily="18" charset="0"/>
            </a:endParaRPr>
          </a:p>
          <a:p>
            <a:pPr algn="ctr"/>
            <a:r>
              <a:rPr lang="en-US" dirty="0" smtClean="0">
                <a:latin typeface="+mj-lt"/>
                <a:cs typeface="Times New Roman" pitchFamily="18" charset="0"/>
              </a:rPr>
              <a:t>Islamabad</a:t>
            </a:r>
            <a:r>
              <a:rPr lang="en-US" sz="2400" dirty="0" smtClean="0">
                <a:latin typeface="+mj-lt"/>
                <a:cs typeface="Times New Roman" pitchFamily="18" charset="0"/>
              </a:rPr>
              <a:t>, </a:t>
            </a:r>
            <a:r>
              <a:rPr lang="en-US" sz="2400" dirty="0">
                <a:latin typeface="+mj-lt"/>
                <a:cs typeface="Times New Roman" pitchFamily="18" charset="0"/>
              </a:rPr>
              <a:t>Pakistan</a:t>
            </a:r>
          </a:p>
          <a:p>
            <a:pPr algn="ctr"/>
            <a:endParaRPr lang="en-US" dirty="0">
              <a:latin typeface="Times New Roman" pitchFamily="18" charset="0"/>
              <a:cs typeface="Times New Roman" pitchFamily="18" charset="0"/>
            </a:endParaRPr>
          </a:p>
        </p:txBody>
      </p:sp>
      <p:sp>
        <p:nvSpPr>
          <p:cNvPr id="3"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
        <p:nvSpPr>
          <p:cNvPr id="6" name="Slide Number Placeholder 5">
            <a:extLst>
              <a:ext uri="{FF2B5EF4-FFF2-40B4-BE49-F238E27FC236}">
                <a16:creationId xmlns="" xmlns:a16="http://schemas.microsoft.com/office/drawing/2014/main" id="{E5F02262-9B1F-47CD-B14C-44FED8529CD7}"/>
              </a:ext>
            </a:extLst>
          </p:cNvPr>
          <p:cNvSpPr>
            <a:spLocks noGrp="1"/>
          </p:cNvSpPr>
          <p:nvPr>
            <p:ph type="sldNum" sz="quarter" idx="12"/>
          </p:nvPr>
        </p:nvSpPr>
        <p:spPr/>
        <p:txBody>
          <a:bodyPr/>
          <a:lstStyle/>
          <a:p>
            <a:fld id="{9BB8EDE5-9AB5-4B4D-985A-2C24811CE893}" type="slidenum">
              <a:rPr lang="en-US" smtClean="0"/>
              <a:t>1</a:t>
            </a:fld>
            <a:endParaRPr lang="en-US" dirty="0"/>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01038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sv-SE" sz="3200" b="1" dirty="0" smtClean="0">
                <a:cs typeface="Times New Roman" pitchFamily="18" charset="0"/>
              </a:rPr>
              <a:t>Agenda</a:t>
            </a:r>
            <a:endParaRPr lang="en-US" sz="3200" b="1" dirty="0"/>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a:bodyPr>
          <a:lstStyle/>
          <a:p>
            <a:pPr marL="0" indent="0">
              <a:buNone/>
            </a:pPr>
            <a:r>
              <a:rPr lang="sv-SE" sz="2400" dirty="0" smtClean="0"/>
              <a:t>Previous Week Review</a:t>
            </a:r>
            <a:endParaRPr lang="sv-SE" sz="2400" dirty="0"/>
          </a:p>
          <a:p>
            <a:pPr marL="0" indent="0" algn="just" fontAlgn="base">
              <a:buNone/>
            </a:pPr>
            <a:r>
              <a:rPr lang="en-US" sz="2200" b="1" dirty="0" smtClean="0"/>
              <a:t>Subtopics</a:t>
            </a:r>
            <a:endParaRPr lang="en-US" sz="1800" dirty="0"/>
          </a:p>
          <a:p>
            <a:pPr marL="457200" lvl="1" indent="0" algn="just" fontAlgn="base">
              <a:buNone/>
            </a:pPr>
            <a:endParaRPr lang="en-US" sz="1800" dirty="0"/>
          </a:p>
          <a:p>
            <a:pPr>
              <a:buFont typeface="Wingdings" panose="05000000000000000000" pitchFamily="2" charset="2"/>
              <a:buChar char="Ø"/>
            </a:pPr>
            <a:endParaRPr lang="sv-SE" sz="2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2</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4675"/>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33061392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a:t>
            </a:r>
            <a:r>
              <a:rPr lang="en-US" sz="3200" b="1" dirty="0" smtClean="0">
                <a:cs typeface="Times New Roman" pitchFamily="18" charset="0"/>
              </a:rPr>
              <a:t>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fontScale="47500" lnSpcReduction="20000"/>
          </a:bodyPr>
          <a:lstStyle/>
          <a:p>
            <a:pPr algn="just">
              <a:buFont typeface="Wingdings" panose="05000000000000000000" pitchFamily="2" charset="2"/>
              <a:buChar char="Ø"/>
            </a:pPr>
            <a:r>
              <a:rPr lang="en-US" sz="4500" dirty="0"/>
              <a:t>Software quality standards are the unsung heroes in this story, providing a set of guidelines, criteria, and best practices that ensure any software product or process meets specified quality requirements and objectives.</a:t>
            </a:r>
          </a:p>
          <a:p>
            <a:pPr algn="just">
              <a:buFont typeface="Wingdings" panose="05000000000000000000" pitchFamily="2" charset="2"/>
              <a:buChar char="Ø"/>
            </a:pPr>
            <a:r>
              <a:rPr lang="en-US" sz="4500" dirty="0"/>
              <a:t>Imagine them as the rulebook for a game, where the game is the complex process of creating software. They offer a framework that allows organizations to assess, measure, and improve the quality of their software development practices and deliverables. From functionality, reliability, and usability to efficiency, maintainability, and portability — these standards cover it all.</a:t>
            </a:r>
          </a:p>
          <a:p>
            <a:pPr algn="just">
              <a:buFont typeface="Wingdings" panose="05000000000000000000" pitchFamily="2" charset="2"/>
              <a:buChar char="Ø"/>
            </a:pPr>
            <a:r>
              <a:rPr lang="en-US" sz="4500" dirty="0"/>
              <a:t>Their importance can’t be overstated, as they lay the foundation for high-quality, reliable, and secure software products and services</a:t>
            </a:r>
            <a:r>
              <a:rPr lang="en-US" sz="4500" dirty="0" smtClean="0"/>
              <a:t>.</a:t>
            </a:r>
          </a:p>
          <a:p>
            <a:pPr algn="just">
              <a:buFont typeface="Wingdings" panose="05000000000000000000" pitchFamily="2" charset="2"/>
              <a:buChar char="Ø"/>
            </a:pPr>
            <a:r>
              <a:rPr lang="en-US" sz="4500" dirty="0"/>
              <a:t>First on our list is </a:t>
            </a:r>
            <a:r>
              <a:rPr lang="en-US" sz="4500" b="1" dirty="0"/>
              <a:t>ISO/IEC 25000</a:t>
            </a:r>
            <a:r>
              <a:rPr lang="en-US" sz="4500" dirty="0"/>
              <a:t>, also known as </a:t>
            </a:r>
            <a:r>
              <a:rPr lang="en-US" sz="4500" b="1" dirty="0" err="1"/>
              <a:t>SQuaRE</a:t>
            </a:r>
            <a:r>
              <a:rPr lang="en-US" sz="4500" dirty="0"/>
              <a:t>. This international standard is a beacon for software quality. It’s broken down into two main parts.</a:t>
            </a:r>
          </a:p>
          <a:p>
            <a:pPr algn="just">
              <a:buFont typeface="Wingdings" panose="05000000000000000000" pitchFamily="2" charset="2"/>
              <a:buChar char="Ø"/>
            </a:pPr>
            <a:r>
              <a:rPr lang="en-US" sz="4500" b="1" dirty="0"/>
              <a:t>ISO/IEC 25010</a:t>
            </a:r>
            <a:r>
              <a:rPr lang="en-US" sz="4500" dirty="0"/>
              <a:t> outlines a set of quality characteristics and sub-characteristics such as functionality, reliability, and usability — all factors that can be used to evaluate the quality of a software product.</a:t>
            </a:r>
          </a:p>
          <a:p>
            <a:pPr algn="just">
              <a:buFont typeface="Wingdings" panose="05000000000000000000" pitchFamily="2" charset="2"/>
              <a:buChar char="Ø"/>
            </a:pPr>
            <a:r>
              <a:rPr lang="en-US" sz="4500" b="1" dirty="0"/>
              <a:t>ISO/IEC 25040</a:t>
            </a:r>
            <a:r>
              <a:rPr lang="en-US" sz="4500" dirty="0"/>
              <a:t> provides guidance on quality requirements and evaluation processes for software products and systems. It’s like a roadmap guiding developers and organizations on how to ensure their software meets certain quality benchmarks</a:t>
            </a:r>
            <a:r>
              <a:rPr lang="en-US" sz="4500" dirty="0" smtClean="0"/>
              <a:t>.</a:t>
            </a:r>
            <a:endParaRPr lang="en-US" sz="4500" dirty="0"/>
          </a:p>
          <a:p>
            <a:pPr marL="0" indent="0" algn="just">
              <a:buNone/>
            </a:pP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endParaRPr lang="sv-SE" sz="2200"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3</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14711369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a:t>
            </a:r>
            <a:r>
              <a:rPr lang="en-US" sz="3200" b="1" dirty="0" smtClean="0">
                <a:cs typeface="Times New Roman" pitchFamily="18" charset="0"/>
              </a:rPr>
              <a:t>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a:bodyPr>
          <a:lstStyle/>
          <a:p>
            <a:pPr algn="just">
              <a:buFont typeface="Wingdings" panose="05000000000000000000" pitchFamily="2" charset="2"/>
              <a:buChar char="Ø"/>
            </a:pPr>
            <a:r>
              <a:rPr lang="en-US" dirty="0"/>
              <a:t>Overall, ISO/IEC 25000 is a comprehensive tool that helps organizations measure and improve the quality of their software. It sets the stage for understanding what quality means in the realm of software and how it can be achieved</a:t>
            </a:r>
            <a:r>
              <a:rPr lang="en-US" dirty="0" smtClean="0"/>
              <a:t>.</a:t>
            </a:r>
          </a:p>
          <a:p>
            <a:pPr algn="just">
              <a:buFont typeface="Wingdings" panose="05000000000000000000" pitchFamily="2" charset="2"/>
              <a:buChar char="Ø"/>
            </a:pPr>
            <a:r>
              <a:rPr lang="en-US" dirty="0"/>
              <a:t>Next, we delve into </a:t>
            </a:r>
            <a:r>
              <a:rPr lang="en-US" b="1" dirty="0"/>
              <a:t>ISO/IEC 9126</a:t>
            </a:r>
            <a:r>
              <a:rPr lang="en-US" dirty="0"/>
              <a:t> and </a:t>
            </a:r>
            <a:r>
              <a:rPr lang="en-US" b="1" dirty="0"/>
              <a:t>IEEE standards</a:t>
            </a:r>
            <a:r>
              <a:rPr lang="en-US" dirty="0" smtClean="0"/>
              <a:t>.</a:t>
            </a:r>
          </a:p>
          <a:p>
            <a:pPr algn="just">
              <a:buFont typeface="Wingdings" panose="05000000000000000000" pitchFamily="2" charset="2"/>
              <a:buChar char="Ø"/>
            </a:pPr>
            <a:endParaRPr lang="en-US" dirty="0"/>
          </a:p>
          <a:p>
            <a:pPr marL="0" indent="0" algn="just">
              <a:buNone/>
            </a:pPr>
            <a:r>
              <a:rPr lang="en-US" sz="2400" dirty="0"/>
              <a:t/>
            </a:r>
            <a:br>
              <a:rPr lang="en-US" sz="2400" dirty="0"/>
            </a:br>
            <a:r>
              <a:rPr lang="en-US" sz="2400" dirty="0"/>
              <a:t/>
            </a:r>
            <a:br>
              <a:rPr lang="en-US" sz="2400" dirty="0"/>
            </a:br>
            <a:endParaRPr lang="sv-SE" sz="2200"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4</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7368249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a:t>
            </a:r>
            <a:r>
              <a:rPr lang="en-US" sz="3200" b="1" dirty="0" smtClean="0">
                <a:cs typeface="Times New Roman" pitchFamily="18" charset="0"/>
              </a:rPr>
              <a:t>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fontScale="92500" lnSpcReduction="10000"/>
          </a:bodyPr>
          <a:lstStyle/>
          <a:p>
            <a:pPr marL="0" indent="0">
              <a:buNone/>
            </a:pPr>
            <a:r>
              <a:rPr lang="en-US" b="1" dirty="0"/>
              <a:t>ISO/IEC 9126</a:t>
            </a:r>
            <a:r>
              <a:rPr lang="en-US" dirty="0"/>
              <a:t> is a well-recognized standard that offers a comprehensive software quality model. It’s divided into two parts:</a:t>
            </a:r>
          </a:p>
          <a:p>
            <a:pPr algn="just">
              <a:buFont typeface="Wingdings" panose="05000000000000000000" pitchFamily="2" charset="2"/>
              <a:buChar char="Ø"/>
            </a:pPr>
            <a:r>
              <a:rPr lang="en-US" b="1" dirty="0"/>
              <a:t>ISO/IEC 9126-1</a:t>
            </a:r>
            <a:r>
              <a:rPr lang="en-US" dirty="0"/>
              <a:t> defines six fundamental characteristics of software quality: functionality, reliability, usability, efficiency, maintainability, and portability. Each characteristic is further broken down into sub-characteristics to provide a detailed view of software quality. For instance, functionality includes suitability, accuracy, interoperability, security, and functionality compliance. Reliability includes maturity, fault tolerance, recoverability, and reliability compliance.</a:t>
            </a:r>
          </a:p>
          <a:p>
            <a:pPr algn="just">
              <a:buFont typeface="Wingdings" panose="05000000000000000000" pitchFamily="2" charset="2"/>
              <a:buChar char="Ø"/>
            </a:pPr>
            <a:r>
              <a:rPr lang="en-US" b="1" dirty="0"/>
              <a:t>ISO/IEC 9126-2</a:t>
            </a:r>
            <a:r>
              <a:rPr lang="en-US" dirty="0"/>
              <a:t> provides metrics and evaluation methods for these quality attributes — defining not only what quality looks like but also how to measure and assess it.</a:t>
            </a:r>
          </a:p>
          <a:p>
            <a:pPr marL="0" indent="0" algn="just">
              <a:buNone/>
            </a:pPr>
            <a:r>
              <a:rPr lang="en-US" sz="2400" dirty="0"/>
              <a:t/>
            </a:r>
            <a:br>
              <a:rPr lang="en-US" sz="2400" dirty="0"/>
            </a:br>
            <a:r>
              <a:rPr lang="en-US" sz="2400" dirty="0"/>
              <a:t/>
            </a:r>
            <a:br>
              <a:rPr lang="en-US" sz="2400" dirty="0"/>
            </a:br>
            <a:endParaRPr lang="sv-SE" sz="2200"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5</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34504807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a:t>
            </a:r>
            <a:r>
              <a:rPr lang="en-US" sz="3200" b="1" dirty="0" smtClean="0">
                <a:cs typeface="Times New Roman" pitchFamily="18" charset="0"/>
              </a:rPr>
              <a:t>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fontScale="85000" lnSpcReduction="20000"/>
          </a:bodyPr>
          <a:lstStyle/>
          <a:p>
            <a:pPr algn="just">
              <a:buFont typeface="Wingdings" panose="05000000000000000000" pitchFamily="2" charset="2"/>
              <a:buChar char="Ø"/>
            </a:pPr>
            <a:r>
              <a:rPr lang="en-US" dirty="0"/>
              <a:t>Now, let’s switch gears and talk about </a:t>
            </a:r>
            <a:r>
              <a:rPr lang="en-US" b="1" dirty="0"/>
              <a:t>IEEE standards</a:t>
            </a:r>
            <a:r>
              <a:rPr lang="en-US" dirty="0"/>
              <a:t>, specifically </a:t>
            </a:r>
            <a:r>
              <a:rPr lang="en-US" b="1" dirty="0"/>
              <a:t>IEEE 730</a:t>
            </a:r>
            <a:r>
              <a:rPr lang="en-US" dirty="0"/>
              <a:t>, </a:t>
            </a:r>
            <a:r>
              <a:rPr lang="en-US" b="1" dirty="0"/>
              <a:t>IEEE 1061</a:t>
            </a:r>
            <a:r>
              <a:rPr lang="en-US" dirty="0"/>
              <a:t>, and </a:t>
            </a:r>
            <a:r>
              <a:rPr lang="en-US" b="1" dirty="0"/>
              <a:t>IEEE 1633</a:t>
            </a:r>
            <a:r>
              <a:rPr lang="en-US" dirty="0"/>
              <a:t>.</a:t>
            </a:r>
          </a:p>
          <a:p>
            <a:pPr algn="just">
              <a:buFont typeface="Wingdings" panose="05000000000000000000" pitchFamily="2" charset="2"/>
              <a:buChar char="Ø"/>
            </a:pPr>
            <a:r>
              <a:rPr lang="en-US" dirty="0"/>
              <a:t>The </a:t>
            </a:r>
            <a:r>
              <a:rPr lang="en-US" b="1" dirty="0"/>
              <a:t>IEEE</a:t>
            </a:r>
            <a:r>
              <a:rPr lang="en-US" dirty="0"/>
              <a:t> (Institute of Electrical and Electronics Engineers) plays a major role in software quality standards:</a:t>
            </a:r>
          </a:p>
          <a:p>
            <a:pPr algn="just">
              <a:buFont typeface="Wingdings" panose="05000000000000000000" pitchFamily="2" charset="2"/>
              <a:buChar char="Ø"/>
            </a:pPr>
            <a:r>
              <a:rPr lang="en-US" b="1" dirty="0"/>
              <a:t>IEEE 730</a:t>
            </a:r>
            <a:r>
              <a:rPr lang="en-US" dirty="0"/>
              <a:t> provides guidelines for software quality assurance plans, outlining processes and procedures that ensure software quality throughout its development life cycle.</a:t>
            </a:r>
          </a:p>
          <a:p>
            <a:pPr algn="just">
              <a:buFont typeface="Wingdings" panose="05000000000000000000" pitchFamily="2" charset="2"/>
              <a:buChar char="Ø"/>
            </a:pPr>
            <a:r>
              <a:rPr lang="en-US" b="1" dirty="0"/>
              <a:t>IEEE 1061</a:t>
            </a:r>
            <a:r>
              <a:rPr lang="en-US" dirty="0"/>
              <a:t> focuses on software quality metrics and methodologies, providing standards for developing and validating software quality metrics — crucial for measuring and improving quality.</a:t>
            </a:r>
          </a:p>
          <a:p>
            <a:pPr algn="just">
              <a:buFont typeface="Wingdings" panose="05000000000000000000" pitchFamily="2" charset="2"/>
              <a:buChar char="Ø"/>
            </a:pPr>
            <a:r>
              <a:rPr lang="en-US" b="1" dirty="0"/>
              <a:t>IEEE 1633</a:t>
            </a:r>
            <a:r>
              <a:rPr lang="en-US" dirty="0"/>
              <a:t> addresses software reliability engineering, providing techniques for managing, predicting, and measuring software reliability.</a:t>
            </a:r>
          </a:p>
          <a:p>
            <a:pPr algn="just">
              <a:buFont typeface="Wingdings" panose="05000000000000000000" pitchFamily="2" charset="2"/>
              <a:buChar char="Ø"/>
            </a:pPr>
            <a:r>
              <a:rPr lang="en-US" dirty="0"/>
              <a:t>Together, ISO/IEC 9126 and the IEEE standards offer a holistic approach to software quality — from defining and measuring attributes to planning assurance and managing reliability.</a:t>
            </a:r>
          </a:p>
          <a:p>
            <a:pPr marL="0" indent="0" algn="just">
              <a:buNone/>
            </a:pPr>
            <a:r>
              <a:rPr lang="en-US" sz="2400" dirty="0"/>
              <a:t/>
            </a:r>
            <a:br>
              <a:rPr lang="en-US" sz="2400" dirty="0"/>
            </a:br>
            <a:r>
              <a:rPr lang="en-US" sz="2400" dirty="0"/>
              <a:t/>
            </a:r>
            <a:br>
              <a:rPr lang="en-US" sz="2400" dirty="0"/>
            </a:br>
            <a:endParaRPr lang="sv-SE" sz="2200"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6</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25775042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a:t>
            </a:r>
            <a:r>
              <a:rPr lang="en-US" sz="3200" b="1" dirty="0" smtClean="0">
                <a:cs typeface="Times New Roman" pitchFamily="18" charset="0"/>
              </a:rPr>
              <a:t>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a:bodyPr>
          <a:lstStyle/>
          <a:p>
            <a:pPr algn="just">
              <a:buFont typeface="Wingdings" panose="05000000000000000000" pitchFamily="2" charset="2"/>
              <a:buChar char="Ø"/>
            </a:pPr>
            <a:r>
              <a:rPr lang="en-US" dirty="0" smtClean="0"/>
              <a:t>Now let’s turn to </a:t>
            </a:r>
            <a:r>
              <a:rPr lang="en-US" b="1" dirty="0" smtClean="0"/>
              <a:t>CMMI</a:t>
            </a:r>
            <a:r>
              <a:rPr lang="en-US" dirty="0" smtClean="0"/>
              <a:t>, and </a:t>
            </a:r>
            <a:r>
              <a:rPr lang="en-US" b="1" dirty="0" smtClean="0"/>
              <a:t>ANSI/IEEE 1012</a:t>
            </a:r>
            <a:r>
              <a:rPr lang="en-US" dirty="0" smtClean="0"/>
              <a:t>.</a:t>
            </a:r>
          </a:p>
          <a:p>
            <a:pPr algn="just">
              <a:buFont typeface="Wingdings" panose="05000000000000000000" pitchFamily="2" charset="2"/>
              <a:buChar char="Ø"/>
            </a:pPr>
            <a:r>
              <a:rPr lang="en-US" dirty="0" smtClean="0"/>
              <a:t>Our </a:t>
            </a:r>
            <a:r>
              <a:rPr lang="en-US" dirty="0"/>
              <a:t>journey begins with </a:t>
            </a:r>
            <a:r>
              <a:rPr lang="en-US" b="1" dirty="0"/>
              <a:t>CMMI (Capability Maturity Model Integration)</a:t>
            </a:r>
            <a:r>
              <a:rPr lang="en-US" dirty="0"/>
              <a:t>, which has two key components:</a:t>
            </a:r>
          </a:p>
          <a:p>
            <a:pPr algn="just">
              <a:buFont typeface="Wingdings" panose="05000000000000000000" pitchFamily="2" charset="2"/>
              <a:buChar char="Ø"/>
            </a:pPr>
            <a:r>
              <a:rPr lang="en-US" b="1" dirty="0"/>
              <a:t>CMMI for Development</a:t>
            </a:r>
            <a:r>
              <a:rPr lang="en-US" dirty="0"/>
              <a:t> — a framework for enhancing software development and engineering processes, helping organizations ensure consistency, predictability, and effectiveness.</a:t>
            </a:r>
          </a:p>
          <a:p>
            <a:pPr algn="just">
              <a:buFont typeface="Wingdings" panose="05000000000000000000" pitchFamily="2" charset="2"/>
              <a:buChar char="Ø"/>
            </a:pPr>
            <a:r>
              <a:rPr lang="en-US" b="1" dirty="0"/>
              <a:t>CMMI for Services</a:t>
            </a:r>
            <a:r>
              <a:rPr lang="en-US" dirty="0"/>
              <a:t> — designed for service-oriented organizations, focusing on improving IT services and software maintenance to ensure customer satisfaction and operational efficiency.</a:t>
            </a:r>
          </a:p>
        </p:txBody>
      </p:sp>
      <p:sp>
        <p:nvSpPr>
          <p:cNvPr id="5" name="Slide Number Placeholder 4"/>
          <p:cNvSpPr>
            <a:spLocks noGrp="1"/>
          </p:cNvSpPr>
          <p:nvPr>
            <p:ph type="sldNum" sz="quarter" idx="12"/>
          </p:nvPr>
        </p:nvSpPr>
        <p:spPr/>
        <p:txBody>
          <a:bodyPr/>
          <a:lstStyle/>
          <a:p>
            <a:fld id="{9BB8EDE5-9AB5-4B4D-985A-2C24811CE893}" type="slidenum">
              <a:rPr lang="en-US" smtClean="0"/>
              <a:t>7</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9241281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a:t>
            </a:r>
            <a:r>
              <a:rPr lang="en-US" sz="3200" b="1" dirty="0" smtClean="0">
                <a:cs typeface="Times New Roman" pitchFamily="18" charset="0"/>
              </a:rPr>
              <a:t>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a:bodyPr>
          <a:lstStyle/>
          <a:p>
            <a:pPr>
              <a:buFont typeface="Wingdings" panose="05000000000000000000" pitchFamily="2" charset="2"/>
              <a:buChar char="Ø"/>
            </a:pPr>
            <a:r>
              <a:rPr lang="en-US" dirty="0"/>
              <a:t>Then there’s </a:t>
            </a:r>
            <a:r>
              <a:rPr lang="en-US" b="1" dirty="0"/>
              <a:t>ANSI/IEEE 1012</a:t>
            </a:r>
            <a:r>
              <a:rPr lang="en-US" dirty="0"/>
              <a:t>, which defines the criteria for software verification and validation processes.</a:t>
            </a:r>
          </a:p>
          <a:p>
            <a:pPr>
              <a:buFont typeface="Wingdings" panose="05000000000000000000" pitchFamily="2" charset="2"/>
              <a:buChar char="Ø"/>
            </a:pPr>
            <a:r>
              <a:rPr lang="en-US" b="1" dirty="0"/>
              <a:t>Verification</a:t>
            </a:r>
            <a:r>
              <a:rPr lang="en-US" dirty="0"/>
              <a:t> ensures a product meets specified requirements at each stage of development.</a:t>
            </a:r>
          </a:p>
          <a:p>
            <a:pPr>
              <a:buFont typeface="Wingdings" panose="05000000000000000000" pitchFamily="2" charset="2"/>
              <a:buChar char="Ø"/>
            </a:pPr>
            <a:r>
              <a:rPr lang="en-US" b="1" dirty="0"/>
              <a:t>Validation</a:t>
            </a:r>
            <a:r>
              <a:rPr lang="en-US" dirty="0"/>
              <a:t> ensures the final system satisfies those requirements.</a:t>
            </a:r>
          </a:p>
          <a:p>
            <a:pPr>
              <a:buFont typeface="Wingdings" panose="05000000000000000000" pitchFamily="2" charset="2"/>
              <a:buChar char="Ø"/>
            </a:pPr>
            <a:r>
              <a:rPr lang="en-US" dirty="0"/>
              <a:t>This standard ensures software products are thoroughly tested and validated, fostering confidence in their reliability and performance.</a:t>
            </a:r>
          </a:p>
        </p:txBody>
      </p:sp>
      <p:sp>
        <p:nvSpPr>
          <p:cNvPr id="5" name="Slide Number Placeholder 4"/>
          <p:cNvSpPr>
            <a:spLocks noGrp="1"/>
          </p:cNvSpPr>
          <p:nvPr>
            <p:ph type="sldNum" sz="quarter" idx="12"/>
          </p:nvPr>
        </p:nvSpPr>
        <p:spPr/>
        <p:txBody>
          <a:bodyPr/>
          <a:lstStyle/>
          <a:p>
            <a:fld id="{9BB8EDE5-9AB5-4B4D-985A-2C24811CE893}" type="slidenum">
              <a:rPr lang="en-US" smtClean="0"/>
              <a:t>8</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12907969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a:t>
            </a:r>
            <a:r>
              <a:rPr lang="en-US" sz="3200" b="1" dirty="0" smtClean="0">
                <a:cs typeface="Times New Roman" pitchFamily="18" charset="0"/>
              </a:rPr>
              <a:t>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fontScale="85000" lnSpcReduction="20000"/>
          </a:bodyPr>
          <a:lstStyle/>
          <a:p>
            <a:pPr marL="0" indent="0">
              <a:buNone/>
            </a:pPr>
            <a:r>
              <a:rPr lang="en-US" dirty="0"/>
              <a:t>Lastly, we have </a:t>
            </a:r>
            <a:r>
              <a:rPr lang="en-US" b="1" dirty="0"/>
              <a:t>SEI</a:t>
            </a:r>
            <a:r>
              <a:rPr lang="en-US" dirty="0"/>
              <a:t>, </a:t>
            </a:r>
            <a:r>
              <a:rPr lang="en-US" b="1" dirty="0"/>
              <a:t>OWASP</a:t>
            </a:r>
            <a:r>
              <a:rPr lang="en-US" dirty="0"/>
              <a:t>, and </a:t>
            </a:r>
            <a:r>
              <a:rPr lang="en-US" b="1" dirty="0"/>
              <a:t>ISO/IEC 27001</a:t>
            </a:r>
            <a:r>
              <a:rPr lang="en-US" dirty="0"/>
              <a:t>.</a:t>
            </a:r>
          </a:p>
          <a:p>
            <a:pPr algn="just">
              <a:buFont typeface="Wingdings" panose="05000000000000000000" pitchFamily="2" charset="2"/>
              <a:buChar char="Ø"/>
            </a:pPr>
            <a:r>
              <a:rPr lang="en-US" dirty="0"/>
              <a:t>The </a:t>
            </a:r>
            <a:r>
              <a:rPr lang="en-US" b="1" dirty="0"/>
              <a:t>Software Engineering Institute (SEI)</a:t>
            </a:r>
            <a:r>
              <a:rPr lang="en-US" dirty="0"/>
              <a:t> developed the </a:t>
            </a:r>
            <a:r>
              <a:rPr lang="en-US" b="1" dirty="0"/>
              <a:t>Software Engineering Body of Knowledge (SWEBOK)</a:t>
            </a:r>
            <a:r>
              <a:rPr lang="en-US" dirty="0"/>
              <a:t> — a comprehensive overview of software engineering principles, practices, and knowledge areas. It covers topics from requirements and design to testing, maintenance, and professional practice, serving as a foundational reference for software engineers.</a:t>
            </a:r>
          </a:p>
          <a:p>
            <a:pPr algn="just">
              <a:buFont typeface="Wingdings" panose="05000000000000000000" pitchFamily="2" charset="2"/>
              <a:buChar char="Ø"/>
            </a:pPr>
            <a:r>
              <a:rPr lang="en-US" b="1" dirty="0"/>
              <a:t>OWASP (Open Web Application Security Project)</a:t>
            </a:r>
            <a:r>
              <a:rPr lang="en-US" dirty="0"/>
              <a:t> is an international organization dedicated to improving software security. Its </a:t>
            </a:r>
            <a:r>
              <a:rPr lang="en-US" b="1" dirty="0"/>
              <a:t>OWASP Top 10</a:t>
            </a:r>
            <a:r>
              <a:rPr lang="en-US" dirty="0"/>
              <a:t> is a regularly updated list of the most critical security risks to web applications — helping developers and organizations prioritize security measures and best practices.</a:t>
            </a:r>
          </a:p>
          <a:p>
            <a:pPr algn="just">
              <a:buFont typeface="Wingdings" panose="05000000000000000000" pitchFamily="2" charset="2"/>
              <a:buChar char="Ø"/>
            </a:pPr>
            <a:r>
              <a:rPr lang="en-US" b="1" dirty="0"/>
              <a:t>ISO/IEC 27001</a:t>
            </a:r>
            <a:r>
              <a:rPr lang="en-US" dirty="0"/>
              <a:t> specifies the requirements for establishing, implementing, maintaining, and continually improving an information security management system. It’s about creating robust systems and processes to protect data effectively and respond to security incidents efficiently.</a:t>
            </a:r>
          </a:p>
          <a:p>
            <a:pPr algn="just">
              <a:buFont typeface="Wingdings" panose="05000000000000000000" pitchFamily="2" charset="2"/>
              <a:buChar char="Ø"/>
            </a:pPr>
            <a:r>
              <a:rPr lang="en-US" dirty="0"/>
              <a:t>In essence, these standards underscore the importance of a holistic approach to software quality. SEI’s SWEBOK provides foundational knowledge, OWASP highlights critical security risks, and ISO/IEC 27001 ensures comprehensive information security management.</a:t>
            </a:r>
          </a:p>
        </p:txBody>
      </p:sp>
      <p:sp>
        <p:nvSpPr>
          <p:cNvPr id="5" name="Slide Number Placeholder 4"/>
          <p:cNvSpPr>
            <a:spLocks noGrp="1"/>
          </p:cNvSpPr>
          <p:nvPr>
            <p:ph type="sldNum" sz="quarter" idx="12"/>
          </p:nvPr>
        </p:nvSpPr>
        <p:spPr/>
        <p:txBody>
          <a:bodyPr/>
          <a:lstStyle/>
          <a:p>
            <a:fld id="{9BB8EDE5-9AB5-4B4D-985A-2C24811CE893}" type="slidenum">
              <a:rPr lang="en-US" smtClean="0"/>
              <a:t>9</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41873238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a:t>
            </a:r>
            <a:r>
              <a:rPr lang="en-US" sz="3200" b="1" dirty="0" smtClean="0">
                <a:cs typeface="Times New Roman" pitchFamily="18" charset="0"/>
              </a:rPr>
              <a:t>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a:bodyPr>
          <a:lstStyle/>
          <a:p>
            <a:pPr algn="just">
              <a:buFont typeface="Wingdings" panose="05000000000000000000" pitchFamily="2" charset="2"/>
              <a:buChar char="Ø"/>
            </a:pPr>
            <a:r>
              <a:rPr lang="en-US" dirty="0"/>
              <a:t>So, what have we learned about software quality standards?</a:t>
            </a:r>
          </a:p>
          <a:p>
            <a:pPr algn="just">
              <a:buFont typeface="Wingdings" panose="05000000000000000000" pitchFamily="2" charset="2"/>
              <a:buChar char="Ø"/>
            </a:pPr>
            <a:r>
              <a:rPr lang="en-US" dirty="0"/>
              <a:t>We’ve explored numerous standards that serve as guiding lights in software quality — from </a:t>
            </a:r>
            <a:r>
              <a:rPr lang="en-US" b="1" dirty="0"/>
              <a:t>ISO/IEC 25000</a:t>
            </a:r>
            <a:r>
              <a:rPr lang="en-US" dirty="0"/>
              <a:t> (quality characteristics and evaluation) to </a:t>
            </a:r>
            <a:r>
              <a:rPr lang="en-US" b="1" dirty="0"/>
              <a:t>ISO/IEC 9126</a:t>
            </a:r>
            <a:r>
              <a:rPr lang="en-US" dirty="0"/>
              <a:t> (metrics and assessment), and from </a:t>
            </a:r>
            <a:r>
              <a:rPr lang="en-US" b="1" dirty="0"/>
              <a:t>IEEE 730</a:t>
            </a:r>
            <a:r>
              <a:rPr lang="en-US" dirty="0"/>
              <a:t> (quality assurance plans) to </a:t>
            </a:r>
            <a:r>
              <a:rPr lang="en-US" b="1" dirty="0"/>
              <a:t>CMMI</a:t>
            </a:r>
            <a:r>
              <a:rPr lang="en-US" dirty="0"/>
              <a:t> and </a:t>
            </a:r>
            <a:r>
              <a:rPr lang="en-US" b="1" dirty="0"/>
              <a:t>ITIL</a:t>
            </a:r>
            <a:r>
              <a:rPr lang="en-US" dirty="0"/>
              <a:t> (process improvement). We’ve also looked at </a:t>
            </a:r>
            <a:r>
              <a:rPr lang="en-US" b="1" dirty="0"/>
              <a:t>ANSI/IEEE 1012</a:t>
            </a:r>
            <a:r>
              <a:rPr lang="en-US" dirty="0"/>
              <a:t> (verification and validation), </a:t>
            </a:r>
            <a:r>
              <a:rPr lang="en-US" b="1" dirty="0"/>
              <a:t>Agile and Lean</a:t>
            </a:r>
            <a:r>
              <a:rPr lang="en-US" dirty="0"/>
              <a:t> (continuous improvement), and </a:t>
            </a:r>
            <a:r>
              <a:rPr lang="en-US" b="1" dirty="0"/>
              <a:t>SEI, OWASP, and ISO/IEC 27001</a:t>
            </a:r>
            <a:r>
              <a:rPr lang="en-US" dirty="0"/>
              <a:t> (security and knowledge frameworks).</a:t>
            </a:r>
          </a:p>
          <a:p>
            <a:pPr algn="just">
              <a:buFont typeface="Wingdings" panose="05000000000000000000" pitchFamily="2" charset="2"/>
              <a:buChar char="Ø"/>
            </a:pPr>
            <a:r>
              <a:rPr lang="en-US" dirty="0"/>
              <a:t>Adhering to these standards leads to robust quality management systems, improved processes, and reliable, secure, high-quality software products and services.</a:t>
            </a:r>
          </a:p>
        </p:txBody>
      </p:sp>
      <p:sp>
        <p:nvSpPr>
          <p:cNvPr id="5" name="Slide Number Placeholder 4"/>
          <p:cNvSpPr>
            <a:spLocks noGrp="1"/>
          </p:cNvSpPr>
          <p:nvPr>
            <p:ph type="sldNum" sz="quarter" idx="12"/>
          </p:nvPr>
        </p:nvSpPr>
        <p:spPr/>
        <p:txBody>
          <a:bodyPr/>
          <a:lstStyle/>
          <a:p>
            <a:fld id="{9BB8EDE5-9AB5-4B4D-985A-2C24811CE893}" type="slidenum">
              <a:rPr lang="en-US" smtClean="0"/>
              <a:t>10</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11472082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a:t>
            </a:r>
            <a:r>
              <a:rPr lang="en-US" sz="3200" b="1" dirty="0" smtClean="0">
                <a:cs typeface="Times New Roman" pitchFamily="18" charset="0"/>
              </a:rPr>
              <a:t>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fontScale="92500" lnSpcReduction="20000"/>
          </a:bodyPr>
          <a:lstStyle/>
          <a:p>
            <a:pPr marL="0" indent="0">
              <a:buNone/>
            </a:pPr>
            <a:r>
              <a:rPr lang="en-US" sz="2400" dirty="0"/>
              <a:t>Software quality standards are established guidelines, frameworks, or benchmarks that define criteria and best practices for ensuring the quality of software products and processes. These standards help organizations improve the quality, reliability, maintainability, and security of their software, thereby enhancing customer satisfaction and reducing risks. Here are some prominent software quality standards: </a:t>
            </a:r>
            <a:endParaRPr lang="en-US" sz="2400" dirty="0" smtClean="0"/>
          </a:p>
          <a:p>
            <a:r>
              <a:rPr lang="en-US" sz="2400" dirty="0" smtClean="0"/>
              <a:t>ISO/IEC </a:t>
            </a:r>
            <a:r>
              <a:rPr lang="en-US" sz="2400" dirty="0"/>
              <a:t>25000 (</a:t>
            </a:r>
            <a:r>
              <a:rPr lang="en-US" sz="2400" dirty="0" err="1"/>
              <a:t>SQuaRE</a:t>
            </a:r>
            <a:r>
              <a:rPr lang="en-US" sz="2400" dirty="0"/>
              <a:t>): The ISO/IEC 25000 series, also known as the Software Product Quality Requirements and Evaluation (</a:t>
            </a:r>
            <a:r>
              <a:rPr lang="en-US" sz="2400" dirty="0" err="1"/>
              <a:t>SQuaRE</a:t>
            </a:r>
            <a:r>
              <a:rPr lang="en-US" sz="2400" dirty="0"/>
              <a:t>) standard, provides a comprehensive framework for evaluating and specifying software product quality. It includes standards such as ISO/IEC 25010 (Quality Model) and ISO/IEC 25040 (Evaluation Process). </a:t>
            </a:r>
            <a:endParaRPr lang="en-US" sz="2400" dirty="0" smtClean="0"/>
          </a:p>
          <a:p>
            <a:r>
              <a:rPr lang="en-US" sz="2400" dirty="0" smtClean="0"/>
              <a:t>ISO/IEC </a:t>
            </a:r>
            <a:r>
              <a:rPr lang="en-US" sz="2400" dirty="0"/>
              <a:t>9126: The ISO/IEC 9126 standard defines a model for software quality characteristics and provides guidelines for measuring and evaluating software quality attributes such as functionality, reliability, usability, efficiency, maintainability, and portability. </a:t>
            </a:r>
            <a:endParaRPr lang="en-US" sz="2400" dirty="0" smtClean="0"/>
          </a:p>
          <a:p>
            <a:pPr marL="0" indent="0">
              <a:buNone/>
            </a:pP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endParaRPr lang="sv-SE" sz="2200"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11</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13523451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smtClean="0">
                <a:cs typeface="Times New Roman" pitchFamily="18" charset="0"/>
              </a:rPr>
              <a:t>Software Quality </a:t>
            </a:r>
            <a:r>
              <a:rPr lang="en-US" sz="3200" b="1" dirty="0" smtClean="0">
                <a:cs typeface="Times New Roman" pitchFamily="18" charset="0"/>
              </a:rPr>
              <a:t>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lnSpcReduction="10000"/>
          </a:bodyPr>
          <a:lstStyle/>
          <a:p>
            <a:r>
              <a:rPr lang="en-US" sz="2400" dirty="0" smtClean="0"/>
              <a:t>IEEE </a:t>
            </a:r>
            <a:r>
              <a:rPr lang="en-US" sz="2400" dirty="0"/>
              <a:t>730: The IEEE 730 standard outlines the requirements for software quality assurance plans, including the scope, objectives, responsibilities, procedures, and resources needed for ensuring software quality throughout the development lifecycle. </a:t>
            </a:r>
            <a:endParaRPr lang="en-US" sz="2400" dirty="0" smtClean="0"/>
          </a:p>
          <a:p>
            <a:r>
              <a:rPr lang="en-US" sz="2400" dirty="0" smtClean="0"/>
              <a:t>CMMI </a:t>
            </a:r>
            <a:r>
              <a:rPr lang="en-US" sz="2400" dirty="0"/>
              <a:t>(Capability Maturity Model Integration): CMMI is a process improvement model that provides a set of best practices for enhancing the maturity and capability of software development processes. It includes levels of maturity and capability for organizations to assess and improve their software development practices. </a:t>
            </a:r>
            <a:endParaRPr lang="en-US" sz="2400" dirty="0" smtClean="0"/>
          </a:p>
          <a:p>
            <a:r>
              <a:rPr lang="en-US" sz="2400" dirty="0" smtClean="0"/>
              <a:t>ISO/IEC </a:t>
            </a:r>
            <a:r>
              <a:rPr lang="en-US" sz="2400" dirty="0"/>
              <a:t>12207: The ISO/IEC 12207 standard defines a framework for software life cycle processes, including processes related to software development, maintenance, and support. It provides guidelines for managing and executing software development projects effectively. </a:t>
            </a:r>
            <a:endParaRPr lang="en-US" sz="2400" dirty="0" smtClean="0"/>
          </a:p>
          <a:p>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endParaRPr lang="sv-SE" sz="2200"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12</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30216903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fontScale="92500" lnSpcReduction="20000"/>
          </a:bodyPr>
          <a:lstStyle/>
          <a:p>
            <a:r>
              <a:rPr lang="en-US" sz="2400" dirty="0" smtClean="0"/>
              <a:t>ISO </a:t>
            </a:r>
            <a:r>
              <a:rPr lang="en-US" sz="2400" dirty="0"/>
              <a:t>9001: While not specific to software, ISO 9001 is a quality management standard that can be applied to software development organizations. It focuses on establishing and maintaining quality management systems that meet customer requirements and enhance customer satisfaction. </a:t>
            </a:r>
            <a:endParaRPr lang="en-US" sz="2400" dirty="0" smtClean="0"/>
          </a:p>
          <a:p>
            <a:r>
              <a:rPr lang="en-US" sz="2400" dirty="0" smtClean="0"/>
              <a:t>IEC </a:t>
            </a:r>
            <a:r>
              <a:rPr lang="en-US" sz="2400" dirty="0"/>
              <a:t>62304: Specifically for medical device software, the IEC 62304 standard provides requirements for the software life cycle processes of medical device software, including software development, maintenance, and risk management. </a:t>
            </a:r>
            <a:endParaRPr lang="en-US" sz="2400" dirty="0" smtClean="0"/>
          </a:p>
          <a:p>
            <a:r>
              <a:rPr lang="en-US" sz="2400" dirty="0" smtClean="0"/>
              <a:t>OWASP </a:t>
            </a:r>
            <a:r>
              <a:rPr lang="en-US" sz="2400" dirty="0"/>
              <a:t>Top 10: The Open Web Application Security Project (OWASP) Top 10 is a list of the most critical security risks facing web applications. It provides guidelines for developers to address common security vulnerabilities in software applications. Adhering to these software quality standards can help organizations establish robust quality assurance processes, improve software development practices, mitigate risks, and deliver high-quality software products that meet or exceed customer expectations.</a:t>
            </a:r>
          </a:p>
          <a:p>
            <a:pPr marL="0" indent="0">
              <a:buNone/>
            </a:pP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endParaRPr lang="sv-SE" sz="2200"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13</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36336412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a:bodyPr>
          <a:lstStyle/>
          <a:p>
            <a:pPr marL="0" indent="0">
              <a:buNone/>
            </a:pPr>
            <a:r>
              <a:rPr lang="en-US" sz="2400" dirty="0"/>
              <a:t/>
            </a:r>
            <a:br>
              <a:rPr lang="en-US" sz="2400" dirty="0"/>
            </a:br>
            <a:r>
              <a:rPr lang="en-US" sz="2400" dirty="0"/>
              <a:t/>
            </a:r>
            <a:br>
              <a:rPr lang="en-US" sz="2400" dirty="0"/>
            </a:br>
            <a:r>
              <a:rPr lang="en-US" sz="2400" dirty="0"/>
              <a:t/>
            </a:r>
            <a:br>
              <a:rPr lang="en-US" sz="2400" dirty="0"/>
            </a:br>
            <a:endParaRPr lang="sv-SE" sz="2200"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14</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pic>
        <p:nvPicPr>
          <p:cNvPr id="11"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74416" y="235020"/>
            <a:ext cx="8228104" cy="608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95350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cs typeface="Times New Roman" pitchFamily="18" charset="0"/>
              </a:rPr>
              <a:t>Software Quality Standards</a:t>
            </a:r>
            <a:endParaRPr lang="en-US" sz="3200" b="1" dirty="0">
              <a:cs typeface="Times New Roman" pitchFamily="18" charset="0"/>
            </a:endParaRP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508000" y="1055077"/>
            <a:ext cx="11271250" cy="5262196"/>
          </a:xfrm>
        </p:spPr>
        <p:txBody>
          <a:bodyPr>
            <a:normAutofit/>
          </a:bodyPr>
          <a:lstStyle/>
          <a:p>
            <a:pPr marL="0" indent="0">
              <a:buNone/>
            </a:pPr>
            <a:r>
              <a:rPr lang="en-US" sz="2400" dirty="0"/>
              <a:t/>
            </a:r>
            <a:br>
              <a:rPr lang="en-US" sz="2400" dirty="0"/>
            </a:br>
            <a:r>
              <a:rPr lang="en-US" sz="2400" dirty="0"/>
              <a:t/>
            </a:r>
            <a:br>
              <a:rPr lang="en-US" sz="2400" dirty="0"/>
            </a:br>
            <a:r>
              <a:rPr lang="en-US" sz="2400" dirty="0"/>
              <a:t/>
            </a:r>
            <a:br>
              <a:rPr lang="en-US" sz="2400" dirty="0"/>
            </a:br>
            <a:endParaRPr lang="sv-SE" sz="2200" dirty="0">
              <a:cs typeface="Times New Roman" pitchFamily="18" charset="0"/>
            </a:endParaRPr>
          </a:p>
        </p:txBody>
      </p:sp>
      <p:sp>
        <p:nvSpPr>
          <p:cNvPr id="5" name="Slide Number Placeholder 4"/>
          <p:cNvSpPr>
            <a:spLocks noGrp="1"/>
          </p:cNvSpPr>
          <p:nvPr>
            <p:ph type="sldNum" sz="quarter" idx="12"/>
          </p:nvPr>
        </p:nvSpPr>
        <p:spPr/>
        <p:txBody>
          <a:bodyPr/>
          <a:lstStyle/>
          <a:p>
            <a:fld id="{9BB8EDE5-9AB5-4B4D-985A-2C24811CE893}" type="slidenum">
              <a:rPr lang="en-US" smtClean="0"/>
              <a:t>15</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mc:AlternateContent xmlns:mc="http://schemas.openxmlformats.org/markup-compatibility/2006" xmlns:p14="http://schemas.microsoft.com/office/powerpoint/2010/main">
        <mc:Choice Requires="p14">
          <p:contentPart p14:bwMode="auto" r:id="rId4">
            <p14:nvContentPartPr>
              <p14:cNvPr id="27" name="Ink 26"/>
              <p14:cNvContentPartPr/>
              <p14:nvPr/>
            </p14:nvContentPartPr>
            <p14:xfrm>
              <a:off x="4540044" y="2358176"/>
              <a:ext cx="360" cy="360"/>
            </p14:xfrm>
          </p:contentPart>
        </mc:Choice>
        <mc:Fallback xmlns="">
          <p:pic>
            <p:nvPicPr>
              <p:cNvPr id="27" name="Ink 26"/>
              <p:cNvPicPr/>
              <p:nvPr/>
            </p:nvPicPr>
            <p:blipFill>
              <a:blip r:embed="rId5"/>
              <a:stretch>
                <a:fillRect/>
              </a:stretch>
            </p:blipFill>
            <p:spPr>
              <a:xfrm>
                <a:off x="4533924" y="2352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p14:cNvContentPartPr/>
              <p14:nvPr/>
            </p14:nvContentPartPr>
            <p14:xfrm>
              <a:off x="10014564" y="3535016"/>
              <a:ext cx="360" cy="360"/>
            </p14:xfrm>
          </p:contentPart>
        </mc:Choice>
        <mc:Fallback xmlns="">
          <p:pic>
            <p:nvPicPr>
              <p:cNvPr id="43" name="Ink 42"/>
              <p:cNvPicPr/>
              <p:nvPr/>
            </p:nvPicPr>
            <p:blipFill>
              <a:blip r:embed="rId7"/>
              <a:stretch>
                <a:fillRect/>
              </a:stretch>
            </p:blipFill>
            <p:spPr>
              <a:xfrm>
                <a:off x="9993684" y="3514136"/>
                <a:ext cx="42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Ink 49"/>
              <p14:cNvContentPartPr/>
              <p14:nvPr/>
            </p14:nvContentPartPr>
            <p14:xfrm>
              <a:off x="1948044" y="3193736"/>
              <a:ext cx="360" cy="360"/>
            </p14:xfrm>
          </p:contentPart>
        </mc:Choice>
        <mc:Fallback xmlns="">
          <p:pic>
            <p:nvPicPr>
              <p:cNvPr id="50" name="Ink 49"/>
              <p:cNvPicPr/>
              <p:nvPr/>
            </p:nvPicPr>
            <p:blipFill>
              <a:blip r:embed="rId9"/>
              <a:stretch>
                <a:fillRect/>
              </a:stretch>
            </p:blipFill>
            <p:spPr>
              <a:xfrm>
                <a:off x="1941204" y="3186896"/>
                <a:ext cx="14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p14:cNvContentPartPr/>
              <p14:nvPr/>
            </p14:nvContentPartPr>
            <p14:xfrm>
              <a:off x="3195444" y="3127856"/>
              <a:ext cx="19800" cy="20160"/>
            </p14:xfrm>
          </p:contentPart>
        </mc:Choice>
        <mc:Fallback xmlns="">
          <p:pic>
            <p:nvPicPr>
              <p:cNvPr id="52" name="Ink 51"/>
              <p:cNvPicPr/>
              <p:nvPr/>
            </p:nvPicPr>
            <p:blipFill>
              <a:blip r:embed="rId11"/>
              <a:stretch>
                <a:fillRect/>
              </a:stretch>
            </p:blipFill>
            <p:spPr>
              <a:xfrm>
                <a:off x="3187524" y="3112736"/>
                <a:ext cx="43200" cy="44280"/>
              </a:xfrm>
              <a:prstGeom prst="rect">
                <a:avLst/>
              </a:prstGeom>
            </p:spPr>
          </p:pic>
        </mc:Fallback>
      </mc:AlternateContent>
    </p:spTree>
    <p:extLst>
      <p:ext uri="{BB962C8B-B14F-4D97-AF65-F5344CB8AC3E}">
        <p14:creationId xmlns:p14="http://schemas.microsoft.com/office/powerpoint/2010/main" val="15023003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r>
              <a:rPr lang="en-US" sz="3200" b="1" dirty="0"/>
              <a:t>Questions</a:t>
            </a:r>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482600" y="1055077"/>
            <a:ext cx="11461750" cy="5262196"/>
          </a:xfrm>
        </p:spPr>
        <p:txBody>
          <a:bodyPr>
            <a:normAutofit/>
          </a:bodyPr>
          <a:lstStyle/>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r>
              <a:rPr lang="en-US" b="1" dirty="0"/>
              <a:t>			Questions and Answers sessions</a:t>
            </a:r>
            <a:endParaRPr lang="en-US" dirty="0"/>
          </a:p>
        </p:txBody>
      </p:sp>
      <p:sp>
        <p:nvSpPr>
          <p:cNvPr id="4" name="Slide Number Placeholder 3"/>
          <p:cNvSpPr>
            <a:spLocks noGrp="1"/>
          </p:cNvSpPr>
          <p:nvPr>
            <p:ph type="sldNum" sz="quarter" idx="12"/>
          </p:nvPr>
        </p:nvSpPr>
        <p:spPr/>
        <p:txBody>
          <a:bodyPr/>
          <a:lstStyle/>
          <a:p>
            <a:fld id="{9BB8EDE5-9AB5-4B4D-985A-2C24811CE893}" type="slidenum">
              <a:rPr lang="en-US" smtClean="0"/>
              <a:t>16</a:t>
            </a:fld>
            <a:endParaRPr lang="en-US"/>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56350"/>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5963069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68FA9-1600-45D1-A6E5-8A4DE3D3BE5D}"/>
              </a:ext>
            </a:extLst>
          </p:cNvPr>
          <p:cNvSpPr>
            <a:spLocks noGrp="1"/>
          </p:cNvSpPr>
          <p:nvPr>
            <p:ph type="title"/>
          </p:nvPr>
        </p:nvSpPr>
        <p:spPr>
          <a:xfrm>
            <a:off x="838200" y="365126"/>
            <a:ext cx="10515600" cy="747238"/>
          </a:xfrm>
        </p:spPr>
        <p:txBody>
          <a:bodyPr>
            <a:normAutofit/>
          </a:bodyPr>
          <a:lstStyle/>
          <a:p>
            <a:pPr algn="ctr"/>
            <a:endParaRPr lang="en-US" sz="3200" b="1" dirty="0"/>
          </a:p>
        </p:txBody>
      </p:sp>
      <p:sp>
        <p:nvSpPr>
          <p:cNvPr id="3" name="Content Placeholder 2">
            <a:extLst>
              <a:ext uri="{FF2B5EF4-FFF2-40B4-BE49-F238E27FC236}">
                <a16:creationId xmlns="" xmlns:a16="http://schemas.microsoft.com/office/drawing/2014/main" id="{565AF10D-A9D7-42AD-A9CA-AFDA606E7C06}"/>
              </a:ext>
            </a:extLst>
          </p:cNvPr>
          <p:cNvSpPr>
            <a:spLocks noGrp="1"/>
          </p:cNvSpPr>
          <p:nvPr>
            <p:ph idx="1"/>
          </p:nvPr>
        </p:nvSpPr>
        <p:spPr>
          <a:xfrm>
            <a:off x="482600" y="1055077"/>
            <a:ext cx="11461750" cy="5262196"/>
          </a:xfrm>
        </p:spPr>
        <p:txBody>
          <a:bodyPr>
            <a:normAutofit/>
          </a:bodyPr>
          <a:lstStyle/>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a:p>
            <a:pPr marL="0" indent="0" fontAlgn="base">
              <a:buNone/>
            </a:pPr>
            <a:endParaRPr lang="en-US" b="1" dirty="0"/>
          </a:p>
        </p:txBody>
      </p:sp>
      <p:pic>
        <p:nvPicPr>
          <p:cNvPr id="9" name="Picture 8">
            <a:extLst>
              <a:ext uri="{FF2B5EF4-FFF2-40B4-BE49-F238E27FC236}">
                <a16:creationId xmlns="" xmlns:a16="http://schemas.microsoft.com/office/drawing/2014/main" id="{27BA220A-04FE-4CA5-AAB4-C050E821C4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0" y="2476500"/>
            <a:ext cx="6096000" cy="1905000"/>
          </a:xfrm>
          <a:prstGeom prst="rect">
            <a:avLst/>
          </a:prstGeom>
        </p:spPr>
      </p:pic>
      <p:sp>
        <p:nvSpPr>
          <p:cNvPr id="4" name="Slide Number Placeholder 3"/>
          <p:cNvSpPr>
            <a:spLocks noGrp="1"/>
          </p:cNvSpPr>
          <p:nvPr>
            <p:ph type="sldNum" sz="quarter" idx="12"/>
          </p:nvPr>
        </p:nvSpPr>
        <p:spPr/>
        <p:txBody>
          <a:bodyPr/>
          <a:lstStyle/>
          <a:p>
            <a:fld id="{9BB8EDE5-9AB5-4B4D-985A-2C24811CE893}" type="slidenum">
              <a:rPr lang="en-US" smtClean="0"/>
              <a:t>17</a:t>
            </a:fld>
            <a:endParaRPr lang="en-US"/>
          </a:p>
        </p:txBody>
      </p:sp>
      <p:pic>
        <p:nvPicPr>
          <p:cNvPr id="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58418" y="10300"/>
            <a:ext cx="1433581" cy="119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2">
            <a:extLst>
              <a:ext uri="{FF2B5EF4-FFF2-40B4-BE49-F238E27FC236}">
                <a16:creationId xmlns="" xmlns:a16="http://schemas.microsoft.com/office/drawing/2014/main" id="{FDF53A62-6603-4F1D-B7BE-046B394055AC}"/>
              </a:ext>
            </a:extLst>
          </p:cNvPr>
          <p:cNvSpPr>
            <a:spLocks noGrp="1"/>
          </p:cNvSpPr>
          <p:nvPr>
            <p:ph type="ftr" sz="quarter" idx="11"/>
          </p:nvPr>
        </p:nvSpPr>
        <p:spPr>
          <a:xfrm>
            <a:off x="1904377" y="6343225"/>
            <a:ext cx="9144000" cy="365125"/>
          </a:xfrm>
        </p:spPr>
        <p:txBody>
          <a:bodyPr/>
          <a:lstStyle/>
          <a:p>
            <a:endPar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Department </a:t>
            </a:r>
            <a:r>
              <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of </a:t>
            </a:r>
            <a:r>
              <a:rPr lang="en-US" sz="1600" dirty="0" smtClean="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rPr>
              <a:t>Creative Technologies, Air University, Pakistan</a:t>
            </a:r>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a:p>
            <a:endParaRPr lang="en-US" sz="1600" dirty="0">
              <a:ln>
                <a:gradFill>
                  <a:gsLst>
                    <a:gs pos="39079">
                      <a:schemeClr val="accent2"/>
                    </a:gs>
                    <a:gs pos="16280">
                      <a:srgbClr val="E6ECF7"/>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2"/>
              </a:solidFill>
            </a:endParaRPr>
          </a:p>
        </p:txBody>
      </p:sp>
    </p:spTree>
    <p:extLst>
      <p:ext uri="{BB962C8B-B14F-4D97-AF65-F5344CB8AC3E}">
        <p14:creationId xmlns:p14="http://schemas.microsoft.com/office/powerpoint/2010/main" val="306872812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2612</TotalTime>
  <Words>1670</Words>
  <Application>Microsoft Office PowerPoint</Application>
  <PresentationFormat>Custom</PresentationFormat>
  <Paragraphs>155</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Agenda</vt:lpstr>
      <vt:lpstr>Software Quality Standards</vt:lpstr>
      <vt:lpstr>Software Quality Standards</vt:lpstr>
      <vt:lpstr>Software Quality Standards</vt:lpstr>
      <vt:lpstr>Software Quality Standards</vt:lpstr>
      <vt:lpstr>Software Quality Standards</vt:lpstr>
      <vt:lpstr>Software Quality Standards</vt:lpstr>
      <vt:lpstr>Software Quality Standards</vt:lpstr>
      <vt:lpstr>Software Quality Standards</vt:lpstr>
      <vt:lpstr>Software Quality Standards</vt:lpstr>
      <vt:lpstr>Software Quality Standards</vt:lpstr>
      <vt:lpstr>Software Quality Standards</vt:lpstr>
      <vt:lpstr>Software Quality Standards</vt:lpstr>
      <vt:lpstr>Software Quality Standards</vt:lpstr>
      <vt:lpstr>Questions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Naseer Jan</dc:creator>
  <cp:lastModifiedBy>janna</cp:lastModifiedBy>
  <cp:revision>235</cp:revision>
  <dcterms:created xsi:type="dcterms:W3CDTF">2020-03-22T07:59:51Z</dcterms:created>
  <dcterms:modified xsi:type="dcterms:W3CDTF">2025-10-21T20:16:28Z</dcterms:modified>
</cp:coreProperties>
</file>
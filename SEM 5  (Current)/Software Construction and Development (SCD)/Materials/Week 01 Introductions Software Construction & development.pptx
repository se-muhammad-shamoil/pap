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0" r:id="rId1"/>
  </p:sldMasterIdLst>
  <p:notesMasterIdLst>
    <p:notesMasterId r:id="rId28"/>
  </p:notesMasterIdLst>
  <p:handoutMasterIdLst>
    <p:handoutMasterId r:id="rId29"/>
  </p:handoutMasterIdLst>
  <p:sldIdLst>
    <p:sldId id="256" r:id="rId2"/>
    <p:sldId id="308" r:id="rId3"/>
    <p:sldId id="319" r:id="rId4"/>
    <p:sldId id="309" r:id="rId5"/>
    <p:sldId id="258" r:id="rId6"/>
    <p:sldId id="315" r:id="rId7"/>
    <p:sldId id="310" r:id="rId8"/>
    <p:sldId id="297" r:id="rId9"/>
    <p:sldId id="320" r:id="rId10"/>
    <p:sldId id="321" r:id="rId11"/>
    <p:sldId id="322" r:id="rId12"/>
    <p:sldId id="336" r:id="rId13"/>
    <p:sldId id="323" r:id="rId14"/>
    <p:sldId id="324" r:id="rId15"/>
    <p:sldId id="325" r:id="rId16"/>
    <p:sldId id="326" r:id="rId17"/>
    <p:sldId id="327" r:id="rId18"/>
    <p:sldId id="328" r:id="rId19"/>
    <p:sldId id="335" r:id="rId20"/>
    <p:sldId id="330" r:id="rId21"/>
    <p:sldId id="331" r:id="rId22"/>
    <p:sldId id="270" r:id="rId23"/>
    <p:sldId id="332" r:id="rId24"/>
    <p:sldId id="333" r:id="rId25"/>
    <p:sldId id="334" r:id="rId26"/>
    <p:sldId id="313" r:id="rId27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E743D03-5BBA-44B0-A4E6-E48149041E6D}">
          <p14:sldIdLst>
            <p14:sldId id="256"/>
            <p14:sldId id="308"/>
            <p14:sldId id="319"/>
            <p14:sldId id="309"/>
            <p14:sldId id="258"/>
            <p14:sldId id="315"/>
            <p14:sldId id="310"/>
            <p14:sldId id="297"/>
            <p14:sldId id="320"/>
            <p14:sldId id="321"/>
            <p14:sldId id="322"/>
            <p14:sldId id="336"/>
            <p14:sldId id="323"/>
            <p14:sldId id="324"/>
            <p14:sldId id="325"/>
            <p14:sldId id="326"/>
            <p14:sldId id="327"/>
            <p14:sldId id="328"/>
            <p14:sldId id="335"/>
            <p14:sldId id="330"/>
            <p14:sldId id="331"/>
            <p14:sldId id="270"/>
            <p14:sldId id="332"/>
            <p14:sldId id="333"/>
            <p14:sldId id="334"/>
            <p14:sldId id="313"/>
          </p14:sldIdLst>
        </p14:section>
        <p14:section name="Default Section" id="{05EB5DF3-27C8-4CE3-8DE7-A34807EBCD1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 autoAdjust="0"/>
    <p:restoredTop sz="94709" autoAdjust="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F8751-8426-4E45-B653-996E53C24DF5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A0FD4-BBB1-4631-B792-13542183C7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484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F20A2-F648-49B6-B583-961A9B9E9422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C50C1-00A3-4435-BCEA-4901BC54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194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63FB-4DD9-4903-83FE-F80270576417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08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FA81-FF35-40E2-AA6F-C4E4697E2C73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3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8B4E-9E6D-47DB-A8C9-443A66B04FA1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24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D187-3CAF-4EEB-B511-D277A7E40C82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2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EB82-3297-42CA-9AC7-D3ECF198E013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3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8733-E273-4EF3-8143-57B6AA49A592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80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16BD8-1159-4CEE-BF69-08E8DE6F04D4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65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355B0FE-4AC0-4D7B-83B1-A18CD9CB8AEE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4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F497-D16F-472A-8AB2-6923D245D09D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1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3EED-3DA2-4ED4-9C83-CEA1A9E43AAB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4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ADCE-E054-4FA0-B715-AC4537BA8B51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2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6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406767"/>
            <a:ext cx="8382000" cy="110661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Construction &amp;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3574319"/>
            <a:ext cx="7772400" cy="6096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286000" y="4953000"/>
            <a:ext cx="6165850" cy="121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Mr. Sharif Hussain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Office: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C-Block  5</a:t>
            </a:r>
            <a:r>
              <a:rPr lang="en-US" sz="28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Floor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86000" y="2682193"/>
            <a:ext cx="7772400" cy="540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Week-1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981200" y="1729095"/>
            <a:ext cx="8382000" cy="8147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 - 2025</a:t>
            </a:r>
          </a:p>
        </p:txBody>
      </p:sp>
    </p:spTree>
    <p:extLst>
      <p:ext uri="{BB962C8B-B14F-4D97-AF65-F5344CB8AC3E}">
        <p14:creationId xmlns:p14="http://schemas.microsoft.com/office/powerpoint/2010/main" val="2072567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322" y="286603"/>
            <a:ext cx="10534358" cy="93259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322" y="1905000"/>
            <a:ext cx="10961077" cy="42672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Introduction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What is Software Construction &amp; development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Importance of Software Construction &amp; development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Key points of Software Construction &amp; development</a:t>
            </a:r>
            <a:endParaRPr lang="en-US" sz="2800" dirty="0">
              <a:latin typeface="+mj-lt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SWEBOK Guide (2004 Edition)</a:t>
            </a:r>
          </a:p>
          <a:p>
            <a:pPr lvl="1"/>
            <a:r>
              <a:rPr lang="en-US" sz="2400" dirty="0"/>
              <a:t>Fundamentals of Software Construction development</a:t>
            </a:r>
          </a:p>
          <a:p>
            <a:pPr lvl="1"/>
            <a:r>
              <a:rPr lang="en-US" sz="2400" dirty="0"/>
              <a:t>Software Construction &amp; development Management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3402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322" y="286603"/>
            <a:ext cx="10534358" cy="93259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322" y="1905000"/>
            <a:ext cx="10961077" cy="42672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Notebook/Register: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a notebook or register for class notes.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Participation: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 participation is encouraged.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 Phones: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 them on silent or turn them off.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Attendance: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minimum of 75% attendance is required (no exceptions).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Punctuality: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Arrive on time for class.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Clarifications: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you do not understand a point, ask me to explain or visit during office hours.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Classroom Conduct: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disturbances or misconduct will be tolerated.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Remember: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first priority must be your studies.</a:t>
            </a:r>
          </a:p>
        </p:txBody>
      </p:sp>
    </p:spTree>
    <p:extLst>
      <p:ext uri="{BB962C8B-B14F-4D97-AF65-F5344CB8AC3E}">
        <p14:creationId xmlns:p14="http://schemas.microsoft.com/office/powerpoint/2010/main" val="2720615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Course</a:t>
            </a:r>
            <a:r>
              <a:rPr lang="en-US" b="1" dirty="0">
                <a:latin typeface="Calibri (Body)"/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33600"/>
            <a:ext cx="10713720" cy="3810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Calibri (Body)"/>
              </a:rPr>
              <a:t>Understand software construction within </a:t>
            </a:r>
            <a:r>
              <a:rPr lang="en-US" sz="2400" b="1" dirty="0">
                <a:latin typeface="Calibri (Body)"/>
              </a:rPr>
              <a:t>SDLC</a:t>
            </a:r>
            <a:r>
              <a:rPr lang="en-US" sz="2400" dirty="0">
                <a:latin typeface="Calibri (Body)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Calibri (Body)"/>
              </a:rPr>
              <a:t>Implement solutions using </a:t>
            </a:r>
            <a:r>
              <a:rPr lang="en-US" sz="2400" b="1" dirty="0">
                <a:latin typeface="Calibri (Body)"/>
              </a:rPr>
              <a:t>Java</a:t>
            </a:r>
            <a:r>
              <a:rPr lang="en-US" sz="2400" dirty="0">
                <a:latin typeface="Calibri (Body)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Calibri (Body)"/>
              </a:rPr>
              <a:t>Design and model with </a:t>
            </a:r>
            <a:r>
              <a:rPr lang="en-US" sz="2400" b="1" dirty="0">
                <a:latin typeface="Calibri (Body)"/>
              </a:rPr>
              <a:t>UML</a:t>
            </a:r>
            <a:r>
              <a:rPr lang="en-US" sz="2400" dirty="0">
                <a:latin typeface="Calibri (Body)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Calibri (Body)"/>
              </a:rPr>
              <a:t>Apply testing using </a:t>
            </a:r>
            <a:r>
              <a:rPr lang="en-US" sz="2400" b="1" dirty="0">
                <a:latin typeface="Calibri (Body)"/>
              </a:rPr>
              <a:t>JUnit, </a:t>
            </a:r>
            <a:r>
              <a:rPr lang="en-US" sz="2400" b="1" dirty="0" err="1">
                <a:latin typeface="Calibri (Body)"/>
              </a:rPr>
              <a:t>TestNG</a:t>
            </a:r>
            <a:r>
              <a:rPr lang="en-US" sz="2400" b="1" dirty="0">
                <a:latin typeface="Calibri (Body)"/>
              </a:rPr>
              <a:t>, </a:t>
            </a:r>
            <a:r>
              <a:rPr lang="en-US" sz="2400" b="1" dirty="0" err="1">
                <a:latin typeface="Calibri (Body)"/>
              </a:rPr>
              <a:t>Mockito</a:t>
            </a:r>
            <a:r>
              <a:rPr lang="en-US" sz="2400" b="1" dirty="0">
                <a:latin typeface="Calibri (Body)"/>
              </a:rPr>
              <a:t>, Selenium</a:t>
            </a:r>
            <a:r>
              <a:rPr lang="en-US" sz="2400" dirty="0">
                <a:latin typeface="Calibri (Body)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Calibri (Body)"/>
              </a:rPr>
              <a:t>Use </a:t>
            </a:r>
            <a:r>
              <a:rPr lang="en-US" sz="2400" b="1" dirty="0">
                <a:latin typeface="Calibri (Body)"/>
              </a:rPr>
              <a:t>Maven/</a:t>
            </a:r>
            <a:r>
              <a:rPr lang="en-US" sz="2400" b="1" dirty="0" err="1">
                <a:latin typeface="Calibri (Body)"/>
              </a:rPr>
              <a:t>Gradle</a:t>
            </a:r>
            <a:r>
              <a:rPr lang="en-US" sz="2400" dirty="0">
                <a:latin typeface="Calibri (Body)"/>
              </a:rPr>
              <a:t> for builds and dependency management.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Calibri (Body)"/>
              </a:rPr>
              <a:t>Follow industry standards and </a:t>
            </a:r>
            <a:r>
              <a:rPr lang="en-US" sz="2400" b="1" dirty="0">
                <a:latin typeface="Calibri (Body)"/>
              </a:rPr>
              <a:t>SWEBOK guidelines</a:t>
            </a:r>
            <a:r>
              <a:rPr lang="en-US" sz="2400" dirty="0">
                <a:latin typeface="Calibri (Body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2449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381000"/>
            <a:ext cx="9982200" cy="762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Course Assessment/Grading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19200" y="3962400"/>
            <a:ext cx="9160412" cy="2286000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rgbClr val="FF0000"/>
                </a:solidFill>
                <a:latin typeface="Arial (Body)"/>
              </a:rPr>
              <a:t>Follow the formatting guidelines provided in the course handbook for all assignments.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rgbClr val="FF0000"/>
                </a:solidFill>
                <a:latin typeface="Arial (Body)"/>
              </a:rPr>
              <a:t>Submit all assignments in hard copy.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rgbClr val="FF0000"/>
                </a:solidFill>
                <a:latin typeface="Arial (Body)"/>
              </a:rPr>
              <a:t>No credit will be given for copied or late submissions.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rgbClr val="FF0000"/>
                </a:solidFill>
                <a:latin typeface="Arial (Body)"/>
              </a:rPr>
              <a:t>Cheating in any quiz or exam will result in strict consequences, with no leniency.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rgbClr val="FF0000"/>
                </a:solidFill>
                <a:latin typeface="Arial (Body)"/>
              </a:rPr>
              <a:t>Missed quizzes on the announced date cannot be retaken.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rgbClr val="FF0000"/>
                </a:solidFill>
                <a:latin typeface="Arial (Body)"/>
              </a:rPr>
              <a:t>To achieve a good grade, attend all lectures and perform well in all course assessments.</a:t>
            </a: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/>
        </p:nvGraphicFramePr>
        <p:xfrm>
          <a:off x="1219200" y="1365738"/>
          <a:ext cx="9982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5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272">
                  <a:extLst>
                    <a:ext uri="{9D8B030D-6E8A-4147-A177-3AD203B41FA5}">
                      <a16:colId xmlns:a16="http://schemas.microsoft.com/office/drawing/2014/main" val="3044669600"/>
                    </a:ext>
                  </a:extLst>
                </a:gridCol>
                <a:gridCol w="3234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lang="en-US" dirty="0"/>
                        <a:t>Component </a:t>
                      </a:r>
                    </a:p>
                  </a:txBody>
                  <a:tcPr marL="102870" marR="10287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Numbers</a:t>
                      </a:r>
                    </a:p>
                  </a:txBody>
                  <a:tcPr marL="102870" marR="10287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Weightage</a:t>
                      </a:r>
                    </a:p>
                  </a:txBody>
                  <a:tcPr marL="102870" marR="10287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dirty="0"/>
                        <a:t>Assignments</a:t>
                      </a:r>
                    </a:p>
                  </a:txBody>
                  <a:tcPr marL="102870" marR="10287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4 - 6</a:t>
                      </a:r>
                    </a:p>
                  </a:txBody>
                  <a:tcPr marL="102870" marR="10287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</a:p>
                  </a:txBody>
                  <a:tcPr marL="102870" marR="10287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dirty="0"/>
                        <a:t>Quizzes</a:t>
                      </a:r>
                    </a:p>
                  </a:txBody>
                  <a:tcPr marL="102870" marR="10287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4 - 6</a:t>
                      </a:r>
                    </a:p>
                  </a:txBody>
                  <a:tcPr marL="102870" marR="10287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</a:p>
                  </a:txBody>
                  <a:tcPr marL="102870" marR="10287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Class Participation / Presentation</a:t>
                      </a:r>
                    </a:p>
                  </a:txBody>
                  <a:tcPr marL="102870" marR="10287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02870" marR="10287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</a:p>
                  </a:txBody>
                  <a:tcPr marL="102870" marR="102870"/>
                </a:tc>
                <a:extLst>
                  <a:ext uri="{0D108BD9-81ED-4DB2-BD59-A6C34878D82A}">
                    <a16:rowId xmlns:a16="http://schemas.microsoft.com/office/drawing/2014/main" val="254922376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dirty="0"/>
                        <a:t>Midterm</a:t>
                      </a:r>
                    </a:p>
                  </a:txBody>
                  <a:tcPr marL="102870" marR="10287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02870" marR="10287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25%</a:t>
                      </a:r>
                    </a:p>
                  </a:txBody>
                  <a:tcPr marL="102870" marR="10287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Final</a:t>
                      </a:r>
                    </a:p>
                  </a:txBody>
                  <a:tcPr marL="102870" marR="10287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</a:t>
                      </a:r>
                    </a:p>
                  </a:txBody>
                  <a:tcPr marL="102870" marR="10287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45%</a:t>
                      </a:r>
                    </a:p>
                  </a:txBody>
                  <a:tcPr marL="102870" marR="10287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Total </a:t>
                      </a:r>
                    </a:p>
                  </a:txBody>
                  <a:tcPr marL="102870" marR="10287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102870" marR="10287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100</a:t>
                      </a:r>
                    </a:p>
                  </a:txBody>
                  <a:tcPr marL="102870" marR="10287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503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774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1000"/>
            <a:ext cx="10317480" cy="1008797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Course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81199"/>
            <a:ext cx="10317480" cy="4406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 mention in course outlines.</a:t>
            </a:r>
          </a:p>
        </p:txBody>
      </p:sp>
    </p:spTree>
    <p:extLst>
      <p:ext uri="{BB962C8B-B14F-4D97-AF65-F5344CB8AC3E}">
        <p14:creationId xmlns:p14="http://schemas.microsoft.com/office/powerpoint/2010/main" val="2352984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939800" y="1447800"/>
            <a:ext cx="10464800" cy="107383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Week-1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9800" y="4343400"/>
            <a:ext cx="10464800" cy="190500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Construction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1157681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603"/>
            <a:ext cx="110490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Software Development &amp; Construction (SDC)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Construction is the work “construction workers” do when they build a house, a school, or a skyscraper.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In common usage, construction refers to the </a:t>
            </a:r>
            <a:r>
              <a:rPr lang="en-US" sz="2400" b="1" dirty="0"/>
              <a:t>process of building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The </a:t>
            </a:r>
            <a:r>
              <a:rPr lang="en-US" sz="2400" b="1" i="1" dirty="0"/>
              <a:t>construction</a:t>
            </a:r>
            <a:r>
              <a:rPr lang="en-US" sz="2400" dirty="0"/>
              <a:t> process might include some aspects of planning, designing, and checking the work, but mostly construction refers to the hands-on part of </a:t>
            </a:r>
            <a:r>
              <a:rPr lang="en-US" sz="2400" b="1" i="1" dirty="0"/>
              <a:t>creating something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4343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04800"/>
            <a:ext cx="11353800" cy="122215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Software Construction &amp; development (SDC)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845734"/>
            <a:ext cx="9906000" cy="4023360"/>
          </a:xfrm>
        </p:spPr>
        <p:txBody>
          <a:bodyPr>
            <a:normAutofit/>
          </a:bodyPr>
          <a:lstStyle/>
          <a:p>
            <a:pPr marL="342900" lvl="1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/>
              <a:t>Software construction is a software engineering discipline.</a:t>
            </a:r>
          </a:p>
          <a:p>
            <a:pPr marL="342900" lvl="1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/>
              <a:t>It is detailed creation of working, meaningful software through a combination of coding, verification, unit testing, integration testing, and debugging.</a:t>
            </a:r>
          </a:p>
        </p:txBody>
      </p:sp>
    </p:spTree>
    <p:extLst>
      <p:ext uri="{BB962C8B-B14F-4D97-AF65-F5344CB8AC3E}">
        <p14:creationId xmlns:p14="http://schemas.microsoft.com/office/powerpoint/2010/main" val="2037118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60544"/>
            <a:ext cx="11353800" cy="1450757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Software Construction &amp; development process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5"/>
          <a:stretch/>
        </p:blipFill>
        <p:spPr bwMode="auto">
          <a:xfrm>
            <a:off x="3053888" y="1752600"/>
            <a:ext cx="6145184" cy="4406790"/>
          </a:xfrm>
          <a:prstGeom prst="snip2Same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7925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111252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Software Construction &amp; development process (Cont.)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A5BD64-4087-9BE9-6254-203F7F7C1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Problem Definition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First, clearly understand what problem needs to be solved.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Requirements Development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Then, gather and define what the software should do.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Software Architecture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Next, design the overall structure (the "blueprint") of the software.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Detailed Design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After that, design each small part in detail.</a:t>
            </a:r>
          </a:p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Construction Planning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Make a plan for coding (who will do what, tools, schedule).</a:t>
            </a:r>
          </a:p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Coding and Debugging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Write the actual code and fix errors.</a:t>
            </a:r>
          </a:p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Unit Testing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Test each small piece (unit/module) separately.</a:t>
            </a:r>
          </a:p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Integration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Combine all parts/modules together.</a:t>
            </a:r>
          </a:p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Integration Testing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Test whether the combined modules work together correctly.</a:t>
            </a:r>
          </a:p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System Testing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Test the entire system as a whole.</a:t>
            </a:r>
          </a:p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Corrective Maintenance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Finally, after release, fix errors and make improvements when users face issues.</a:t>
            </a:r>
          </a:p>
        </p:txBody>
      </p:sp>
    </p:spTree>
    <p:extLst>
      <p:ext uri="{BB962C8B-B14F-4D97-AF65-F5344CB8AC3E}">
        <p14:creationId xmlns:p14="http://schemas.microsoft.com/office/powerpoint/2010/main" val="2690817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3D569-89F4-A215-682C-843424E1C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583F4-1941-2789-3D62-C40F3F830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52400"/>
            <a:ext cx="111252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SDC Specific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AFC18-72A8-416D-2BB9-8CFF46A9C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52600"/>
            <a:ext cx="10439400" cy="402336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3200" dirty="0"/>
              <a:t>Some of the specific tasks involved in construction are: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/>
              <a:t>Verifying that the groundwork has been laid so that construction can proceed successfully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/>
              <a:t>Determining how your code will be tested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/>
              <a:t>Designing and writing classes and routines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/>
              <a:t>Creating and naming variables and named constants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/>
              <a:t>Selecting control structures and organizing blocks of statements</a:t>
            </a:r>
          </a:p>
        </p:txBody>
      </p:sp>
    </p:spTree>
    <p:extLst>
      <p:ext uri="{BB962C8B-B14F-4D97-AF65-F5344CB8AC3E}">
        <p14:creationId xmlns:p14="http://schemas.microsoft.com/office/powerpoint/2010/main" val="1532778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111252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SDC Specific tasks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52600"/>
            <a:ext cx="10058400" cy="402336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600" dirty="0"/>
              <a:t>Some of the specific tasks involved in construction are: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Selecting control structures and organizing blocks of statements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Unit testing, integration testing, and debugging your own code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Reviewing other team members’ low-level designs and code and having them review yours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Polishing code by carefully formatting and commenting it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Integrating software components that were created separately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Tuning code to make it faster and use fewer resources</a:t>
            </a:r>
          </a:p>
        </p:txBody>
      </p:sp>
    </p:spTree>
    <p:extLst>
      <p:ext uri="{BB962C8B-B14F-4D97-AF65-F5344CB8AC3E}">
        <p14:creationId xmlns:p14="http://schemas.microsoft.com/office/powerpoint/2010/main" val="416728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SDC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800" dirty="0"/>
              <a:t>Construction is also sometimes known as “coding” or “programming.” Do you think both these words correctly portray the term construction?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98173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Importance of SDC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Software Construction is an important part of software development because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Construction is a large part of software development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Construction is the central activity in software development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With a focus on construction, the individual programmer’s productivity can improve enormously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Construction’s product, the source code, is often the only accurate description of the software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Construction is the only activity that’s guaranteed to be done</a:t>
            </a:r>
          </a:p>
        </p:txBody>
      </p:sp>
    </p:spTree>
    <p:extLst>
      <p:ext uri="{BB962C8B-B14F-4D97-AF65-F5344CB8AC3E}">
        <p14:creationId xmlns:p14="http://schemas.microsoft.com/office/powerpoint/2010/main" val="525889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SWEBOK Guide (2004 Edition)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600" dirty="0"/>
              <a:t>According to the SWEBOK (</a:t>
            </a:r>
            <a:r>
              <a:rPr lang="en-GB" sz="2600" dirty="0"/>
              <a:t>Software Engineering Body of Knowledge) </a:t>
            </a:r>
            <a:r>
              <a:rPr lang="en-US" sz="2600" dirty="0"/>
              <a:t> CH#3, the basic fundamentals of Software construction are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Minimizing Complexity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Anticipating Change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Constructing for Verification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Reuse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Standards in Verification</a:t>
            </a:r>
          </a:p>
        </p:txBody>
      </p:sp>
    </p:spTree>
    <p:extLst>
      <p:ext uri="{BB962C8B-B14F-4D97-AF65-F5344CB8AC3E}">
        <p14:creationId xmlns:p14="http://schemas.microsoft.com/office/powerpoint/2010/main" val="379311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Minimizing</a:t>
            </a:r>
            <a:r>
              <a:rPr lang="en-US" dirty="0"/>
              <a:t> </a:t>
            </a:r>
            <a:r>
              <a:rPr lang="en-US" sz="4500" dirty="0">
                <a:solidFill>
                  <a:srgbClr val="C00000"/>
                </a:solidFill>
              </a:rPr>
              <a:t>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500" dirty="0">
                <a:solidFill>
                  <a:schemeClr val="tx1"/>
                </a:solidFill>
                <a:latin typeface="Calibri (Body)"/>
              </a:rPr>
              <a:t>Keep the software simple so it’s easier to understand, test, and maintain.</a:t>
            </a:r>
            <a:br>
              <a:rPr lang="en-US" altLang="en-US" sz="2500" dirty="0">
                <a:solidFill>
                  <a:schemeClr val="tx1"/>
                </a:solidFill>
                <a:latin typeface="Calibri (Body)"/>
              </a:rPr>
            </a:br>
            <a:r>
              <a:rPr lang="en-US" altLang="en-US" sz="2800" b="1" i="1" spc="-50" dirty="0">
                <a:solidFill>
                  <a:srgbClr val="C00000"/>
                </a:solidFill>
                <a:latin typeface="Calibri (Body)"/>
                <a:ea typeface="+mj-ea"/>
                <a:cs typeface="+mj-cs"/>
              </a:rPr>
              <a:t>Example: </a:t>
            </a:r>
            <a:r>
              <a:rPr lang="en-US" altLang="en-US" sz="2500" dirty="0">
                <a:solidFill>
                  <a:schemeClr val="tx1"/>
                </a:solidFill>
                <a:latin typeface="Calibri (Body)"/>
              </a:rPr>
              <a:t>Instead of writing one long method with 200 lines, break it into smaller methods like </a:t>
            </a:r>
            <a:r>
              <a:rPr lang="en-US" altLang="en-US" sz="2500" dirty="0" err="1">
                <a:solidFill>
                  <a:schemeClr val="tx1"/>
                </a:solidFill>
                <a:latin typeface="Consolas" panose="020B0609020204030204" pitchFamily="49" charset="0"/>
              </a:rPr>
              <a:t>calculateTax</a:t>
            </a:r>
            <a:r>
              <a:rPr lang="en-US" altLang="en-US" sz="2500" dirty="0">
                <a:solidFill>
                  <a:schemeClr val="tx1"/>
                </a:solidFill>
                <a:latin typeface="Consolas" panose="020B0609020204030204" pitchFamily="49" charset="0"/>
              </a:rPr>
              <a:t>(), </a:t>
            </a:r>
            <a:r>
              <a:rPr lang="en-US" altLang="en-US" sz="2500" dirty="0" err="1">
                <a:solidFill>
                  <a:schemeClr val="tx1"/>
                </a:solidFill>
                <a:latin typeface="Consolas" panose="020B0609020204030204" pitchFamily="49" charset="0"/>
              </a:rPr>
              <a:t>applyDiscount</a:t>
            </a:r>
            <a:r>
              <a:rPr lang="en-US" altLang="en-US" sz="2500" dirty="0">
                <a:solidFill>
                  <a:schemeClr val="tx1"/>
                </a:solidFill>
                <a:latin typeface="Consolas" panose="020B0609020204030204" pitchFamily="49" charset="0"/>
              </a:rPr>
              <a:t>(), and </a:t>
            </a:r>
            <a:r>
              <a:rPr lang="en-US" altLang="en-US" sz="25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printBill</a:t>
            </a:r>
            <a:r>
              <a:rPr lang="en-US" altLang="en-US" sz="2500" dirty="0">
                <a:solidFill>
                  <a:schemeClr val="tx1"/>
                </a:solidFill>
                <a:latin typeface="Consolas" panose="020B0609020204030204" pitchFamily="49" charset="0"/>
              </a:rPr>
              <a:t>().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500" dirty="0">
                <a:solidFill>
                  <a:schemeClr val="tx1"/>
                </a:solidFill>
                <a:latin typeface="Calibri (Body)"/>
              </a:rPr>
              <a:t>This makes it easier for another programmer to follow. </a:t>
            </a:r>
          </a:p>
        </p:txBody>
      </p:sp>
    </p:spTree>
    <p:extLst>
      <p:ext uri="{BB962C8B-B14F-4D97-AF65-F5344CB8AC3E}">
        <p14:creationId xmlns:p14="http://schemas.microsoft.com/office/powerpoint/2010/main" val="2541948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500" dirty="0">
                <a:solidFill>
                  <a:srgbClr val="C00000"/>
                </a:solidFill>
              </a:rPr>
              <a:t>Anticipating</a:t>
            </a:r>
            <a:r>
              <a:rPr lang="en-US" altLang="en-US" sz="44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4500" dirty="0">
                <a:solidFill>
                  <a:srgbClr val="C00000"/>
                </a:solidFill>
              </a:rPr>
              <a:t>Change</a:t>
            </a:r>
            <a:endParaRPr lang="en-US" sz="4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800" dirty="0">
                <a:solidFill>
                  <a:schemeClr val="tx1"/>
                </a:solidFill>
                <a:latin typeface="Calibri (Body)"/>
              </a:rPr>
              <a:t>Write code in a way that allows easy changes in the future.</a:t>
            </a:r>
            <a:br>
              <a:rPr lang="en-US" altLang="en-US" sz="2800" dirty="0">
                <a:solidFill>
                  <a:schemeClr val="tx1"/>
                </a:solidFill>
                <a:latin typeface="Calibri (Body)"/>
              </a:rPr>
            </a:br>
            <a:r>
              <a:rPr lang="en-US" altLang="en-US" sz="2800" b="1" dirty="0">
                <a:solidFill>
                  <a:schemeClr val="tx1"/>
                </a:solidFill>
                <a:latin typeface="Calibri (Body)"/>
              </a:rPr>
              <a:t>Example</a:t>
            </a:r>
            <a:r>
              <a:rPr lang="en-US" altLang="en-US" sz="2800" dirty="0">
                <a:solidFill>
                  <a:schemeClr val="tx1"/>
                </a:solidFill>
                <a:latin typeface="Calibri (Body)"/>
              </a:rPr>
              <a:t>: If you are building an </a:t>
            </a:r>
            <a:r>
              <a:rPr lang="en-US" altLang="en-US" sz="2800" b="1" dirty="0">
                <a:solidFill>
                  <a:schemeClr val="tx1"/>
                </a:solidFill>
                <a:latin typeface="Calibri (Body)"/>
              </a:rPr>
              <a:t>e-commerce app</a:t>
            </a:r>
            <a:r>
              <a:rPr lang="en-US" altLang="en-US" sz="2800" dirty="0">
                <a:solidFill>
                  <a:schemeClr val="tx1"/>
                </a:solidFill>
                <a:latin typeface="Calibri (Body)"/>
              </a:rPr>
              <a:t>, don’t hardcode the tax rate as 0.05. Instead, store it in a configuration file or database. If the tax changes, you won’t need to edit the code—just update the </a:t>
            </a:r>
            <a:r>
              <a:rPr lang="en-US" altLang="en-US" sz="2800" dirty="0" err="1">
                <a:solidFill>
                  <a:schemeClr val="tx1"/>
                </a:solidFill>
                <a:latin typeface="Calibri (Body)"/>
              </a:rPr>
              <a:t>config</a:t>
            </a:r>
            <a:r>
              <a:rPr lang="en-US" altLang="en-US" sz="2800" dirty="0">
                <a:solidFill>
                  <a:schemeClr val="tx1"/>
                </a:solidFill>
                <a:latin typeface="Calibri (Body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5954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52561-18B9-3A53-C841-EA9EAC90A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6413D-0714-FD13-6753-FA0E7DB60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500" dirty="0">
                <a:solidFill>
                  <a:srgbClr val="C00000"/>
                </a:solidFill>
              </a:rPr>
              <a:t>Constructing for Verification</a:t>
            </a:r>
            <a:endParaRPr lang="en-US" sz="4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8F6C4-8F8D-8628-4D8B-68AF3CC48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800" dirty="0">
                <a:solidFill>
                  <a:schemeClr val="tx1"/>
                </a:solidFill>
                <a:latin typeface="Calibri (Body)"/>
              </a:rPr>
              <a:t>Write code that is simple to check.</a:t>
            </a:r>
            <a:br>
              <a:rPr lang="en-US" altLang="en-US" sz="2800" dirty="0">
                <a:solidFill>
                  <a:schemeClr val="tx1"/>
                </a:solidFill>
                <a:latin typeface="Calibri (Body)"/>
              </a:rPr>
            </a:br>
            <a:r>
              <a:rPr lang="en-US" altLang="en-US" sz="2800" b="1" i="1" dirty="0">
                <a:solidFill>
                  <a:schemeClr val="tx1"/>
                </a:solidFill>
                <a:latin typeface="Calibri (Body)"/>
              </a:rPr>
              <a:t>Example:</a:t>
            </a:r>
            <a:r>
              <a:rPr lang="en-US" altLang="en-US" sz="2800" dirty="0">
                <a:solidFill>
                  <a:schemeClr val="tx1"/>
                </a:solidFill>
                <a:latin typeface="Calibri (Body)"/>
              </a:rPr>
              <a:t> A function </a:t>
            </a:r>
            <a:r>
              <a:rPr lang="en-US" altLang="en-US" sz="2800" dirty="0" err="1">
                <a:solidFill>
                  <a:schemeClr val="tx1"/>
                </a:solidFill>
                <a:latin typeface="Consolas" panose="020B0609020204030204" pitchFamily="49" charset="0"/>
              </a:rPr>
              <a:t>calculateInterest</a:t>
            </a:r>
            <a:r>
              <a:rPr lang="en-US" alt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(amount, rate) </a:t>
            </a:r>
            <a:r>
              <a:rPr lang="en-US" altLang="en-US" sz="2800" dirty="0">
                <a:solidFill>
                  <a:schemeClr val="tx1"/>
                </a:solidFill>
                <a:latin typeface="Calibri (Body)"/>
              </a:rPr>
              <a:t>should give the answer directly (e.g., 1000, 10% → 100) without using hidden values.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en-US" sz="2800" dirty="0">
              <a:solidFill>
                <a:schemeClr val="tx1"/>
              </a:solidFill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978062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Calibri (Body)"/>
              </a:rPr>
              <a:t>Don’t reinvent the wheel—reuse existing code, libraries, or components.</a:t>
            </a:r>
            <a:br>
              <a:rPr lang="en-US" sz="2800" dirty="0">
                <a:latin typeface="Calibri (Body)"/>
              </a:rPr>
            </a:br>
            <a:r>
              <a:rPr lang="en-US" sz="2800" b="1" dirty="0">
                <a:latin typeface="Calibri (Body)"/>
              </a:rPr>
              <a:t>Example</a:t>
            </a:r>
            <a:r>
              <a:rPr lang="en-US" sz="2800" dirty="0">
                <a:latin typeface="Calibri (Body)"/>
              </a:rPr>
              <a:t>: Instead of writing your own login system, use a ready-made authentication library like </a:t>
            </a:r>
            <a:r>
              <a:rPr lang="en-US" sz="2800" b="1" i="1" dirty="0">
                <a:latin typeface="Consolas" panose="020B0609020204030204" pitchFamily="49" charset="0"/>
              </a:rPr>
              <a:t>Spring Security</a:t>
            </a:r>
            <a:r>
              <a:rPr lang="en-US" sz="2800" i="1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latin typeface="Calibri (Body)"/>
              </a:rPr>
              <a:t>in Java. This saves time and reduces bugs.</a:t>
            </a:r>
          </a:p>
        </p:txBody>
      </p:sp>
    </p:spTree>
    <p:extLst>
      <p:ext uri="{BB962C8B-B14F-4D97-AF65-F5344CB8AC3E}">
        <p14:creationId xmlns:p14="http://schemas.microsoft.com/office/powerpoint/2010/main" val="1296420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Standards 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Calibri (Body)"/>
              </a:rPr>
              <a:t>Follow coding and testing standards so that everyone works in the same way.</a:t>
            </a:r>
            <a:br>
              <a:rPr lang="en-US" sz="2800" dirty="0">
                <a:latin typeface="Calibri (Body)"/>
              </a:rPr>
            </a:br>
            <a:r>
              <a:rPr lang="en-US" sz="2800" b="1" dirty="0">
                <a:latin typeface="Calibri (Body)"/>
              </a:rPr>
              <a:t>Example</a:t>
            </a:r>
            <a:r>
              <a:rPr lang="en-US" sz="2800" dirty="0">
                <a:latin typeface="Calibri (Body)"/>
              </a:rPr>
              <a:t>: Always write </a:t>
            </a:r>
            <a:r>
              <a:rPr lang="en-US" sz="2800" b="1" dirty="0">
                <a:latin typeface="Calibri (Body)"/>
              </a:rPr>
              <a:t>unit tests</a:t>
            </a:r>
            <a:r>
              <a:rPr lang="en-US" sz="2800" dirty="0">
                <a:latin typeface="Calibri (Body)"/>
              </a:rPr>
              <a:t> (using JUnit) before merging code, follow </a:t>
            </a:r>
            <a:r>
              <a:rPr lang="en-US" sz="2800" b="1" dirty="0">
                <a:latin typeface="Calibri (Body)"/>
              </a:rPr>
              <a:t>naming conventions</a:t>
            </a:r>
            <a:r>
              <a:rPr lang="en-US" sz="2800" dirty="0">
                <a:latin typeface="Calibri (Body)"/>
              </a:rPr>
              <a:t>, and use tools like </a:t>
            </a:r>
            <a:r>
              <a:rPr lang="en-US" sz="2800" b="1" dirty="0" err="1">
                <a:latin typeface="Calibri (Body)"/>
              </a:rPr>
              <a:t>Checkstyle</a:t>
            </a:r>
            <a:r>
              <a:rPr lang="en-US" sz="2800" dirty="0">
                <a:latin typeface="Calibri (Body)"/>
              </a:rPr>
              <a:t> or </a:t>
            </a:r>
            <a:r>
              <a:rPr lang="en-US" sz="2800" b="1" dirty="0" err="1">
                <a:latin typeface="Calibri (Body)"/>
              </a:rPr>
              <a:t>SonarQube</a:t>
            </a:r>
            <a:r>
              <a:rPr lang="en-US" sz="2800" dirty="0">
                <a:latin typeface="Calibri (Body)"/>
              </a:rPr>
              <a:t> to enforce standards. This ensures consistent </a:t>
            </a:r>
            <a:r>
              <a:rPr lang="en-US" sz="2800" b="1" i="1" dirty="0">
                <a:latin typeface="Calibri (Body)"/>
              </a:rPr>
              <a:t>quality</a:t>
            </a:r>
            <a:r>
              <a:rPr lang="en-US" sz="2800" dirty="0">
                <a:latin typeface="Calibri (Body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7137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500" dirty="0">
                <a:solidFill>
                  <a:srgbClr val="C00000"/>
                </a:solidFill>
              </a:rPr>
              <a:t>Managing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According SWEBOK guide, software construction is managed by following activities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Construction &amp; Development Models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→ Use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Agile model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to build software in small iterations.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Construction &amp; Development Planning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→ Plan coding tasks with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Gantt chart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for deadlines.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Construction &amp; Development Management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→ Track progress using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Jira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to manage code quality and timelines.</a:t>
            </a:r>
          </a:p>
        </p:txBody>
      </p:sp>
    </p:spTree>
    <p:extLst>
      <p:ext uri="{BB962C8B-B14F-4D97-AF65-F5344CB8AC3E}">
        <p14:creationId xmlns:p14="http://schemas.microsoft.com/office/powerpoint/2010/main" val="1230074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Standards in Construction &amp; development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/>
              <a:t>Applying external or internal development standards during construction helps achieve a project’s objectives for efficiency, quality, and cost. </a:t>
            </a:r>
          </a:p>
          <a:p>
            <a:pPr algn="just">
              <a:lnSpc>
                <a:spcPct val="150000"/>
              </a:lnSpc>
            </a:pPr>
            <a:r>
              <a:rPr lang="en-US" sz="2600" dirty="0"/>
              <a:t>Choices of allowable programming language subsets and usage standards are important aids in achieving higher security. </a:t>
            </a:r>
          </a:p>
        </p:txBody>
      </p:sp>
    </p:spTree>
    <p:extLst>
      <p:ext uri="{BB962C8B-B14F-4D97-AF65-F5344CB8AC3E}">
        <p14:creationId xmlns:p14="http://schemas.microsoft.com/office/powerpoint/2010/main" val="4206371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6603"/>
            <a:ext cx="11201400" cy="1450757"/>
          </a:xfrm>
        </p:spPr>
        <p:txBody>
          <a:bodyPr>
            <a:norm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Standards in Construction &amp; development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737360"/>
            <a:ext cx="10058400" cy="40233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Standards that directly affect construction issues include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Communication methods (for example, standards for document formats and contents)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Programming languages (for example, language standards for languages like Java and C++)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Coding standards (for example, standards for naming conventions, layout, and indentation)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Platforms (for example, interface standards for operating system calls)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Tools (for example, diagrammatic standards for notations like UML (Unified Modeling Language)).</a:t>
            </a:r>
          </a:p>
        </p:txBody>
      </p:sp>
    </p:spTree>
    <p:extLst>
      <p:ext uri="{BB962C8B-B14F-4D97-AF65-F5344CB8AC3E}">
        <p14:creationId xmlns:p14="http://schemas.microsoft.com/office/powerpoint/2010/main" val="32857719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500" dirty="0">
                <a:solidFill>
                  <a:srgbClr val="C00000"/>
                </a:solidFill>
              </a:rPr>
              <a:t>Key Points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Software construction is the central activity in software development; construction is the only activity that’s guaranteed to happen on every project.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 main activities in construction are detailed design, coding, debugging, integration, and developer testing (unit testing and integration testing).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Other common terms for construction are “coding” and “programming.”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 quality of the construction substantially affects the quality of the software.</a:t>
            </a:r>
          </a:p>
        </p:txBody>
      </p:sp>
    </p:spTree>
    <p:extLst>
      <p:ext uri="{BB962C8B-B14F-4D97-AF65-F5344CB8AC3E}">
        <p14:creationId xmlns:p14="http://schemas.microsoft.com/office/powerpoint/2010/main" val="1507690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576887"/>
          </a:xfrm>
        </p:spPr>
        <p:txBody>
          <a:bodyPr>
            <a:noAutofit/>
          </a:bodyPr>
          <a:lstStyle/>
          <a:p>
            <a:pPr algn="ctr"/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514600"/>
            <a:ext cx="8229600" cy="2209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...?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96294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19612</TotalTime>
  <Words>1394</Words>
  <Application>Microsoft Office PowerPoint</Application>
  <PresentationFormat>Widescreen</PresentationFormat>
  <Paragraphs>148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(Body)</vt:lpstr>
      <vt:lpstr>Calibri</vt:lpstr>
      <vt:lpstr>Calibri (Body)</vt:lpstr>
      <vt:lpstr>Calibri Light</vt:lpstr>
      <vt:lpstr>Consolas</vt:lpstr>
      <vt:lpstr>Wingdings</vt:lpstr>
      <vt:lpstr>Retrospect</vt:lpstr>
      <vt:lpstr>Software Construction &amp; development</vt:lpstr>
      <vt:lpstr>Contents</vt:lpstr>
      <vt:lpstr>Rules</vt:lpstr>
      <vt:lpstr>Course Objectives</vt:lpstr>
      <vt:lpstr>Course Assessment/Grading</vt:lpstr>
      <vt:lpstr>Course Outline</vt:lpstr>
      <vt:lpstr>Week-1</vt:lpstr>
      <vt:lpstr>Software Development &amp; Construction (SDC)</vt:lpstr>
      <vt:lpstr>Software Construction &amp; development (SDC) (Cont.)</vt:lpstr>
      <vt:lpstr>Software Construction &amp; development process</vt:lpstr>
      <vt:lpstr>Software Construction &amp; development process (Cont.)</vt:lpstr>
      <vt:lpstr>SDC Specific tasks</vt:lpstr>
      <vt:lpstr>SDC Specific tasks (Cont.)</vt:lpstr>
      <vt:lpstr>SDC (Cont.)</vt:lpstr>
      <vt:lpstr>Importance of SDC</vt:lpstr>
      <vt:lpstr>SWEBOK Guide (2004 Edition) </vt:lpstr>
      <vt:lpstr>Minimizing Complexity</vt:lpstr>
      <vt:lpstr>Anticipating Change</vt:lpstr>
      <vt:lpstr>Constructing for Verification</vt:lpstr>
      <vt:lpstr>Reuse</vt:lpstr>
      <vt:lpstr>Standards in Verification</vt:lpstr>
      <vt:lpstr>Managing Construction</vt:lpstr>
      <vt:lpstr>Standards in Construction &amp; development </vt:lpstr>
      <vt:lpstr>Standards in Construction &amp; development (Cont.)</vt:lpstr>
      <vt:lpstr>Key Points 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CS2053 - Discrete Structures  (Discrete Mathematics) Spring 2025</dc:title>
  <cp:lastModifiedBy>Sharif  Hussain</cp:lastModifiedBy>
  <cp:revision>234</cp:revision>
  <cp:lastPrinted>2012-09-04T14:09:35Z</cp:lastPrinted>
  <dcterms:created xsi:type="dcterms:W3CDTF">2012-08-29T04:16:05Z</dcterms:created>
  <dcterms:modified xsi:type="dcterms:W3CDTF">2025-09-17T08:19:08Z</dcterms:modified>
</cp:coreProperties>
</file>
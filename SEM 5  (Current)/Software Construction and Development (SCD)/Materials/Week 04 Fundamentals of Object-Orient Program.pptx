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0" r:id="rId1"/>
  </p:sldMasterIdLst>
  <p:notesMasterIdLst>
    <p:notesMasterId r:id="rId28"/>
  </p:notesMasterIdLst>
  <p:handoutMasterIdLst>
    <p:handoutMasterId r:id="rId29"/>
  </p:handoutMasterIdLst>
  <p:sldIdLst>
    <p:sldId id="256" r:id="rId2"/>
    <p:sldId id="308" r:id="rId3"/>
    <p:sldId id="335" r:id="rId4"/>
    <p:sldId id="348" r:id="rId5"/>
    <p:sldId id="349" r:id="rId6"/>
    <p:sldId id="350" r:id="rId7"/>
    <p:sldId id="352" r:id="rId8"/>
    <p:sldId id="351" r:id="rId9"/>
    <p:sldId id="353" r:id="rId10"/>
    <p:sldId id="355" r:id="rId11"/>
    <p:sldId id="356" r:id="rId12"/>
    <p:sldId id="357" r:id="rId13"/>
    <p:sldId id="358" r:id="rId14"/>
    <p:sldId id="354" r:id="rId15"/>
    <p:sldId id="360" r:id="rId16"/>
    <p:sldId id="359" r:id="rId17"/>
    <p:sldId id="361" r:id="rId18"/>
    <p:sldId id="362" r:id="rId19"/>
    <p:sldId id="364" r:id="rId20"/>
    <p:sldId id="363" r:id="rId21"/>
    <p:sldId id="365" r:id="rId22"/>
    <p:sldId id="366" r:id="rId23"/>
    <p:sldId id="367" r:id="rId24"/>
    <p:sldId id="368" r:id="rId25"/>
    <p:sldId id="369" r:id="rId26"/>
    <p:sldId id="313" r:id="rId27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743D03-5BBA-44B0-A4E6-E48149041E6D}">
          <p14:sldIdLst>
            <p14:sldId id="256"/>
            <p14:sldId id="308"/>
            <p14:sldId id="335"/>
            <p14:sldId id="348"/>
            <p14:sldId id="349"/>
            <p14:sldId id="350"/>
            <p14:sldId id="352"/>
            <p14:sldId id="351"/>
            <p14:sldId id="353"/>
            <p14:sldId id="355"/>
            <p14:sldId id="356"/>
            <p14:sldId id="357"/>
            <p14:sldId id="358"/>
            <p14:sldId id="354"/>
            <p14:sldId id="360"/>
            <p14:sldId id="359"/>
            <p14:sldId id="361"/>
            <p14:sldId id="362"/>
            <p14:sldId id="364"/>
            <p14:sldId id="363"/>
            <p14:sldId id="365"/>
            <p14:sldId id="366"/>
            <p14:sldId id="367"/>
            <p14:sldId id="368"/>
            <p14:sldId id="369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 autoAdjust="0"/>
    <p:restoredTop sz="94709" autoAdjust="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F8751-8426-4E45-B653-996E53C24DF5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A0FD4-BBB1-4631-B792-13542183C7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484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F20A2-F648-49B6-B583-961A9B9E9422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C50C1-00A3-4435-BCEA-4901BC54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194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08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24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2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3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8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65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355B0FE-4AC0-4D7B-83B1-A18CD9CB8AEE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4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1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4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2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6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7908"/>
            <a:ext cx="10287000" cy="1360979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Fundamentals of Object-Orient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2795" y="3287010"/>
            <a:ext cx="8500403" cy="75660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Subject: </a:t>
            </a:r>
            <a:r>
              <a:rPr lang="en-US" sz="2000" b="1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Construction &amp; Development</a:t>
            </a:r>
            <a:endParaRPr lang="en-US" sz="3200" b="1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81200" y="4800600"/>
            <a:ext cx="7765366" cy="911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Mr. Sharif Hussain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26798" y="1794727"/>
            <a:ext cx="7772400" cy="533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Week-04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991099" y="2800246"/>
            <a:ext cx="2243797" cy="4821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 - 2025</a:t>
            </a:r>
          </a:p>
        </p:txBody>
      </p:sp>
    </p:spTree>
    <p:extLst>
      <p:ext uri="{BB962C8B-B14F-4D97-AF65-F5344CB8AC3E}">
        <p14:creationId xmlns:p14="http://schemas.microsoft.com/office/powerpoint/2010/main" val="2072567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322" y="685800"/>
            <a:ext cx="10534358" cy="93259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322" y="1905000"/>
            <a:ext cx="10961077" cy="42672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Fundamentals of Object-Oriented Program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Object collaboration and association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UML (Unified Modeling Language)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UML Class Diagrams</a:t>
            </a:r>
          </a:p>
        </p:txBody>
      </p:sp>
    </p:spTree>
    <p:extLst>
      <p:ext uri="{BB962C8B-B14F-4D97-AF65-F5344CB8AC3E}">
        <p14:creationId xmlns:p14="http://schemas.microsoft.com/office/powerpoint/2010/main" val="113402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Object-Oriented Programming (OOP)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/>
              <a:t>Object-Oriented Programming (OOP) is a programming paradigm that provides a standard approach to designing and developing software using classes and objects.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2931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A2668-C126-8745-3343-EC78C7EA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9C9CB-44CE-CBC9-9AF5-2B9F9F11C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500" dirty="0">
                <a:solidFill>
                  <a:srgbClr val="C00000"/>
                </a:solidFill>
              </a:rPr>
              <a:t>Importance and Advantages of OOP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D90FD-F1F7-9BD6-9753-D839AE244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/>
              <a:t>OOP is important because it makes software more </a:t>
            </a:r>
            <a:r>
              <a:rPr lang="en-GB" sz="2600" b="1" i="1" dirty="0"/>
              <a:t>organized</a:t>
            </a:r>
            <a:r>
              <a:rPr lang="en-GB" sz="2600" dirty="0"/>
              <a:t>, </a:t>
            </a:r>
            <a:r>
              <a:rPr lang="en-GB" sz="2600" b="1" i="1" dirty="0"/>
              <a:t>reusable</a:t>
            </a:r>
            <a:r>
              <a:rPr lang="en-GB" sz="2600" dirty="0"/>
              <a:t>, </a:t>
            </a:r>
            <a:r>
              <a:rPr lang="en-GB" sz="2600" b="1" i="1" dirty="0"/>
              <a:t>secure</a:t>
            </a:r>
            <a:r>
              <a:rPr lang="en-GB" sz="2600" dirty="0"/>
              <a:t>, and </a:t>
            </a:r>
            <a:r>
              <a:rPr lang="en-GB" sz="2600" b="1" i="1" dirty="0"/>
              <a:t>closer</a:t>
            </a:r>
            <a:r>
              <a:rPr lang="en-GB" sz="2600" dirty="0"/>
              <a:t> </a:t>
            </a:r>
            <a:r>
              <a:rPr lang="en-GB" sz="2600" b="1" i="1" dirty="0"/>
              <a:t>to real-life systems</a:t>
            </a:r>
            <a:r>
              <a:rPr lang="en-GB" sz="2600" dirty="0"/>
              <a:t>, </a:t>
            </a:r>
            <a:r>
              <a:rPr lang="en-GB" sz="2600" b="1" i="1" dirty="0"/>
              <a:t>leading to faster development </a:t>
            </a:r>
            <a:r>
              <a:rPr lang="en-GB" sz="2600" dirty="0"/>
              <a:t>and easier </a:t>
            </a:r>
            <a:r>
              <a:rPr lang="en-GB" sz="2600" b="1" i="1" dirty="0"/>
              <a:t>maintenance</a:t>
            </a:r>
            <a:r>
              <a:rPr lang="en-GB" sz="2600" dirty="0"/>
              <a:t>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651777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D914-63AA-B69C-6393-C00691407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6B3BF-C523-FCC3-CF36-AFB1A7BC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Object-Oriented Concepts using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FF6FB-D58F-6300-A72B-ED13B8BC5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646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dirty="0"/>
              <a:t>Java is based on Object-Oriented Programming (OOP), which means it uses real-world ideas to make programs easy to understand and manage.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1" dirty="0"/>
              <a:t>Class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1" dirty="0"/>
              <a:t>Object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1" dirty="0"/>
              <a:t>Construction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1" dirty="0"/>
              <a:t>Abstraction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1" dirty="0"/>
              <a:t>Encapsulation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1" dirty="0"/>
              <a:t>Inheritance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1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2332582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B797B-6E4B-CF8D-3ED2-8D8CE143F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B5B8-DE44-A03C-43A8-894692E4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Class and Object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BA3C4-1F7F-A311-D209-ECDE47A75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646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accent2"/>
                </a:solidFill>
              </a:rPr>
              <a:t>Class</a:t>
            </a:r>
            <a:r>
              <a:rPr lang="en-US" sz="2400" b="1" i="1" dirty="0"/>
              <a:t>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i="1" dirty="0"/>
              <a:t>A class is like a blueprint or plan or template 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i="1" dirty="0"/>
              <a:t>It defines what an object will look like and what it can do.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b="1" i="1" dirty="0">
                <a:solidFill>
                  <a:schemeClr val="accent2"/>
                </a:solidFill>
              </a:rPr>
              <a:t>Example: </a:t>
            </a:r>
            <a:r>
              <a:rPr lang="en-GB" i="1" dirty="0"/>
              <a:t>A class named Car defines features like </a:t>
            </a:r>
            <a:r>
              <a:rPr lang="en-GB" b="1" i="1" dirty="0">
                <a:solidFill>
                  <a:schemeClr val="accent2"/>
                </a:solidFill>
              </a:rPr>
              <a:t>colour</a:t>
            </a:r>
            <a:r>
              <a:rPr lang="en-GB" i="1" dirty="0"/>
              <a:t>, </a:t>
            </a:r>
            <a:r>
              <a:rPr lang="en-GB" b="1" i="1" dirty="0">
                <a:solidFill>
                  <a:schemeClr val="accent2"/>
                </a:solidFill>
              </a:rPr>
              <a:t>speed</a:t>
            </a:r>
            <a:r>
              <a:rPr lang="en-GB" i="1" dirty="0"/>
              <a:t>, and </a:t>
            </a:r>
            <a:r>
              <a:rPr lang="en-GB" b="1" i="1" dirty="0">
                <a:solidFill>
                  <a:schemeClr val="accent2"/>
                </a:solidFill>
              </a:rPr>
              <a:t>functions</a:t>
            </a:r>
            <a:r>
              <a:rPr lang="en-GB" i="1" dirty="0"/>
              <a:t> like </a:t>
            </a:r>
            <a:r>
              <a:rPr lang="en-GB" b="1" i="1" dirty="0">
                <a:solidFill>
                  <a:schemeClr val="accent2"/>
                </a:solidFill>
              </a:rPr>
              <a:t>start()</a:t>
            </a:r>
            <a:r>
              <a:rPr lang="en-GB" i="1" dirty="0"/>
              <a:t> or </a:t>
            </a:r>
            <a:r>
              <a:rPr lang="en-GB" b="1" i="1" dirty="0">
                <a:solidFill>
                  <a:schemeClr val="accent2"/>
                </a:solidFill>
              </a:rPr>
              <a:t>stop().</a:t>
            </a:r>
            <a:endParaRPr lang="en-US" b="1" i="1" dirty="0">
              <a:solidFill>
                <a:schemeClr val="accent2"/>
              </a:solidFill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accent2"/>
                </a:solidFill>
              </a:rPr>
              <a:t>Object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dirty="0"/>
              <a:t>An </a:t>
            </a:r>
            <a:r>
              <a:rPr lang="en-GB" b="1" dirty="0"/>
              <a:t>object</a:t>
            </a:r>
            <a:r>
              <a:rPr lang="en-GB" dirty="0"/>
              <a:t> is a </a:t>
            </a:r>
            <a:r>
              <a:rPr lang="en-GB" b="1" dirty="0"/>
              <a:t>real example</a:t>
            </a:r>
            <a:r>
              <a:rPr lang="en-GB" dirty="0"/>
              <a:t> of a class.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dirty="0"/>
              <a:t>It is created from a class and has actual data.</a:t>
            </a:r>
            <a:br>
              <a:rPr lang="en-GB" dirty="0"/>
            </a:br>
            <a:r>
              <a:rPr lang="en-GB" dirty="0"/>
              <a:t>👉 Example: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Car </a:t>
            </a:r>
            <a:r>
              <a:rPr lang="en-GB" dirty="0" err="1">
                <a:solidFill>
                  <a:schemeClr val="accent2"/>
                </a:solidFill>
                <a:latin typeface="Consolas" panose="020B0609020204030204" pitchFamily="49" charset="0"/>
              </a:rPr>
              <a:t>myCar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latin typeface="Consolas" panose="020B0609020204030204" pitchFamily="49" charset="0"/>
              </a:rPr>
              <a:t>=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new</a:t>
            </a:r>
            <a:r>
              <a:rPr lang="en-GB" dirty="0">
                <a:latin typeface="Consolas" panose="020B0609020204030204" pitchFamily="49" charset="0"/>
              </a:rPr>
              <a:t> Car();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Car </a:t>
            </a:r>
            <a:r>
              <a:rPr lang="en-GB" dirty="0" err="1">
                <a:solidFill>
                  <a:schemeClr val="accent2"/>
                </a:solidFill>
                <a:latin typeface="Consolas" panose="020B0609020204030204" pitchFamily="49" charset="0"/>
              </a:rPr>
              <a:t>yourCar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latin typeface="Consolas" panose="020B0609020204030204" pitchFamily="49" charset="0"/>
              </a:rPr>
              <a:t>=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new</a:t>
            </a:r>
            <a:r>
              <a:rPr lang="en-GB" dirty="0">
                <a:latin typeface="Consolas" panose="020B0609020204030204" pitchFamily="49" charset="0"/>
              </a:rPr>
              <a:t> Car();</a:t>
            </a:r>
          </a:p>
        </p:txBody>
      </p:sp>
    </p:spTree>
    <p:extLst>
      <p:ext uri="{BB962C8B-B14F-4D97-AF65-F5344CB8AC3E}">
        <p14:creationId xmlns:p14="http://schemas.microsoft.com/office/powerpoint/2010/main" val="1861174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8E01E-9F63-9B5B-39D7-95FC517BE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4DAF5-A681-9144-3B6A-0E7D1EAC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Class and Object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0787A8-AA92-7083-744E-2E64447A8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7800" y="76200"/>
            <a:ext cx="6848624" cy="6221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85FCBC-966F-4DE1-D82F-846E421CA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819400"/>
            <a:ext cx="3455043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79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D6FF-0FCE-8A23-F8B2-2CFAA6D1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ADC3-8DF5-959A-47AF-43219E619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241A3-46CB-1695-6F84-3E99D931F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646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dirty="0"/>
              <a:t>A constructor is a special method used to create and initialize objects.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dirty="0"/>
              <a:t>It sets the initial values of the object’s data.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chemeClr val="accent2"/>
                </a:solidFill>
              </a:rPr>
              <a:t>Example: </a:t>
            </a:r>
            <a:r>
              <a:rPr lang="en-GB" dirty="0"/>
              <a:t>When you create a car object, the constructor sets its </a:t>
            </a:r>
            <a:r>
              <a:rPr lang="en-GB" dirty="0">
                <a:solidFill>
                  <a:schemeClr val="accent2"/>
                </a:solidFill>
              </a:rPr>
              <a:t>model</a:t>
            </a:r>
            <a:r>
              <a:rPr lang="en-GB" dirty="0"/>
              <a:t>, </a:t>
            </a:r>
            <a:r>
              <a:rPr lang="en-GB" dirty="0" err="1">
                <a:solidFill>
                  <a:schemeClr val="accent2"/>
                </a:solidFill>
              </a:rPr>
              <a:t>color</a:t>
            </a:r>
            <a:r>
              <a:rPr lang="en-GB" dirty="0"/>
              <a:t>, and </a:t>
            </a:r>
            <a:r>
              <a:rPr lang="en-GB" dirty="0">
                <a:solidFill>
                  <a:schemeClr val="accent2"/>
                </a:solidFill>
              </a:rPr>
              <a:t>price</a:t>
            </a:r>
            <a:r>
              <a:rPr lang="en-GB" dirty="0"/>
              <a:t>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811D1-8B02-03BE-9718-51391DB4A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4177029"/>
            <a:ext cx="3667125" cy="197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080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EA80C-4AB2-A576-CD3D-18571055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C7F8-2890-C261-F927-78553690A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AA03F-D06D-556C-8973-0F685F4E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646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i="1" dirty="0"/>
              <a:t>Abstraction means showing only the important details and hiding the complex parts.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2000" i="1" dirty="0">
                <a:solidFill>
                  <a:schemeClr val="accent2"/>
                </a:solidFill>
              </a:rPr>
              <a:t>Example: </a:t>
            </a:r>
            <a:r>
              <a:rPr lang="en-GB" sz="2000" i="1" dirty="0"/>
              <a:t>When you drive a car, you just press the accelerator — you don’t need to know how the engine works.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723875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5B35-8B8A-3ED5-21B6-EA507A95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2D8A-CF0C-6114-865E-033EFE63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6938"/>
            <a:ext cx="10058400" cy="145075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Abstraction 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28C858-4D41-0147-7EB3-B781DD286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4340" y="228600"/>
            <a:ext cx="7707660" cy="596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14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109B-AC15-505A-CB6E-FCBEC21B6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2950B-7F0B-FC2A-025D-A844606B4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1DAFC-4607-68D7-FB9D-E0B90847D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646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b="1" i="1" dirty="0">
                <a:solidFill>
                  <a:schemeClr val="accent2"/>
                </a:solidFill>
              </a:rPr>
              <a:t>Encapsulation</a:t>
            </a:r>
            <a:r>
              <a:rPr lang="en-GB" dirty="0"/>
              <a:t> is the process of binding data and methods that operate on that data within a single unit (class) and restricting direct access to the data to ensure </a:t>
            </a:r>
            <a:r>
              <a:rPr lang="en-GB" b="1" i="1" dirty="0">
                <a:solidFill>
                  <a:schemeClr val="accent2"/>
                </a:solidFill>
              </a:rPr>
              <a:t>security</a:t>
            </a:r>
            <a:r>
              <a:rPr lang="en-GB" dirty="0"/>
              <a:t> and </a:t>
            </a:r>
            <a:r>
              <a:rPr lang="en-GB" b="1" i="1" dirty="0">
                <a:solidFill>
                  <a:schemeClr val="accent2"/>
                </a:solidFill>
              </a:rPr>
              <a:t>controlled</a:t>
            </a:r>
            <a:r>
              <a:rPr lang="en-GB" dirty="0"/>
              <a:t> modification.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88738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836BE-E02F-F43D-FEF3-0FD47BEAF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7A9E-6B6E-BC63-A4FC-A11656BA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Encapsulation 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F14A90-4C03-C178-2320-20BF952110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4869" y="1790672"/>
            <a:ext cx="6862261" cy="506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62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B439B-5837-8134-8A2D-9FCCE8BB6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BD62A-A160-1EE0-E9DF-BDBEE8A1B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>
                <a:solidFill>
                  <a:srgbClr val="C00000"/>
                </a:solidFill>
              </a:rPr>
              <a:t>Encapsulation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AAA0-EE08-ADF3-AE5C-158F2324A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646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200" b="1" i="1" dirty="0">
                <a:solidFill>
                  <a:schemeClr val="tx1"/>
                </a:solidFill>
              </a:rPr>
              <a:t>Encapsulation</a:t>
            </a:r>
            <a:r>
              <a:rPr lang="en-GB" sz="2200" dirty="0"/>
              <a:t>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200" dirty="0">
                <a:solidFill>
                  <a:schemeClr val="accent2"/>
                </a:solidFill>
              </a:rPr>
              <a:t>private int speed; </a:t>
            </a:r>
            <a:r>
              <a:rPr lang="en-GB" sz="2200" dirty="0"/>
              <a:t>→ hides the data (data hiding).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200" dirty="0" err="1">
                <a:solidFill>
                  <a:schemeClr val="accent2"/>
                </a:solidFill>
              </a:rPr>
              <a:t>setSpeed</a:t>
            </a:r>
            <a:r>
              <a:rPr lang="en-GB" sz="2200" dirty="0">
                <a:solidFill>
                  <a:schemeClr val="accent2"/>
                </a:solidFill>
              </a:rPr>
              <a:t>() </a:t>
            </a:r>
            <a:r>
              <a:rPr lang="en-GB" sz="2200" dirty="0"/>
              <a:t>→ gives controlled access (you change speed only through this method).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200" dirty="0" err="1">
                <a:solidFill>
                  <a:schemeClr val="accent2"/>
                </a:solidFill>
              </a:rPr>
              <a:t>getSpeed</a:t>
            </a:r>
            <a:r>
              <a:rPr lang="en-GB" sz="2200" dirty="0">
                <a:solidFill>
                  <a:schemeClr val="accent2"/>
                </a:solidFill>
              </a:rPr>
              <a:t>() </a:t>
            </a:r>
            <a:r>
              <a:rPr lang="en-GB" sz="2200" dirty="0"/>
              <a:t>→ gives safe access to read the data.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78028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EB751-A77D-F071-52EC-6BEAEE65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659F7-8DC7-F251-ED12-A06E20BC1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500" dirty="0">
                <a:solidFill>
                  <a:srgbClr val="C00000"/>
                </a:solidFill>
              </a:rPr>
              <a:t>Inheritance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F9B3F-D6AF-65DD-78A1-03685C1F8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646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dirty="0"/>
              <a:t>Inheritance means one class (child) can get or use the properties and methods of another class (parent).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dirty="0"/>
              <a:t>It helps us reuse code instead of writing it again.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accent2"/>
                </a:solidFill>
              </a:rPr>
              <a:t>Example: </a:t>
            </a:r>
            <a:r>
              <a:rPr lang="en-GB" dirty="0"/>
              <a:t>A class </a:t>
            </a:r>
            <a:r>
              <a:rPr lang="en-GB" i="1" dirty="0" err="1">
                <a:solidFill>
                  <a:schemeClr val="accent2"/>
                </a:solidFill>
              </a:rPr>
              <a:t>SportsCar</a:t>
            </a:r>
            <a:r>
              <a:rPr lang="en-GB" dirty="0"/>
              <a:t> can inherit from the class Car, so it already has all the features of Car.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065182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EB5E7-B83D-22A1-763F-6EB5DC495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0983-91DF-B21E-0A12-BBFC683F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500" dirty="0">
                <a:solidFill>
                  <a:srgbClr val="C00000"/>
                </a:solidFill>
              </a:rPr>
              <a:t>Inheritance (Cont.)</a:t>
            </a:r>
            <a:endParaRPr lang="en-US" sz="4500" dirty="0">
              <a:solidFill>
                <a:srgbClr val="C0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DA001E-0A1C-CA22-5C60-8E4B6DDBC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000" y="220235"/>
            <a:ext cx="6305739" cy="59910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228E50-FF43-07D9-872E-80F40BD1E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15" y="2787938"/>
            <a:ext cx="4118708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97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77340-0688-180C-D675-ECF08503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38BC-A6CB-3F32-2F3E-CBFCDBE22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500" dirty="0">
                <a:solidFill>
                  <a:srgbClr val="C00000"/>
                </a:solidFill>
              </a:rPr>
              <a:t>Polymorphism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2A1FB-958E-076A-8B8E-50AE12186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646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b="1" dirty="0"/>
              <a:t>Polymorphism</a:t>
            </a:r>
            <a:r>
              <a:rPr lang="en-GB" sz="2200" dirty="0"/>
              <a:t> means </a:t>
            </a:r>
            <a:r>
              <a:rPr lang="en-GB" sz="2200" b="1" dirty="0"/>
              <a:t>one thing can behave in different ways</a:t>
            </a:r>
            <a:r>
              <a:rPr lang="en-GB" sz="22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200" b="1" i="1" dirty="0">
                <a:solidFill>
                  <a:schemeClr val="accent2"/>
                </a:solidFill>
              </a:rPr>
              <a:t>Example: </a:t>
            </a:r>
            <a:r>
              <a:rPr lang="en-GB" sz="2200" dirty="0"/>
              <a:t>The method start() may work differently for a Car and a Bike, even though both use the same name.</a:t>
            </a:r>
          </a:p>
        </p:txBody>
      </p:sp>
    </p:spTree>
    <p:extLst>
      <p:ext uri="{BB962C8B-B14F-4D97-AF65-F5344CB8AC3E}">
        <p14:creationId xmlns:p14="http://schemas.microsoft.com/office/powerpoint/2010/main" val="3563039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6CC19-FF17-2844-5582-2648349E3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86E7-CEEA-15C0-2340-205DC566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C00000"/>
                </a:solidFill>
              </a:rPr>
              <a:t>Polymorphism (Cont.)</a:t>
            </a:r>
            <a:endParaRPr lang="en-US" sz="4000" dirty="0">
              <a:solidFill>
                <a:srgbClr val="C00000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CC891AA-32D3-0ECE-A247-9604B28CF1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2651" y="0"/>
            <a:ext cx="6229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26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8B008-AF31-8B7F-125F-DE5A50D8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7B6D3-A872-247F-5BB9-FEDEC089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Object Association and Collaboration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530F7-83F7-05BB-FFC5-D80A2C643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2666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LcPeriod"/>
            </a:pPr>
            <a:r>
              <a:rPr lang="en-US" b="1" i="1" dirty="0">
                <a:solidFill>
                  <a:schemeClr val="accent2"/>
                </a:solidFill>
              </a:rPr>
              <a:t>Object Association: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i="1" dirty="0">
                <a:solidFill>
                  <a:schemeClr val="tx1"/>
                </a:solidFill>
              </a:rPr>
              <a:t>Association describes a relationship between two classes where objects of one class are connected to objects of another class.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i="1" dirty="0">
                <a:solidFill>
                  <a:srgbClr val="C00000"/>
                </a:solidFill>
              </a:rPr>
              <a:t>Key point: </a:t>
            </a:r>
            <a:r>
              <a:rPr lang="en-GB" sz="2000" i="1" dirty="0">
                <a:solidFill>
                  <a:schemeClr val="tx1"/>
                </a:solidFill>
              </a:rPr>
              <a:t>It shows “uses” or “</a:t>
            </a:r>
            <a:r>
              <a:rPr lang="en-GB" sz="2000" b="1" i="1" dirty="0">
                <a:solidFill>
                  <a:schemeClr val="accent2"/>
                </a:solidFill>
              </a:rPr>
              <a:t>knows</a:t>
            </a:r>
            <a:r>
              <a:rPr lang="en-GB" sz="2000" i="1" dirty="0">
                <a:solidFill>
                  <a:schemeClr val="tx1"/>
                </a:solidFill>
              </a:rPr>
              <a:t> </a:t>
            </a:r>
            <a:r>
              <a:rPr lang="en-GB" sz="2000" b="1" i="1" dirty="0">
                <a:solidFill>
                  <a:schemeClr val="accent2"/>
                </a:solidFill>
              </a:rPr>
              <a:t>about</a:t>
            </a:r>
            <a:r>
              <a:rPr lang="en-GB" sz="2000" i="1" dirty="0">
                <a:solidFill>
                  <a:schemeClr val="tx1"/>
                </a:solidFill>
              </a:rPr>
              <a:t>” relationship.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eriod"/>
            </a:pPr>
            <a:r>
              <a:rPr lang="en-GB" b="1" i="1" dirty="0">
                <a:solidFill>
                  <a:schemeClr val="accent2"/>
                </a:solidFill>
              </a:rPr>
              <a:t>Object Collaboration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i="1" dirty="0">
                <a:solidFill>
                  <a:schemeClr val="tx1"/>
                </a:solidFill>
              </a:rPr>
              <a:t>Collaboration happens when objects of different classes work together to perform a task.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i="1" dirty="0">
                <a:solidFill>
                  <a:srgbClr val="C00000"/>
                </a:solidFill>
              </a:rPr>
              <a:t>Key</a:t>
            </a:r>
            <a:r>
              <a:rPr lang="en-GB" sz="2000" b="1" dirty="0"/>
              <a:t> </a:t>
            </a:r>
            <a:r>
              <a:rPr lang="en-GB" sz="2000" b="1" i="1" dirty="0">
                <a:solidFill>
                  <a:srgbClr val="C00000"/>
                </a:solidFill>
              </a:rPr>
              <a:t>point: </a:t>
            </a:r>
            <a:r>
              <a:rPr lang="en-GB" sz="2000" dirty="0"/>
              <a:t>Collaboration is about </a:t>
            </a:r>
            <a:r>
              <a:rPr lang="en-US" sz="2000" b="1" i="1" dirty="0">
                <a:solidFill>
                  <a:schemeClr val="accent2"/>
                </a:solidFill>
              </a:rPr>
              <a:t>works together</a:t>
            </a:r>
            <a:r>
              <a:rPr lang="en-GB" sz="2000" dirty="0"/>
              <a:t>, not just a static relationship.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dirty="0"/>
              <a:t>Example:</a:t>
            </a:r>
            <a:r>
              <a:rPr lang="en-GB" sz="2000" dirty="0"/>
              <a:t> A </a:t>
            </a:r>
            <a:r>
              <a:rPr lang="en-GB" sz="2000" b="1" dirty="0"/>
              <a:t>Car</a:t>
            </a:r>
            <a:r>
              <a:rPr lang="en-GB" sz="2000" dirty="0"/>
              <a:t> object collaborates with </a:t>
            </a:r>
            <a:r>
              <a:rPr lang="en-GB" sz="2000" b="1" dirty="0"/>
              <a:t>Engine</a:t>
            </a:r>
            <a:r>
              <a:rPr lang="en-GB" sz="2000" dirty="0"/>
              <a:t> and </a:t>
            </a:r>
            <a:r>
              <a:rPr lang="en-GB" sz="2000" b="1" dirty="0" err="1"/>
              <a:t>FuelSystem</a:t>
            </a:r>
            <a:r>
              <a:rPr lang="en-GB" sz="2000" dirty="0"/>
              <a:t> objects to </a:t>
            </a:r>
            <a:r>
              <a:rPr lang="en-GB" sz="2000" b="1" dirty="0"/>
              <a:t>start the car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5695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CCC11-06BF-12EA-4E5B-02B637E28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B42-E68D-8776-683D-DF6775233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Object Association and Collaboration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A83AD-0F09-9820-A93D-739F0D508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2666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LcPeriod"/>
            </a:pPr>
            <a:r>
              <a:rPr lang="en-US" sz="2100" b="1" i="1" dirty="0">
                <a:solidFill>
                  <a:schemeClr val="accent2"/>
                </a:solidFill>
              </a:rPr>
              <a:t>Object Association:</a:t>
            </a:r>
            <a:br>
              <a:rPr lang="en-GB" sz="2100" dirty="0"/>
            </a:br>
            <a:r>
              <a:rPr lang="en-GB" sz="2100" dirty="0"/>
              <a:t>Association describes a relationship between two classes, where objects of one class are connected to objects of another class.</a:t>
            </a:r>
            <a:br>
              <a:rPr lang="en-GB" sz="2100" dirty="0"/>
            </a:br>
            <a:r>
              <a:rPr lang="en-GB" sz="2100" b="1" dirty="0">
                <a:solidFill>
                  <a:srgbClr val="C00000"/>
                </a:solidFill>
              </a:rPr>
              <a:t>Key point:</a:t>
            </a:r>
            <a:r>
              <a:rPr lang="en-GB" sz="2100" dirty="0">
                <a:solidFill>
                  <a:srgbClr val="C00000"/>
                </a:solidFill>
              </a:rPr>
              <a:t> </a:t>
            </a:r>
            <a:r>
              <a:rPr lang="en-GB" sz="2100" dirty="0"/>
              <a:t>It shows a “uses” or “</a:t>
            </a:r>
            <a:r>
              <a:rPr lang="en-GB" sz="2100" b="1" dirty="0"/>
              <a:t>knows about</a:t>
            </a:r>
            <a:r>
              <a:rPr lang="en-GB" sz="2100" dirty="0"/>
              <a:t>” relationship.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eriod"/>
            </a:pPr>
            <a:r>
              <a:rPr lang="en-GB" sz="2100" b="1" i="1" dirty="0">
                <a:solidFill>
                  <a:schemeClr val="accent2"/>
                </a:solidFill>
              </a:rPr>
              <a:t>Object Collaboration:</a:t>
            </a:r>
            <a:br>
              <a:rPr lang="en-GB" sz="2100" dirty="0"/>
            </a:br>
            <a:r>
              <a:rPr lang="en-GB" sz="2100" dirty="0"/>
              <a:t>Collaboration occurs when objects of different classes work together to perform a task.</a:t>
            </a:r>
            <a:br>
              <a:rPr lang="en-GB" sz="2100" dirty="0"/>
            </a:br>
            <a:r>
              <a:rPr lang="en-GB" sz="2100" b="1" dirty="0">
                <a:solidFill>
                  <a:srgbClr val="C00000"/>
                </a:solidFill>
              </a:rPr>
              <a:t>Key point: </a:t>
            </a:r>
            <a:r>
              <a:rPr lang="en-GB" sz="2100" dirty="0"/>
              <a:t>Collaboration is about </a:t>
            </a:r>
            <a:r>
              <a:rPr lang="en-GB" sz="2100" b="1" dirty="0"/>
              <a:t>working together</a:t>
            </a:r>
            <a:r>
              <a:rPr lang="en-GB" sz="2100" dirty="0"/>
              <a:t>, not just a static relationship.</a:t>
            </a:r>
            <a:br>
              <a:rPr lang="en-GB" sz="2100" dirty="0"/>
            </a:br>
            <a:r>
              <a:rPr lang="en-GB" sz="2100" b="1" dirty="0"/>
              <a:t>Example:</a:t>
            </a:r>
            <a:r>
              <a:rPr lang="en-GB" sz="2100" dirty="0"/>
              <a:t> A </a:t>
            </a:r>
            <a:r>
              <a:rPr lang="en-GB" sz="2100" b="1" dirty="0"/>
              <a:t>Car</a:t>
            </a:r>
            <a:r>
              <a:rPr lang="en-GB" sz="2100" dirty="0"/>
              <a:t> object collaborates with </a:t>
            </a:r>
            <a:r>
              <a:rPr lang="en-GB" sz="2100" b="1" dirty="0"/>
              <a:t>Engine</a:t>
            </a:r>
            <a:r>
              <a:rPr lang="en-GB" sz="2100" dirty="0"/>
              <a:t> and </a:t>
            </a:r>
            <a:r>
              <a:rPr lang="en-GB" sz="2100" b="1" dirty="0" err="1"/>
              <a:t>FuelSystem</a:t>
            </a:r>
            <a:r>
              <a:rPr lang="en-GB" sz="2100" dirty="0"/>
              <a:t> objects to start the car.</a:t>
            </a:r>
          </a:p>
        </p:txBody>
      </p:sp>
    </p:spTree>
    <p:extLst>
      <p:ext uri="{BB962C8B-B14F-4D97-AF65-F5344CB8AC3E}">
        <p14:creationId xmlns:p14="http://schemas.microsoft.com/office/powerpoint/2010/main" val="3212913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9AE03-D2E5-C47C-EED3-E6E751885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3DF37-C74C-CACE-D852-AE84C11BD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Object Association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F48B1-D03C-0253-1D5A-85D42FF42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1" i="1" dirty="0">
                <a:solidFill>
                  <a:schemeClr val="accent2"/>
                </a:solidFill>
              </a:rPr>
              <a:t>Types of Association: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i="1" dirty="0">
                <a:solidFill>
                  <a:schemeClr val="accent2"/>
                </a:solidFill>
              </a:rPr>
              <a:t>One-to-One: </a:t>
            </a:r>
            <a:r>
              <a:rPr lang="en-GB" sz="2000" i="1" dirty="0">
                <a:solidFill>
                  <a:schemeClr val="tx1"/>
                </a:solidFill>
              </a:rPr>
              <a:t>One object of a class is associated with one object of another class.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i="1" dirty="0">
                <a:solidFill>
                  <a:schemeClr val="tx1"/>
                </a:solidFill>
              </a:rPr>
              <a:t>Example: A Person has one Passport.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i="1" dirty="0">
                <a:solidFill>
                  <a:schemeClr val="accent2"/>
                </a:solidFill>
              </a:rPr>
              <a:t>One-to-Many: </a:t>
            </a:r>
            <a:r>
              <a:rPr lang="en-GB" sz="2000" i="1" dirty="0">
                <a:solidFill>
                  <a:schemeClr val="tx1"/>
                </a:solidFill>
              </a:rPr>
              <a:t>One object of a class is associated with many objects of another class.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i="1" dirty="0">
                <a:solidFill>
                  <a:schemeClr val="tx1"/>
                </a:solidFill>
              </a:rPr>
              <a:t>Example: A Teacher teaches many Students.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i="1" dirty="0">
                <a:solidFill>
                  <a:schemeClr val="accent2"/>
                </a:solidFill>
              </a:rPr>
              <a:t>Many-to-Many: </a:t>
            </a:r>
            <a:r>
              <a:rPr lang="en-GB" sz="2000" i="1" dirty="0">
                <a:solidFill>
                  <a:schemeClr val="tx1"/>
                </a:solidFill>
              </a:rPr>
              <a:t>Many objects of a class are associated with many objects of another class.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i="1" dirty="0">
                <a:solidFill>
                  <a:schemeClr val="tx1"/>
                </a:solidFill>
              </a:rPr>
              <a:t>Example: Students </a:t>
            </a:r>
            <a:r>
              <a:rPr lang="en-GB" sz="2000" i="1" dirty="0" err="1">
                <a:solidFill>
                  <a:schemeClr val="tx1"/>
                </a:solidFill>
              </a:rPr>
              <a:t>enroll</a:t>
            </a:r>
            <a:r>
              <a:rPr lang="en-GB" sz="2000" i="1" dirty="0">
                <a:solidFill>
                  <a:schemeClr val="tx1"/>
                </a:solidFill>
              </a:rPr>
              <a:t> in many Courses, and each Course has many Students.</a:t>
            </a:r>
            <a:endParaRPr lang="en-US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811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288AA-0E2E-C817-0D3B-B33E20EA4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81B7E-4A4A-0297-B869-C1AE2E53D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Object Association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8B0F4-AD94-05AD-7804-738673D6A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1" i="1" dirty="0">
                <a:solidFill>
                  <a:schemeClr val="accent2"/>
                </a:solidFill>
              </a:rPr>
              <a:t>Types of Association: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i="1" dirty="0">
                <a:solidFill>
                  <a:schemeClr val="accent2"/>
                </a:solidFill>
              </a:rPr>
              <a:t>One-to-One: </a:t>
            </a:r>
            <a:r>
              <a:rPr lang="en-GB" sz="2000" i="1" dirty="0">
                <a:solidFill>
                  <a:schemeClr val="tx1"/>
                </a:solidFill>
              </a:rPr>
              <a:t>One object of a class is associated with one object of another class.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i="1" dirty="0">
                <a:solidFill>
                  <a:schemeClr val="tx1"/>
                </a:solidFill>
              </a:rPr>
              <a:t>Example: A Person has one Passport.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i="1" dirty="0">
                <a:solidFill>
                  <a:schemeClr val="accent2"/>
                </a:solidFill>
              </a:rPr>
              <a:t>One-to-Many: </a:t>
            </a:r>
            <a:r>
              <a:rPr lang="en-GB" sz="2000" i="1" dirty="0">
                <a:solidFill>
                  <a:schemeClr val="tx1"/>
                </a:solidFill>
              </a:rPr>
              <a:t>One object of a class is associated with many objects of another class.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i="1" dirty="0">
                <a:solidFill>
                  <a:schemeClr val="tx1"/>
                </a:solidFill>
              </a:rPr>
              <a:t>Example: A Teacher teaches many Students.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i="1" dirty="0">
                <a:solidFill>
                  <a:schemeClr val="accent2"/>
                </a:solidFill>
              </a:rPr>
              <a:t>Many-to-Many: </a:t>
            </a:r>
            <a:r>
              <a:rPr lang="en-GB" sz="2000" i="1" dirty="0">
                <a:solidFill>
                  <a:schemeClr val="tx1"/>
                </a:solidFill>
              </a:rPr>
              <a:t>Many objects of a class are associated with many objects of another class.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i="1" dirty="0">
                <a:solidFill>
                  <a:schemeClr val="tx1"/>
                </a:solidFill>
              </a:rPr>
              <a:t>Example: Students </a:t>
            </a:r>
            <a:r>
              <a:rPr lang="en-GB" sz="2000" i="1" dirty="0" err="1">
                <a:solidFill>
                  <a:schemeClr val="tx1"/>
                </a:solidFill>
              </a:rPr>
              <a:t>enroll</a:t>
            </a:r>
            <a:r>
              <a:rPr lang="en-GB" sz="2000" i="1" dirty="0">
                <a:solidFill>
                  <a:schemeClr val="tx1"/>
                </a:solidFill>
              </a:rPr>
              <a:t> in many Courses, and each Course has many Students.</a:t>
            </a:r>
            <a:endParaRPr lang="en-US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138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6756A-56A5-34D4-9FF0-81D31285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4810-D05E-05A5-410A-68D8A4044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Unified Modeling Language(UML)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7FAC2-60E1-95F8-4771-BBC5F407A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Unified </a:t>
            </a:r>
            <a:r>
              <a:rPr lang="en-GB" b="1" dirty="0" err="1"/>
              <a:t>Modeling</a:t>
            </a:r>
            <a:r>
              <a:rPr lang="en-GB" b="1" dirty="0"/>
              <a:t> Language (UML)</a:t>
            </a:r>
            <a:r>
              <a:rPr lang="en-GB" dirty="0"/>
              <a:t> is a standard visual </a:t>
            </a:r>
            <a:r>
              <a:rPr lang="en-GB" dirty="0" err="1"/>
              <a:t>modeling</a:t>
            </a:r>
            <a:r>
              <a:rPr lang="en-GB" dirty="0"/>
              <a:t> language used to design and represent the structure and </a:t>
            </a:r>
            <a:r>
              <a:rPr lang="en-GB" dirty="0" err="1"/>
              <a:t>behavior</a:t>
            </a:r>
            <a:r>
              <a:rPr lang="en-GB" dirty="0"/>
              <a:t> of a system.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Similar to engineering blueprints.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UML is not a programming language but a visual tool that aids software engineers, architects, and analysts in </a:t>
            </a:r>
            <a:r>
              <a:rPr lang="en-GB" dirty="0" err="1"/>
              <a:t>modeling</a:t>
            </a:r>
            <a:r>
              <a:rPr lang="en-GB" dirty="0"/>
              <a:t>, design, and analysis.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55772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8F6EBD7-6F88-F55D-B2B6-3C5A086B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8A6FC-71DF-B489-CF38-C72A2A8A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C00000"/>
                </a:solidFill>
              </a:rPr>
              <a:t>Why Use Unified </a:t>
            </a:r>
            <a:r>
              <a:rPr lang="en-GB" sz="4000" dirty="0" err="1">
                <a:solidFill>
                  <a:srgbClr val="C00000"/>
                </a:solidFill>
              </a:rPr>
              <a:t>Modeling</a:t>
            </a:r>
            <a:r>
              <a:rPr lang="en-GB" sz="4000" dirty="0">
                <a:solidFill>
                  <a:srgbClr val="C00000"/>
                </a:solidFill>
              </a:rPr>
              <a:t> Language? 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6C674-7BD0-E13B-7A79-39E4141A0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dirty="0"/>
              <a:t>UML diagrams are often used in software development. They are helpful for </a:t>
            </a:r>
            <a:r>
              <a:rPr lang="en-GB" sz="2400" b="1" dirty="0"/>
              <a:t>two main reasons</a:t>
            </a:r>
            <a:r>
              <a:rPr lang="en-GB" sz="2400" dirty="0"/>
              <a:t> when designing new products or systems.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409686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E142-E8EF-383D-01B7-DA7CB2E2C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4C05-1103-9BE5-CCF8-6C6B7ADC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Types of UML Diagrams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0B81A-9021-24F1-9FC3-570112DDA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2"/>
                </a:solidFill>
              </a:rPr>
              <a:t>Structural Diagrams </a:t>
            </a:r>
            <a:r>
              <a:rPr lang="en-US" sz="2400" b="1" dirty="0">
                <a:solidFill>
                  <a:schemeClr val="accent2"/>
                </a:solidFill>
                <a:sym typeface="Wingdings" panose="05000000000000000000" pitchFamily="2" charset="2"/>
              </a:rPr>
              <a:t> </a:t>
            </a:r>
            <a:r>
              <a:rPr lang="en-GB" sz="2400" b="1" dirty="0">
                <a:solidFill>
                  <a:schemeClr val="tx1"/>
                </a:solidFill>
              </a:rPr>
              <a:t>what it is” (classes, objects, components)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Class Diagram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Object Diagram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Component Diagram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Package Diagram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Deployment Diagram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629451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1DFA2-919C-D8EA-FE2A-8D571B44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BAC5-8E1E-F01E-C8EE-19567C85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Types of UML Diagrams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A8177-0865-2BE7-E754-B0C18AE87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2"/>
                </a:solidFill>
              </a:rPr>
              <a:t>Behavioral Diagrams </a:t>
            </a:r>
            <a:r>
              <a:rPr lang="en-US" sz="2400" b="1" dirty="0">
                <a:solidFill>
                  <a:schemeClr val="accent2"/>
                </a:solidFill>
                <a:sym typeface="Wingdings" panose="05000000000000000000" pitchFamily="2" charset="2"/>
              </a:rPr>
              <a:t> </a:t>
            </a:r>
            <a:r>
              <a:rPr lang="en-GB" sz="2400" b="1" dirty="0">
                <a:solidFill>
                  <a:schemeClr val="tx1"/>
                </a:solidFill>
              </a:rPr>
              <a:t>what it does (interactions, actions, processes)</a:t>
            </a:r>
            <a:endParaRPr lang="en-US" sz="2400" b="1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200" dirty="0"/>
              <a:t>Use Case Diagram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Sequence Diagram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Activity Diagram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State Diagram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Communication Diagram</a:t>
            </a:r>
          </a:p>
        </p:txBody>
      </p:sp>
    </p:spTree>
    <p:extLst>
      <p:ext uri="{BB962C8B-B14F-4D97-AF65-F5344CB8AC3E}">
        <p14:creationId xmlns:p14="http://schemas.microsoft.com/office/powerpoint/2010/main" val="584329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576887"/>
          </a:xfrm>
        </p:spPr>
        <p:txBody>
          <a:bodyPr>
            <a:noAutofit/>
          </a:bodyPr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514600"/>
            <a:ext cx="8229600" cy="2209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...?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9629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20334</TotalTime>
  <Words>1000</Words>
  <Application>Microsoft Office PowerPoint</Application>
  <PresentationFormat>Widescreen</PresentationFormat>
  <Paragraphs>109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Wingdings</vt:lpstr>
      <vt:lpstr>Retrospect</vt:lpstr>
      <vt:lpstr>Fundamentals of Object-Orient Program</vt:lpstr>
      <vt:lpstr>Contents</vt:lpstr>
      <vt:lpstr>Object-Oriented Programming (OOP) </vt:lpstr>
      <vt:lpstr>Importance and Advantages of OOP</vt:lpstr>
      <vt:lpstr>Object-Oriented Concepts using Java</vt:lpstr>
      <vt:lpstr>Class and Object </vt:lpstr>
      <vt:lpstr>Class and Object </vt:lpstr>
      <vt:lpstr>Constructor</vt:lpstr>
      <vt:lpstr>Abstraction</vt:lpstr>
      <vt:lpstr>Abstraction (Cont.)</vt:lpstr>
      <vt:lpstr>Encapsulation</vt:lpstr>
      <vt:lpstr>Encapsulation (cont.)</vt:lpstr>
      <vt:lpstr>Encapsulation (cont.)</vt:lpstr>
      <vt:lpstr>Inheritance</vt:lpstr>
      <vt:lpstr>Inheritance (Cont.)</vt:lpstr>
      <vt:lpstr>Polymorphism</vt:lpstr>
      <vt:lpstr>Polymorphism (Cont.)</vt:lpstr>
      <vt:lpstr>Object Association and Collaboration</vt:lpstr>
      <vt:lpstr>Object Association and Collaboration</vt:lpstr>
      <vt:lpstr>Object Association</vt:lpstr>
      <vt:lpstr>Object Association</vt:lpstr>
      <vt:lpstr>Unified Modeling Language(UML)</vt:lpstr>
      <vt:lpstr>Why Use Unified Modeling Language? </vt:lpstr>
      <vt:lpstr>Types of UML Diagrams</vt:lpstr>
      <vt:lpstr>Types of UML Diagrams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CS2053 - Discrete Structures  (Discrete Mathematics) Spring 2025</dc:title>
  <cp:lastModifiedBy>Sharif  Hussain</cp:lastModifiedBy>
  <cp:revision>380</cp:revision>
  <cp:lastPrinted>2012-09-04T14:09:35Z</cp:lastPrinted>
  <dcterms:created xsi:type="dcterms:W3CDTF">2012-08-29T04:16:05Z</dcterms:created>
  <dcterms:modified xsi:type="dcterms:W3CDTF">2025-10-08T08:32:23Z</dcterms:modified>
</cp:coreProperties>
</file>
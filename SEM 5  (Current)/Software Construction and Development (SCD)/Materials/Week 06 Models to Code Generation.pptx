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0" r:id="rId1"/>
  </p:sldMasterIdLst>
  <p:notesMasterIdLst>
    <p:notesMasterId r:id="rId16"/>
  </p:notesMasterIdLst>
  <p:handoutMasterIdLst>
    <p:handoutMasterId r:id="rId17"/>
  </p:handoutMasterIdLst>
  <p:sldIdLst>
    <p:sldId id="256" r:id="rId2"/>
    <p:sldId id="308" r:id="rId3"/>
    <p:sldId id="335" r:id="rId4"/>
    <p:sldId id="337" r:id="rId5"/>
    <p:sldId id="336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13" r:id="rId14"/>
    <p:sldId id="345" r:id="rId15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743D03-5BBA-44B0-A4E6-E48149041E6D}">
          <p14:sldIdLst>
            <p14:sldId id="256"/>
            <p14:sldId id="308"/>
            <p14:sldId id="335"/>
            <p14:sldId id="337"/>
            <p14:sldId id="336"/>
            <p14:sldId id="338"/>
            <p14:sldId id="339"/>
            <p14:sldId id="340"/>
            <p14:sldId id="341"/>
            <p14:sldId id="342"/>
            <p14:sldId id="343"/>
            <p14:sldId id="344"/>
            <p14:sldId id="313"/>
            <p14:sldId id="3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 autoAdjust="0"/>
    <p:restoredTop sz="94709" autoAdjust="0"/>
  </p:normalViewPr>
  <p:slideViewPr>
    <p:cSldViewPr>
      <p:cViewPr varScale="1">
        <p:scale>
          <a:sx n="68" d="100"/>
          <a:sy n="68" d="100"/>
        </p:scale>
        <p:origin x="792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F8751-8426-4E45-B653-996E53C24DF5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A0FD4-BBB1-4631-B792-13542183C7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484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F20A2-F648-49B6-B583-961A9B9E9422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C50C1-00A3-4435-BCEA-4901BC54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194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08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24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2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3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8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65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355B0FE-4AC0-4D7B-83B1-A18CD9CB8AEE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4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1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4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2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6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7908"/>
            <a:ext cx="10287000" cy="1360979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to Code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2795" y="3287010"/>
            <a:ext cx="8500403" cy="75660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Subject: </a:t>
            </a:r>
            <a:r>
              <a:rPr lang="en-US" sz="2000" b="1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Construction &amp; Development</a:t>
            </a:r>
            <a:endParaRPr lang="en-US" sz="3200" b="1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81200" y="4800600"/>
            <a:ext cx="7765366" cy="911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Mr. Sharif Hussain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26798" y="1794727"/>
            <a:ext cx="7772400" cy="533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Week-06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991099" y="2800246"/>
            <a:ext cx="2243797" cy="4821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 - 2025</a:t>
            </a:r>
          </a:p>
        </p:txBody>
      </p:sp>
    </p:spTree>
    <p:extLst>
      <p:ext uri="{BB962C8B-B14F-4D97-AF65-F5344CB8AC3E}">
        <p14:creationId xmlns:p14="http://schemas.microsoft.com/office/powerpoint/2010/main" val="2072567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322" y="685800"/>
            <a:ext cx="10534358" cy="93259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322" y="1905000"/>
            <a:ext cx="10961077" cy="42672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+mj-lt"/>
              </a:rPr>
              <a:t>Introduction to Model-Driven Engineering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+mj-lt"/>
              </a:rPr>
              <a:t>Model Transformation Process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+mj-lt"/>
              </a:rPr>
              <a:t>Model-to-Code Generation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+mj-lt"/>
              </a:rPr>
              <a:t>Modeling Languages and Tools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+mj-lt"/>
              </a:rPr>
              <a:t>Code Generation Techniques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+mj-lt"/>
              </a:rPr>
              <a:t>Code Generation Workflow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+mj-lt"/>
              </a:rPr>
              <a:t>Benefits of Model-to-Code Generation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 smtClean="0">
                <a:latin typeface="+mj-lt"/>
              </a:rPr>
              <a:t>Practical </a:t>
            </a:r>
            <a:r>
              <a:rPr lang="en-US" altLang="en-US" sz="1800" dirty="0">
                <a:latin typeface="+mj-lt"/>
              </a:rPr>
              <a:t>Examples and Case Studies</a:t>
            </a:r>
          </a:p>
        </p:txBody>
      </p:sp>
    </p:spTree>
    <p:extLst>
      <p:ext uri="{BB962C8B-B14F-4D97-AF65-F5344CB8AC3E}">
        <p14:creationId xmlns:p14="http://schemas.microsoft.com/office/powerpoint/2010/main" val="113402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100" dirty="0">
                <a:solidFill>
                  <a:srgbClr val="C00000"/>
                </a:solidFill>
              </a:rPr>
              <a:t>Model-Driven Engineering (MDE)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6065520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 smtClean="0"/>
              <a:t>A </a:t>
            </a:r>
            <a:r>
              <a:rPr lang="en-US" sz="2300" dirty="0"/>
              <a:t>software development approach that focuses on models as the primary artifacts, not code.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These models describe the system’s structure and behavior and are later transformed into executable code through automated tools, improving productivity and consistency.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7" t="5308" r="4746" b="4458"/>
          <a:stretch/>
        </p:blipFill>
        <p:spPr>
          <a:xfrm>
            <a:off x="7467600" y="2438400"/>
            <a:ext cx="4394948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100" dirty="0">
                <a:solidFill>
                  <a:srgbClr val="C00000"/>
                </a:solidFill>
              </a:rPr>
              <a:t>Model Transformation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b="1" dirty="0"/>
              <a:t>Model Transformation Engine</a:t>
            </a:r>
            <a:r>
              <a:rPr lang="en-US" sz="2400" dirty="0"/>
              <a:t> in MDE converts a </a:t>
            </a:r>
            <a:r>
              <a:rPr lang="en-US" sz="2400" b="1" dirty="0"/>
              <a:t>Platform-Independent Model (PIM)</a:t>
            </a:r>
            <a:r>
              <a:rPr lang="en-US" sz="2400" dirty="0"/>
              <a:t> into a </a:t>
            </a:r>
            <a:r>
              <a:rPr lang="en-US" sz="2400" b="1" dirty="0"/>
              <a:t>Platform-Specific Model (PSM)</a:t>
            </a:r>
            <a:r>
              <a:rPr lang="en-US" sz="2400" dirty="0"/>
              <a:t> through a </a:t>
            </a:r>
            <a:r>
              <a:rPr lang="en-US" sz="2400" b="1" dirty="0"/>
              <a:t>Model-to-Model (M2M)</a:t>
            </a:r>
            <a:r>
              <a:rPr lang="en-US" sz="2400" dirty="0"/>
              <a:t> transformation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i="1" dirty="0" smtClean="0">
                <a:solidFill>
                  <a:srgbClr val="C00000"/>
                </a:solidFill>
              </a:rPr>
              <a:t>Example</a:t>
            </a:r>
            <a:r>
              <a:rPr lang="en-US" sz="2400" b="1" i="1" dirty="0">
                <a:solidFill>
                  <a:srgbClr val="C00000"/>
                </a:solidFill>
              </a:rPr>
              <a:t>: </a:t>
            </a:r>
            <a:r>
              <a:rPr lang="en-US" sz="2400" dirty="0"/>
              <a:t>A UML Class Diagram showing entities like </a:t>
            </a:r>
            <a:r>
              <a:rPr lang="en-US" sz="2400" i="1" dirty="0"/>
              <a:t>Student</a:t>
            </a:r>
            <a:r>
              <a:rPr lang="en-US" sz="2400" dirty="0"/>
              <a:t>, </a:t>
            </a:r>
            <a:r>
              <a:rPr lang="en-US" sz="2400" i="1" dirty="0"/>
              <a:t>Course</a:t>
            </a:r>
            <a:r>
              <a:rPr lang="en-US" sz="2400" dirty="0"/>
              <a:t>, and </a:t>
            </a:r>
            <a:r>
              <a:rPr lang="en-US" sz="2400" i="1" dirty="0"/>
              <a:t>Registration</a:t>
            </a:r>
            <a:r>
              <a:rPr lang="en-US" sz="2400" dirty="0"/>
              <a:t> </a:t>
            </a:r>
            <a:r>
              <a:rPr lang="en-US" sz="2400" b="1" i="1" dirty="0"/>
              <a:t>(PIM)</a:t>
            </a:r>
            <a:r>
              <a:rPr lang="en-US" sz="2400" dirty="0"/>
              <a:t> is transformed into a detailed structure with platform-specific elements such as data types or database mappings </a:t>
            </a:r>
            <a:r>
              <a:rPr lang="en-US" sz="2400" b="1" i="1" dirty="0"/>
              <a:t>(PSM)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9279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4100" dirty="0">
                <a:solidFill>
                  <a:srgbClr val="C00000"/>
                </a:solidFill>
              </a:rPr>
              <a:t>Models to Code Generation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02" y="1905000"/>
            <a:ext cx="6776098" cy="43434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Model-to-Code Generation</a:t>
            </a:r>
            <a:r>
              <a:rPr lang="en-US" sz="2400" dirty="0"/>
              <a:t> is the most common and practical application of </a:t>
            </a:r>
            <a:r>
              <a:rPr lang="en-US" sz="2400" b="1" dirty="0"/>
              <a:t>MDE</a:t>
            </a:r>
            <a:r>
              <a:rPr lang="en-US" sz="2400" dirty="0"/>
              <a:t>. It is a </a:t>
            </a:r>
            <a:r>
              <a:rPr lang="en-US" sz="2400" b="1" dirty="0"/>
              <a:t>Model-to-Text (M2T)</a:t>
            </a:r>
            <a:r>
              <a:rPr lang="en-US" sz="2400" dirty="0"/>
              <a:t> transformation where models are converted into executable source code (like Java, Python, C++, or SQL</a:t>
            </a:r>
            <a:r>
              <a:rPr lang="en-US" sz="2400" dirty="0" smtClean="0"/>
              <a:t>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It bridges design and coding using a tool called a </a:t>
            </a:r>
            <a:r>
              <a:rPr lang="en-US" sz="2400" b="1" dirty="0"/>
              <a:t>code generator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031" y="2667000"/>
            <a:ext cx="4749178" cy="236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20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100" dirty="0" smtClean="0">
                <a:solidFill>
                  <a:srgbClr val="C00000"/>
                </a:solidFill>
              </a:rPr>
              <a:t>Modeling </a:t>
            </a:r>
            <a:r>
              <a:rPr lang="en-US" sz="4100" dirty="0">
                <a:solidFill>
                  <a:srgbClr val="C00000"/>
                </a:solidFill>
              </a:rPr>
              <a:t>Languages and </a:t>
            </a:r>
            <a:r>
              <a:rPr lang="en-US" sz="4100" dirty="0">
                <a:solidFill>
                  <a:srgbClr val="C00000"/>
                </a:solidFill>
              </a:rPr>
              <a:t>Tool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05000"/>
            <a:ext cx="10058400" cy="43434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Modeling</a:t>
            </a:r>
            <a:r>
              <a:rPr lang="en-US" sz="2400" dirty="0" smtClean="0"/>
              <a:t> </a:t>
            </a:r>
            <a:r>
              <a:rPr lang="en-US" sz="2400" dirty="0"/>
              <a:t>languages define rules for creating system models, while tools help design and manage </a:t>
            </a:r>
            <a:r>
              <a:rPr lang="en-US" sz="2400" dirty="0" smtClean="0"/>
              <a:t>them.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 smtClean="0"/>
              <a:t>GPL</a:t>
            </a:r>
            <a:r>
              <a:rPr lang="en-US" sz="2200" b="1" dirty="0"/>
              <a:t>:</a:t>
            </a:r>
            <a:r>
              <a:rPr lang="en-US" sz="2200" dirty="0"/>
              <a:t> </a:t>
            </a:r>
            <a:r>
              <a:rPr lang="en-US" sz="2200" i="1" dirty="0"/>
              <a:t>UML</a:t>
            </a:r>
            <a:r>
              <a:rPr lang="en-US" sz="2200" dirty="0"/>
              <a:t> — includes Class, Sequence, Activity, and State </a:t>
            </a:r>
            <a:r>
              <a:rPr lang="en-US" sz="2200" dirty="0" smtClean="0"/>
              <a:t>diagrams.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/>
              <a:t>DSL</a:t>
            </a:r>
            <a:r>
              <a:rPr lang="en-US" sz="2400" b="1" dirty="0"/>
              <a:t>:</a:t>
            </a:r>
            <a:r>
              <a:rPr lang="en-US" sz="2400" dirty="0"/>
              <a:t> Custom languages for specific domains, e.g., </a:t>
            </a:r>
            <a:r>
              <a:rPr lang="en-US" sz="2400" i="1" dirty="0"/>
              <a:t>Java</a:t>
            </a:r>
            <a:r>
              <a:rPr lang="en-US" sz="2400" dirty="0"/>
              <a:t> </a:t>
            </a:r>
            <a:r>
              <a:rPr lang="en-US" sz="2400" dirty="0" smtClean="0"/>
              <a:t> or </a:t>
            </a:r>
            <a:r>
              <a:rPr lang="en-US" sz="2400" i="1" dirty="0" smtClean="0"/>
              <a:t>SQL</a:t>
            </a:r>
            <a:r>
              <a:rPr lang="en-US" sz="2400" dirty="0" smtClean="0"/>
              <a:t> </a:t>
            </a:r>
            <a:r>
              <a:rPr lang="en-US" sz="2400" dirty="0"/>
              <a:t>for </a:t>
            </a:r>
            <a:r>
              <a:rPr lang="en-US" sz="2400" dirty="0" smtClean="0"/>
              <a:t>databases.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/>
              <a:t>Tools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i="1" dirty="0" err="1"/>
              <a:t>StarUML</a:t>
            </a:r>
            <a:r>
              <a:rPr lang="en-US" sz="2400" dirty="0"/>
              <a:t>, </a:t>
            </a:r>
            <a:r>
              <a:rPr lang="en-US" sz="2400" i="1" dirty="0"/>
              <a:t>Visual Paradigm</a:t>
            </a:r>
            <a:r>
              <a:rPr lang="en-US" sz="2400" dirty="0"/>
              <a:t>, </a:t>
            </a:r>
            <a:r>
              <a:rPr lang="en-US" sz="2400" i="1" dirty="0"/>
              <a:t>Enterprise Architect</a:t>
            </a:r>
            <a:r>
              <a:rPr lang="en-US" sz="2400" dirty="0"/>
              <a:t>, </a:t>
            </a:r>
            <a:r>
              <a:rPr lang="en-US" sz="2400" i="1" dirty="0"/>
              <a:t>draw.io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291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100" dirty="0" smtClean="0">
                <a:solidFill>
                  <a:srgbClr val="C00000"/>
                </a:solidFill>
              </a:rPr>
              <a:t>Code </a:t>
            </a:r>
            <a:r>
              <a:rPr lang="en-US" sz="4100" dirty="0">
                <a:solidFill>
                  <a:srgbClr val="C00000"/>
                </a:solidFill>
              </a:rPr>
              <a:t>Generation </a:t>
            </a:r>
            <a:r>
              <a:rPr lang="en-US" sz="4100" dirty="0">
                <a:solidFill>
                  <a:srgbClr val="C00000"/>
                </a:solidFill>
              </a:rPr>
              <a:t>Techniques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05000"/>
            <a:ext cx="10058400" cy="4343400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b="1" dirty="0" smtClean="0"/>
              <a:t>Template-Based: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Generates code from model </a:t>
            </a:r>
            <a:r>
              <a:rPr lang="en-US" altLang="en-US" sz="2000" dirty="0" smtClean="0"/>
              <a:t>templates.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Example</a:t>
            </a:r>
            <a:r>
              <a:rPr lang="en-US" altLang="en-US" sz="2000" dirty="0"/>
              <a:t>: UML Class → </a:t>
            </a:r>
            <a:r>
              <a:rPr lang="en-US" altLang="en-US" sz="2000" dirty="0" smtClean="0"/>
              <a:t>Student.java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Tools</a:t>
            </a:r>
            <a:r>
              <a:rPr lang="en-US" altLang="en-US" sz="2000" dirty="0"/>
              <a:t>: Visual Paradigm, </a:t>
            </a:r>
            <a:r>
              <a:rPr lang="en-US" altLang="en-US" sz="2000" dirty="0" err="1"/>
              <a:t>StarUML</a:t>
            </a:r>
            <a:r>
              <a:rPr lang="en-US" altLang="en-US" sz="2000" dirty="0"/>
              <a:t>, </a:t>
            </a:r>
            <a:r>
              <a:rPr lang="en-US" altLang="en-US" sz="2000" dirty="0" err="1" smtClean="0"/>
              <a:t>Acceleo</a:t>
            </a:r>
            <a:endParaRPr lang="en-US" altLang="en-US" sz="2000" dirty="0" smtClean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b="1" dirty="0"/>
              <a:t>Model</a:t>
            </a:r>
            <a:r>
              <a:rPr lang="en-US" altLang="en-US" b="1" dirty="0" smtClean="0"/>
              <a:t> </a:t>
            </a:r>
            <a:r>
              <a:rPr lang="en-US" altLang="en-US" b="1" dirty="0"/>
              <a:t>Interpretation: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Runs/simulates </a:t>
            </a:r>
            <a:r>
              <a:rPr lang="en-US" altLang="en-US" sz="2000" dirty="0"/>
              <a:t>the model directly without generating </a:t>
            </a:r>
            <a:r>
              <a:rPr lang="en-US" altLang="en-US" sz="2000" dirty="0" smtClean="0"/>
              <a:t>code.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Example</a:t>
            </a:r>
            <a:r>
              <a:rPr lang="en-US" altLang="en-US" sz="2000" dirty="0"/>
              <a:t>: State Machine Diagram of an </a:t>
            </a:r>
            <a:r>
              <a:rPr lang="en-US" altLang="en-US" sz="2000" dirty="0" smtClean="0"/>
              <a:t>elevator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Tools</a:t>
            </a:r>
            <a:r>
              <a:rPr lang="en-US" altLang="en-US" sz="2000" dirty="0"/>
              <a:t>: MATLAB/Simulink, IBM Rhapsody, </a:t>
            </a:r>
            <a:r>
              <a:rPr lang="en-US" altLang="en-US" sz="2000" dirty="0" err="1" smtClean="0"/>
              <a:t>AnyLogic</a:t>
            </a:r>
            <a:endParaRPr lang="en-US" altLang="en-US" sz="20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71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100" dirty="0" smtClean="0">
                <a:solidFill>
                  <a:srgbClr val="C00000"/>
                </a:solidFill>
              </a:rPr>
              <a:t>Code </a:t>
            </a:r>
            <a:r>
              <a:rPr lang="en-US" sz="4100" dirty="0">
                <a:solidFill>
                  <a:srgbClr val="C00000"/>
                </a:solidFill>
              </a:rPr>
              <a:t>Generation </a:t>
            </a:r>
            <a:r>
              <a:rPr lang="en-US" sz="4100" dirty="0" smtClean="0">
                <a:solidFill>
                  <a:srgbClr val="C00000"/>
                </a:solidFill>
              </a:rPr>
              <a:t>Techniques (Cont.)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05000"/>
            <a:ext cx="10058400" cy="4343400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b="1" dirty="0" smtClean="0"/>
              <a:t>Hybrid Approach:</a:t>
            </a:r>
            <a:endParaRPr lang="en-US" altLang="en-US" sz="2400" b="1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Generates </a:t>
            </a:r>
            <a:r>
              <a:rPr lang="en-US" altLang="en-US" sz="2400" dirty="0"/>
              <a:t>basic code, then manually adds custom </a:t>
            </a:r>
            <a:r>
              <a:rPr lang="en-US" altLang="en-US" sz="2400" dirty="0"/>
              <a:t>logic.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Example</a:t>
            </a:r>
            <a:r>
              <a:rPr lang="en-US" altLang="en-US" sz="2400" dirty="0"/>
              <a:t>: UML → Java classes → add business </a:t>
            </a:r>
            <a:r>
              <a:rPr lang="en-US" altLang="en-US" sz="2400" dirty="0"/>
              <a:t>logic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Tools</a:t>
            </a:r>
            <a:r>
              <a:rPr lang="en-US" altLang="en-US" sz="2400" dirty="0"/>
              <a:t>: Enterprise Architect, Eclipse EMF, Visual Paradigm + </a:t>
            </a:r>
            <a:r>
              <a:rPr lang="en-US" altLang="en-US" sz="2400" dirty="0" smtClean="0"/>
              <a:t>NetBeans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88676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4100" dirty="0" smtClean="0">
                <a:solidFill>
                  <a:srgbClr val="C00000"/>
                </a:solidFill>
              </a:rPr>
              <a:t>Code </a:t>
            </a:r>
            <a:r>
              <a:rPr lang="en-US" altLang="en-US" sz="4100" dirty="0">
                <a:solidFill>
                  <a:srgbClr val="C00000"/>
                </a:solidFill>
              </a:rPr>
              <a:t>Generation </a:t>
            </a:r>
            <a:r>
              <a:rPr lang="en-US" altLang="en-US" sz="4100" dirty="0">
                <a:solidFill>
                  <a:srgbClr val="C00000"/>
                </a:solidFill>
              </a:rPr>
              <a:t>Workflow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05000"/>
            <a:ext cx="10058400" cy="4343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Create/Update </a:t>
            </a:r>
            <a:r>
              <a:rPr lang="en-US" altLang="en-US" sz="2400" dirty="0"/>
              <a:t>Model: Use a tool (e.g., </a:t>
            </a:r>
            <a:r>
              <a:rPr lang="en-US" altLang="en-US" sz="2400" dirty="0" err="1"/>
              <a:t>StarUML</a:t>
            </a:r>
            <a:r>
              <a:rPr lang="en-US" altLang="en-US" sz="2400" dirty="0"/>
              <a:t>) to design or modify the model, like adding a new UML </a:t>
            </a:r>
            <a:r>
              <a:rPr lang="en-US" altLang="en-US" sz="2400" dirty="0" smtClean="0"/>
              <a:t>class.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Validate </a:t>
            </a:r>
            <a:r>
              <a:rPr lang="en-US" altLang="en-US" sz="2400" dirty="0"/>
              <a:t>Model: Check the model for errors (e.g., missing class names</a:t>
            </a:r>
            <a:r>
              <a:rPr lang="en-US" altLang="en-US" sz="2400" dirty="0" smtClean="0"/>
              <a:t>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Run </a:t>
            </a:r>
            <a:r>
              <a:rPr lang="en-US" altLang="en-US" sz="2400" dirty="0"/>
              <a:t>Generator: Trigger code generation in the </a:t>
            </a:r>
            <a:r>
              <a:rPr lang="en-US" altLang="en-US" sz="2400" dirty="0" smtClean="0"/>
              <a:t>tool.</a:t>
            </a:r>
          </a:p>
        </p:txBody>
      </p:sp>
    </p:spTree>
    <p:extLst>
      <p:ext uri="{BB962C8B-B14F-4D97-AF65-F5344CB8AC3E}">
        <p14:creationId xmlns:p14="http://schemas.microsoft.com/office/powerpoint/2010/main" val="80596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4100" dirty="0" smtClean="0">
                <a:solidFill>
                  <a:srgbClr val="C00000"/>
                </a:solidFill>
              </a:rPr>
              <a:t>Code </a:t>
            </a:r>
            <a:r>
              <a:rPr lang="en-US" altLang="en-US" sz="4100" dirty="0">
                <a:solidFill>
                  <a:srgbClr val="C00000"/>
                </a:solidFill>
              </a:rPr>
              <a:t>Generation </a:t>
            </a:r>
            <a:r>
              <a:rPr lang="en-US" altLang="en-US" sz="4100" dirty="0" smtClean="0">
                <a:solidFill>
                  <a:srgbClr val="C00000"/>
                </a:solidFill>
              </a:rPr>
              <a:t>Workflow (Cont.)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05000"/>
            <a:ext cx="10058400" cy="4343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 smtClean="0"/>
              <a:t>Generate </a:t>
            </a:r>
            <a:r>
              <a:rPr lang="en-US" altLang="en-US" sz="2200" dirty="0"/>
              <a:t>Code: The engine applies templates and creates code files (e.g., Customer.java, Order.java</a:t>
            </a:r>
            <a:r>
              <a:rPr lang="en-US" altLang="en-US" sz="2200" dirty="0" smtClean="0"/>
              <a:t>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 smtClean="0"/>
              <a:t>Integrate </a:t>
            </a:r>
            <a:r>
              <a:rPr lang="en-US" altLang="en-US" sz="2200" dirty="0"/>
              <a:t>Code: Add generated files to the project and write any additional manual code as </a:t>
            </a:r>
            <a:r>
              <a:rPr lang="en-US" altLang="en-US" sz="2200" dirty="0" smtClean="0"/>
              <a:t>needed.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200" b="1" dirty="0" smtClean="0">
                <a:solidFill>
                  <a:srgbClr val="C00000"/>
                </a:solidFill>
              </a:rPr>
              <a:t>Note</a:t>
            </a:r>
            <a:r>
              <a:rPr lang="en-US" altLang="en-US" sz="2200" b="1" dirty="0">
                <a:solidFill>
                  <a:srgbClr val="C00000"/>
                </a:solidFill>
              </a:rPr>
              <a:t>:</a:t>
            </a:r>
            <a:r>
              <a:rPr lang="en-US" altLang="en-US" sz="2200" dirty="0"/>
              <a:t> Always update the model first; do not edit generated code directly. </a:t>
            </a:r>
            <a:r>
              <a:rPr lang="en-US" altLang="en-US" sz="2200" dirty="0"/>
              <a:t>The model is the “source of truth</a:t>
            </a:r>
            <a:r>
              <a:rPr lang="en-US" altLang="en-US" sz="2200" dirty="0"/>
              <a:t>.”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425027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100" dirty="0" smtClean="0">
                <a:solidFill>
                  <a:srgbClr val="C00000"/>
                </a:solidFill>
              </a:rPr>
              <a:t>Benefits </a:t>
            </a:r>
            <a:r>
              <a:rPr lang="en-US" sz="4100" dirty="0">
                <a:solidFill>
                  <a:srgbClr val="C00000"/>
                </a:solidFill>
              </a:rPr>
              <a:t>of Model-to-Code </a:t>
            </a:r>
            <a:r>
              <a:rPr lang="en-US" sz="4100" dirty="0">
                <a:solidFill>
                  <a:srgbClr val="C00000"/>
                </a:solidFill>
              </a:rPr>
              <a:t>Generation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05000"/>
            <a:ext cx="10058400" cy="4343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 smtClean="0">
                <a:latin typeface="Calibri (Body)"/>
              </a:rPr>
              <a:t>Faster </a:t>
            </a:r>
            <a:r>
              <a:rPr lang="en-US" sz="2200" b="1" dirty="0">
                <a:latin typeface="Calibri (Body)"/>
              </a:rPr>
              <a:t>Development:</a:t>
            </a:r>
            <a:r>
              <a:rPr lang="en-US" sz="2200" dirty="0">
                <a:latin typeface="Calibri (Body)"/>
              </a:rPr>
              <a:t> Saves time by automating repetitive coding </a:t>
            </a:r>
            <a:r>
              <a:rPr lang="en-US" sz="2200" dirty="0" smtClean="0">
                <a:latin typeface="Calibri (Body)"/>
              </a:rPr>
              <a:t>tasks.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 smtClean="0">
                <a:latin typeface="Calibri (Body)"/>
              </a:rPr>
              <a:t>Consistency</a:t>
            </a:r>
            <a:r>
              <a:rPr lang="en-US" sz="2200" b="1" dirty="0">
                <a:latin typeface="Calibri (Body)"/>
              </a:rPr>
              <a:t>:</a:t>
            </a:r>
            <a:r>
              <a:rPr lang="en-US" sz="2200" dirty="0">
                <a:latin typeface="Calibri (Body)"/>
              </a:rPr>
              <a:t> Reduces human errors; keeps design and implementation </a:t>
            </a:r>
            <a:r>
              <a:rPr lang="en-US" sz="2200" dirty="0" smtClean="0">
                <a:latin typeface="Calibri (Body)"/>
              </a:rPr>
              <a:t>aligned.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 smtClean="0">
                <a:latin typeface="Calibri (Body)"/>
              </a:rPr>
              <a:t>Maintainability</a:t>
            </a:r>
            <a:r>
              <a:rPr lang="en-US" sz="2200" b="1" dirty="0">
                <a:latin typeface="Calibri (Body)"/>
              </a:rPr>
              <a:t>:</a:t>
            </a:r>
            <a:r>
              <a:rPr lang="en-US" sz="2200" dirty="0">
                <a:latin typeface="Calibri (Body)"/>
              </a:rPr>
              <a:t> Changes in models automatically update the </a:t>
            </a:r>
            <a:r>
              <a:rPr lang="en-US" sz="2200" dirty="0" smtClean="0">
                <a:latin typeface="Calibri (Body)"/>
              </a:rPr>
              <a:t>code.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 smtClean="0">
                <a:latin typeface="Calibri (Body)"/>
              </a:rPr>
              <a:t>Documentation</a:t>
            </a:r>
            <a:r>
              <a:rPr lang="en-US" sz="2200" b="1" dirty="0">
                <a:latin typeface="Calibri (Body)"/>
              </a:rPr>
              <a:t>:</a:t>
            </a:r>
            <a:r>
              <a:rPr lang="en-US" sz="2200" dirty="0">
                <a:latin typeface="Calibri (Body)"/>
              </a:rPr>
              <a:t> Models serve as system </a:t>
            </a:r>
            <a:r>
              <a:rPr lang="en-US" sz="2200" dirty="0" smtClean="0">
                <a:latin typeface="Calibri (Body)"/>
              </a:rPr>
              <a:t>documentation.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 smtClean="0">
                <a:latin typeface="Calibri (Body)"/>
              </a:rPr>
              <a:t>Productivity</a:t>
            </a:r>
            <a:r>
              <a:rPr lang="en-US" sz="2200" b="1" dirty="0">
                <a:latin typeface="Calibri (Body)"/>
              </a:rPr>
              <a:t>:</a:t>
            </a:r>
            <a:r>
              <a:rPr lang="en-US" sz="2200" dirty="0">
                <a:latin typeface="Calibri (Body)"/>
              </a:rPr>
              <a:t> Developers focus more on logic than syntax.</a:t>
            </a:r>
            <a:endParaRPr lang="en-US" altLang="en-US" sz="2200" dirty="0" smtClean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237590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4100" dirty="0" smtClean="0">
                <a:solidFill>
                  <a:srgbClr val="C00000"/>
                </a:solidFill>
              </a:rPr>
              <a:t>Practical Examples</a:t>
            </a:r>
            <a:endParaRPr lang="en-US" alt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05000"/>
            <a:ext cx="10058400" cy="4343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/>
              <a:t>Example </a:t>
            </a:r>
            <a:r>
              <a:rPr lang="en-US" sz="2400" b="1" dirty="0"/>
              <a:t>1 – Student Registration System: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UML Class Diagram → Generates Java classes (Student, Course, Registration</a:t>
            </a:r>
            <a:r>
              <a:rPr lang="en-US" sz="2400" dirty="0" smtClean="0"/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Activity </a:t>
            </a:r>
            <a:r>
              <a:rPr lang="en-US" sz="2400" dirty="0"/>
              <a:t>Diagram → Defines workflow of </a:t>
            </a:r>
            <a:r>
              <a:rPr lang="en-US" sz="2400" dirty="0" smtClean="0"/>
              <a:t>registration.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Code </a:t>
            </a:r>
            <a:r>
              <a:rPr lang="en-US" sz="2400" dirty="0"/>
              <a:t>generated in NetBeans and linked with MySQL database.</a:t>
            </a:r>
          </a:p>
          <a:p>
            <a:r>
              <a:rPr lang="en-US" sz="2400" b="1" dirty="0"/>
              <a:t>Example 2 – Banking Application: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UML Sequence Diagrams used to define transaction </a:t>
            </a:r>
            <a:r>
              <a:rPr lang="en-US" sz="2400" dirty="0" smtClean="0"/>
              <a:t>flows.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Automatically </a:t>
            </a:r>
            <a:r>
              <a:rPr lang="en-US" sz="2400" dirty="0"/>
              <a:t>generated backend service code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53959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576887"/>
          </a:xfrm>
        </p:spPr>
        <p:txBody>
          <a:bodyPr>
            <a:noAutofit/>
          </a:bodyPr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514600"/>
            <a:ext cx="8229600" cy="2209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...?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962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4100" dirty="0" smtClean="0">
                <a:solidFill>
                  <a:srgbClr val="C00000"/>
                </a:solidFill>
              </a:rPr>
              <a:t>Class Activity</a:t>
            </a:r>
            <a:endParaRPr lang="en-US" alt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05000"/>
            <a:ext cx="10058400" cy="43434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smtClean="0">
                <a:solidFill>
                  <a:schemeClr val="tx1"/>
                </a:solidFill>
                <a:latin typeface="Calibri (Body)"/>
              </a:rPr>
              <a:t>Scenario</a:t>
            </a:r>
            <a:r>
              <a:rPr lang="en-US" altLang="en-US" b="1" dirty="0">
                <a:solidFill>
                  <a:schemeClr val="tx1"/>
                </a:solidFill>
                <a:latin typeface="Calibri (Body)"/>
              </a:rPr>
              <a:t>: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/>
            </a:r>
            <a:br>
              <a:rPr lang="en-US" altLang="en-US" dirty="0">
                <a:solidFill>
                  <a:schemeClr val="tx1"/>
                </a:solidFill>
                <a:latin typeface="Calibri (Body)"/>
              </a:rPr>
            </a:b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A university system predicts student performance using attendance, assignments, and exams.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smtClean="0">
                <a:solidFill>
                  <a:schemeClr val="tx1"/>
                </a:solidFill>
                <a:latin typeface="Calibri (Body)"/>
              </a:rPr>
              <a:t>Tasks:</a:t>
            </a:r>
            <a:endParaRPr lang="en-US" altLang="en-US" dirty="0" smtClean="0">
              <a:solidFill>
                <a:schemeClr val="tx1"/>
              </a:solidFill>
              <a:latin typeface="Calibri (Body)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smtClean="0">
                <a:solidFill>
                  <a:schemeClr val="tx1"/>
                </a:solidFill>
                <a:latin typeface="Calibri (Body)"/>
              </a:rPr>
              <a:t>Draw 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a </a:t>
            </a:r>
            <a:r>
              <a:rPr lang="en-US" altLang="en-US" b="1" dirty="0">
                <a:solidFill>
                  <a:schemeClr val="tx1"/>
                </a:solidFill>
                <a:latin typeface="Calibri (Body)"/>
              </a:rPr>
              <a:t>UML Class Diagram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with 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Student, Teacher,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PredictionModel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PerformanceRecord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smtClean="0">
                <a:solidFill>
                  <a:schemeClr val="tx1"/>
                </a:solidFill>
                <a:latin typeface="Calibri (Body)"/>
              </a:rPr>
              <a:t>List </a:t>
            </a:r>
            <a:r>
              <a:rPr lang="en-US" altLang="en-US" b="1" dirty="0">
                <a:solidFill>
                  <a:schemeClr val="tx1"/>
                </a:solidFill>
                <a:latin typeface="Calibri (Body)"/>
              </a:rPr>
              <a:t>2 attributes and 1 method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for each </a:t>
            </a:r>
            <a:r>
              <a:rPr lang="en-US" altLang="en-US" dirty="0" smtClean="0">
                <a:solidFill>
                  <a:schemeClr val="tx1"/>
                </a:solidFill>
                <a:latin typeface="Calibri (Body)"/>
              </a:rPr>
              <a:t>class.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  <a:latin typeface="Calibri (Body)"/>
              </a:rPr>
              <a:t>Give </a:t>
            </a:r>
            <a:r>
              <a:rPr lang="en-US" dirty="0">
                <a:solidFill>
                  <a:schemeClr val="tx1"/>
                </a:solidFill>
                <a:latin typeface="Calibri (Body)"/>
              </a:rPr>
              <a:t>your </a:t>
            </a:r>
            <a:r>
              <a:rPr lang="en-US" b="1" dirty="0">
                <a:solidFill>
                  <a:schemeClr val="tx1"/>
                </a:solidFill>
                <a:latin typeface="Calibri (Body)"/>
              </a:rPr>
              <a:t>own unique name</a:t>
            </a:r>
            <a:r>
              <a:rPr lang="en-US" dirty="0">
                <a:solidFill>
                  <a:schemeClr val="tx1"/>
                </a:solidFill>
                <a:latin typeface="Calibri (Body)"/>
              </a:rPr>
              <a:t> for the app and explain why you chose it</a:t>
            </a:r>
            <a:r>
              <a:rPr lang="en-US" dirty="0" smtClean="0">
                <a:solidFill>
                  <a:schemeClr val="tx1"/>
                </a:solidFill>
                <a:latin typeface="Calibri (Body)"/>
              </a:rPr>
              <a:t>.</a:t>
            </a:r>
            <a:endParaRPr lang="en-US" altLang="en-US" dirty="0">
              <a:solidFill>
                <a:schemeClr val="tx1"/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35113214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20861</TotalTime>
  <Words>674</Words>
  <Application>Microsoft Office PowerPoint</Application>
  <PresentationFormat>Widescreen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(Body)</vt:lpstr>
      <vt:lpstr>Calibri Light</vt:lpstr>
      <vt:lpstr>Courier New</vt:lpstr>
      <vt:lpstr>Wingdings</vt:lpstr>
      <vt:lpstr>Retrospect</vt:lpstr>
      <vt:lpstr>Models to Code Generation</vt:lpstr>
      <vt:lpstr>Contents</vt:lpstr>
      <vt:lpstr>Model-Driven Engineering (MDE)</vt:lpstr>
      <vt:lpstr>Model Transformation Process</vt:lpstr>
      <vt:lpstr>Models to Code Generation</vt:lpstr>
      <vt:lpstr>Modeling Languages and Tool</vt:lpstr>
      <vt:lpstr>Code Generation Techniques</vt:lpstr>
      <vt:lpstr>Code Generation Techniques (Cont.)</vt:lpstr>
      <vt:lpstr>Code Generation Workflow</vt:lpstr>
      <vt:lpstr>Code Generation Workflow (Cont.)</vt:lpstr>
      <vt:lpstr>Benefits of Model-to-Code Generation</vt:lpstr>
      <vt:lpstr>Practical Examples</vt:lpstr>
      <vt:lpstr>Thanks</vt:lpstr>
      <vt:lpstr>Class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CS2053 - Discrete Structures  (Discrete Mathematics) Spring 2025</dc:title>
  <dc:creator>Administrator</dc:creator>
  <cp:lastModifiedBy>HP</cp:lastModifiedBy>
  <cp:revision>467</cp:revision>
  <cp:lastPrinted>2012-09-04T14:09:35Z</cp:lastPrinted>
  <dcterms:created xsi:type="dcterms:W3CDTF">2012-08-29T04:16:05Z</dcterms:created>
  <dcterms:modified xsi:type="dcterms:W3CDTF">2025-10-29T08:11:00Z</dcterms:modified>
</cp:coreProperties>
</file>
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0" r:id="rId1"/>
  </p:sldMasterIdLst>
  <p:notesMasterIdLst>
    <p:notesMasterId r:id="rId19"/>
  </p:notesMasterIdLst>
  <p:handoutMasterIdLst>
    <p:handoutMasterId r:id="rId20"/>
  </p:handoutMasterIdLst>
  <p:sldIdLst>
    <p:sldId id="256" r:id="rId2"/>
    <p:sldId id="308" r:id="rId3"/>
    <p:sldId id="335" r:id="rId4"/>
    <p:sldId id="334" r:id="rId5"/>
    <p:sldId id="336" r:id="rId6"/>
    <p:sldId id="337" r:id="rId7"/>
    <p:sldId id="338" r:id="rId8"/>
    <p:sldId id="339" r:id="rId9"/>
    <p:sldId id="340" r:id="rId10"/>
    <p:sldId id="341" r:id="rId11"/>
    <p:sldId id="342" r:id="rId12"/>
    <p:sldId id="343" r:id="rId13"/>
    <p:sldId id="344" r:id="rId14"/>
    <p:sldId id="345" r:id="rId15"/>
    <p:sldId id="346" r:id="rId16"/>
    <p:sldId id="347" r:id="rId17"/>
    <p:sldId id="313" r:id="rId18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E743D03-5BBA-44B0-A4E6-E48149041E6D}">
          <p14:sldIdLst>
            <p14:sldId id="256"/>
            <p14:sldId id="308"/>
            <p14:sldId id="335"/>
            <p14:sldId id="334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1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 autoAdjust="0"/>
    <p:restoredTop sz="94709" autoAdjust="0"/>
  </p:normalViewPr>
  <p:slideViewPr>
    <p:cSldViewPr>
      <p:cViewPr varScale="1">
        <p:scale>
          <a:sx n="68" d="100"/>
          <a:sy n="68" d="100"/>
        </p:scale>
        <p:origin x="792" y="6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5F8751-8426-4E45-B653-996E53C24DF5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CA0FD4-BBB1-4631-B792-13542183C7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94846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6F20A2-F648-49B6-B583-961A9B9E9422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6C50C1-00A3-4435-BCEA-4901BC5426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51942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63FB-4DD9-4903-83FE-F80270576417}" type="datetime1">
              <a:rPr lang="en-US" smtClean="0"/>
              <a:pPr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7081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DFA81-FF35-40E2-AA6F-C4E4697E2C73}" type="datetime1">
              <a:rPr lang="en-US" smtClean="0"/>
              <a:pPr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23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8B4E-9E6D-47DB-A8C9-443A66B04FA1}" type="datetime1">
              <a:rPr lang="en-US" smtClean="0"/>
              <a:pPr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2245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AD187-3CAF-4EEB-B511-D277A7E40C82}" type="datetime1">
              <a:rPr lang="en-US" smtClean="0"/>
              <a:pPr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724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FEB82-3297-42CA-9AC7-D3ECF198E013}" type="datetime1">
              <a:rPr lang="en-US" smtClean="0"/>
              <a:pPr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633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48733-E273-4EF3-8143-57B6AA49A592}" type="datetime1">
              <a:rPr lang="en-US" smtClean="0"/>
              <a:pPr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680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16BD8-1159-4CEE-BF69-08E8DE6F04D4}" type="datetime1">
              <a:rPr lang="en-US" smtClean="0"/>
              <a:pPr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265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355B0FE-4AC0-4D7B-83B1-A18CD9CB8AEE}" type="datetime1">
              <a:rPr lang="en-US" smtClean="0"/>
              <a:pPr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40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2F497-D16F-472A-8AB2-6923D245D09D}" type="datetime1">
              <a:rPr lang="en-US" smtClean="0"/>
              <a:pPr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810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E3EED-3DA2-4ED4-9C83-CEA1A9E43AAB}" type="datetime1">
              <a:rPr lang="en-US" smtClean="0"/>
              <a:pPr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942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ADCE-E054-4FA0-B715-AC4537BA8B51}" type="datetime1">
              <a:rPr lang="en-US" smtClean="0"/>
              <a:pPr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025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9BFFB69-46B3-4750-912C-E29F4B8DA29C}" type="datetime1">
              <a:rPr lang="en-US" smtClean="0"/>
              <a:pPr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962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27908"/>
            <a:ext cx="10287000" cy="1360979"/>
          </a:xfrm>
        </p:spPr>
        <p:txBody>
          <a:bodyPr>
            <a:noAutofit/>
          </a:bodyPr>
          <a:lstStyle/>
          <a:p>
            <a:pPr algn="ctr"/>
            <a:r>
              <a:rPr lang="en-US" sz="4400" dirty="0" smtClean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Fundamental </a:t>
            </a:r>
            <a:r>
              <a:rPr lang="en-US" sz="44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programming structure in </a:t>
            </a:r>
            <a:r>
              <a:rPr lang="en-US" sz="4400" dirty="0" smtClean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java</a:t>
            </a:r>
            <a:endParaRPr lang="en-US" sz="4400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62795" y="3287010"/>
            <a:ext cx="8500403" cy="756602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cap="none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Subject</a:t>
            </a:r>
            <a:r>
              <a:rPr lang="en-US" sz="3200" b="1" cap="none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000" b="1" cap="none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Software Construction &amp; Development</a:t>
            </a:r>
            <a:endParaRPr lang="en-US" sz="3200" b="1" cap="none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981200" y="4800600"/>
            <a:ext cx="7765366" cy="9116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  <a:defRPr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Instructor: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Mr. Sharif </a:t>
            </a:r>
            <a:r>
              <a:rPr 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Hussain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226798" y="1794727"/>
            <a:ext cx="7772400" cy="533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Week-03</a:t>
            </a:r>
            <a:endParaRPr lang="en-US" sz="3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991099" y="2800246"/>
            <a:ext cx="2243797" cy="4821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Fall - 2025</a:t>
            </a:r>
          </a:p>
        </p:txBody>
      </p:sp>
    </p:spTree>
    <p:extLst>
      <p:ext uri="{BB962C8B-B14F-4D97-AF65-F5344CB8AC3E}">
        <p14:creationId xmlns:p14="http://schemas.microsoft.com/office/powerpoint/2010/main" val="2072567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322" y="685800"/>
            <a:ext cx="10534358" cy="93259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322" y="1905000"/>
            <a:ext cx="10961077" cy="426720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+mj-lt"/>
              </a:rPr>
              <a:t>Fundamental </a:t>
            </a:r>
            <a:r>
              <a:rPr lang="en-US" sz="2800" dirty="0">
                <a:latin typeface="+mj-lt"/>
              </a:rPr>
              <a:t>programming structure in </a:t>
            </a:r>
            <a:r>
              <a:rPr lang="en-US" sz="2800" dirty="0">
                <a:latin typeface="+mj-lt"/>
              </a:rPr>
              <a:t>java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800" dirty="0" smtClean="0">
                <a:latin typeface="+mj-lt"/>
              </a:rPr>
              <a:t>Control </a:t>
            </a:r>
            <a:r>
              <a:rPr lang="en-US" sz="2800" dirty="0">
                <a:latin typeface="+mj-lt"/>
              </a:rPr>
              <a:t>structures 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+mj-lt"/>
              </a:rPr>
              <a:t>Looping Structures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+mj-lt"/>
              </a:rPr>
              <a:t>Methods in Java</a:t>
            </a:r>
          </a:p>
        </p:txBody>
      </p:sp>
    </p:spTree>
    <p:extLst>
      <p:ext uri="{BB962C8B-B14F-4D97-AF65-F5344CB8AC3E}">
        <p14:creationId xmlns:p14="http://schemas.microsoft.com/office/powerpoint/2010/main" val="1134020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500" dirty="0" smtClean="0">
                <a:solidFill>
                  <a:srgbClr val="C00000"/>
                </a:solidFill>
              </a:rPr>
              <a:t>Control </a:t>
            </a:r>
            <a:r>
              <a:rPr lang="en-US" sz="4500" dirty="0">
                <a:solidFill>
                  <a:srgbClr val="C00000"/>
                </a:solidFill>
              </a:rPr>
              <a:t>structures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Control structures allow decision </a:t>
            </a:r>
            <a:r>
              <a:rPr lang="en-US" sz="2400" dirty="0" smtClean="0"/>
              <a:t>making, </a:t>
            </a:r>
            <a:r>
              <a:rPr lang="en-US" sz="2400" dirty="0"/>
              <a:t>means </a:t>
            </a:r>
            <a:r>
              <a:rPr lang="en-US" sz="2400" dirty="0"/>
              <a:t>choosing which block of code to execute based on </a:t>
            </a:r>
            <a:r>
              <a:rPr lang="en-US" sz="2400" dirty="0"/>
              <a:t>some </a:t>
            </a:r>
            <a:r>
              <a:rPr lang="en-US" sz="2400" dirty="0"/>
              <a:t>condition Statements.</a:t>
            </a:r>
            <a:endParaRPr lang="en-US" sz="2400" dirty="0"/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If </a:t>
            </a:r>
            <a:r>
              <a:rPr lang="en-US" sz="2200" dirty="0"/>
              <a:t>Statement</a:t>
            </a:r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smtClean="0"/>
              <a:t>if-else </a:t>
            </a:r>
            <a:r>
              <a:rPr lang="en-US" sz="2200" dirty="0"/>
              <a:t>Statement</a:t>
            </a:r>
            <a:endParaRPr lang="en-US" sz="2200" dirty="0"/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nested </a:t>
            </a:r>
            <a:r>
              <a:rPr lang="en-US" sz="2200" dirty="0" smtClean="0"/>
              <a:t>if </a:t>
            </a:r>
            <a:r>
              <a:rPr lang="en-US" sz="2200" dirty="0"/>
              <a:t>Statement</a:t>
            </a:r>
            <a:endParaRPr lang="en-US" sz="2200" dirty="0"/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smtClean="0"/>
              <a:t>if-else-if </a:t>
            </a:r>
            <a:r>
              <a:rPr lang="en-US" sz="2200" dirty="0"/>
              <a:t>Statement</a:t>
            </a:r>
            <a:endParaRPr lang="en-US" sz="2200" dirty="0"/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 smtClean="0"/>
              <a:t>Switch </a:t>
            </a:r>
            <a:r>
              <a:rPr lang="en-US" sz="2200" dirty="0"/>
              <a:t>Statement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29319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500" dirty="0" smtClean="0">
                <a:solidFill>
                  <a:srgbClr val="C00000"/>
                </a:solidFill>
              </a:rPr>
              <a:t>If </a:t>
            </a:r>
            <a:r>
              <a:rPr lang="en-US" sz="4500" dirty="0">
                <a:solidFill>
                  <a:srgbClr val="C00000"/>
                </a:solidFill>
              </a:rPr>
              <a:t>Statement</a:t>
            </a:r>
            <a:endParaRPr lang="en-US" sz="45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Used </a:t>
            </a:r>
            <a:r>
              <a:rPr lang="en-US" dirty="0"/>
              <a:t>when you want to run code only if a condition is true.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5731476"/>
              </p:ext>
            </p:extLst>
          </p:nvPr>
        </p:nvGraphicFramePr>
        <p:xfrm>
          <a:off x="1295400" y="2362200"/>
          <a:ext cx="81280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41268910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i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class </a:t>
                      </a:r>
                      <a:r>
                        <a:rPr lang="en-US" sz="1800" i="1" dirty="0" err="1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IfExample</a:t>
                      </a:r>
                      <a:r>
                        <a:rPr lang="en-US" sz="1800" i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{</a:t>
                      </a:r>
                      <a:br>
                        <a:rPr lang="en-US" sz="1800" i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</a:br>
                      <a:r>
                        <a:rPr lang="en-US" sz="1800" i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public static void main(String[] </a:t>
                      </a:r>
                      <a:r>
                        <a:rPr lang="en-US" sz="1800" i="1" dirty="0" err="1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args</a:t>
                      </a:r>
                      <a:r>
                        <a:rPr lang="en-US" sz="1800" i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 {</a:t>
                      </a:r>
                      <a:br>
                        <a:rPr lang="en-US" sz="1800" i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</a:br>
                      <a:r>
                        <a:rPr lang="en-US" sz="1800" i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</a:t>
                      </a:r>
                      <a:r>
                        <a:rPr lang="en-US" sz="1800" i="1" dirty="0" err="1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sz="1800" i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age = 20;</a:t>
                      </a:r>
                      <a:br>
                        <a:rPr lang="en-US" sz="1800" i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</a:br>
                      <a:r>
                        <a:rPr lang="en-US" sz="1800" i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if(age &gt;= 18) {</a:t>
                      </a:r>
                      <a:br>
                        <a:rPr lang="en-US" sz="1800" i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</a:br>
                      <a:r>
                        <a:rPr lang="en-US" sz="1800" i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    System.out.println("You are an adult.");</a:t>
                      </a:r>
                      <a:br>
                        <a:rPr lang="en-US" sz="1800" i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</a:br>
                      <a:r>
                        <a:rPr lang="en-US" sz="1800" i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    }</a:t>
                      </a:r>
                      <a:br>
                        <a:rPr lang="en-US" sz="1800" i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</a:br>
                      <a:r>
                        <a:rPr lang="en-US" sz="1800" i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    }</a:t>
                      </a:r>
                      <a:br>
                        <a:rPr lang="en-US" sz="1800" i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</a:br>
                      <a:r>
                        <a:rPr lang="en-US" sz="1800" i="1" dirty="0" smtClean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646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7690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500" dirty="0" smtClean="0">
                <a:solidFill>
                  <a:srgbClr val="C00000"/>
                </a:solidFill>
              </a:rPr>
              <a:t>If-Else Statement</a:t>
            </a:r>
            <a:endParaRPr lang="en-US" sz="45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Runs </a:t>
            </a:r>
            <a:r>
              <a:rPr lang="en-US" dirty="0"/>
              <a:t>one block if condition is true, otherwise another block.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194242"/>
              </p:ext>
            </p:extLst>
          </p:nvPr>
        </p:nvGraphicFramePr>
        <p:xfrm>
          <a:off x="1219200" y="2514600"/>
          <a:ext cx="812800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41268910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i="1" dirty="0" smtClean="0">
                          <a:solidFill>
                            <a:schemeClr val="tx1"/>
                          </a:solidFill>
                        </a:rPr>
                        <a:t>class </a:t>
                      </a:r>
                      <a:r>
                        <a:rPr lang="en-US" sz="1500" b="1" i="1" dirty="0" err="1" smtClean="0">
                          <a:solidFill>
                            <a:schemeClr val="tx1"/>
                          </a:solidFill>
                        </a:rPr>
                        <a:t>IfElseExample</a:t>
                      </a:r>
                      <a:r>
                        <a:rPr lang="en-US" sz="1500" b="1" i="1" dirty="0" smtClean="0">
                          <a:solidFill>
                            <a:schemeClr val="tx1"/>
                          </a:solidFill>
                        </a:rPr>
                        <a:t> {</a:t>
                      </a:r>
                      <a:br>
                        <a:rPr lang="en-US" sz="1500" b="1" i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500" b="1" i="1" dirty="0" smtClean="0">
                          <a:solidFill>
                            <a:schemeClr val="tx1"/>
                          </a:solidFill>
                        </a:rPr>
                        <a:t>    public static void main(String[] </a:t>
                      </a:r>
                      <a:r>
                        <a:rPr lang="en-US" sz="1500" b="1" i="1" dirty="0" err="1" smtClean="0">
                          <a:solidFill>
                            <a:schemeClr val="tx1"/>
                          </a:solidFill>
                        </a:rPr>
                        <a:t>args</a:t>
                      </a:r>
                      <a:r>
                        <a:rPr lang="en-US" sz="1500" b="1" i="1" dirty="0" smtClean="0">
                          <a:solidFill>
                            <a:schemeClr val="tx1"/>
                          </a:solidFill>
                        </a:rPr>
                        <a:t>) {</a:t>
                      </a:r>
                      <a:br>
                        <a:rPr lang="en-US" sz="1500" b="1" i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500" b="1" i="1" dirty="0" smtClean="0">
                          <a:solidFill>
                            <a:schemeClr val="tx1"/>
                          </a:solidFill>
                        </a:rPr>
                        <a:t>        </a:t>
                      </a:r>
                      <a:r>
                        <a:rPr lang="en-US" sz="1500" b="1" i="1" dirty="0" err="1" smtClean="0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500" b="1" i="1" dirty="0" smtClean="0">
                          <a:solidFill>
                            <a:schemeClr val="tx1"/>
                          </a:solidFill>
                        </a:rPr>
                        <a:t> age = 15;</a:t>
                      </a:r>
                      <a:br>
                        <a:rPr lang="en-US" sz="1500" b="1" i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500" b="1" i="1" dirty="0" smtClean="0">
                          <a:solidFill>
                            <a:schemeClr val="tx1"/>
                          </a:solidFill>
                        </a:rPr>
                        <a:t>        if(age &gt;= 18) {</a:t>
                      </a:r>
                      <a:br>
                        <a:rPr lang="en-US" sz="1500" b="1" i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500" b="1" i="1" dirty="0" smtClean="0">
                          <a:solidFill>
                            <a:schemeClr val="tx1"/>
                          </a:solidFill>
                        </a:rPr>
                        <a:t>            System.out.println("You are an adult.");</a:t>
                      </a:r>
                      <a:br>
                        <a:rPr lang="en-US" sz="1500" b="1" i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500" b="1" i="1" dirty="0" smtClean="0">
                          <a:solidFill>
                            <a:schemeClr val="tx1"/>
                          </a:solidFill>
                        </a:rPr>
                        <a:t>        } else {</a:t>
                      </a:r>
                      <a:br>
                        <a:rPr lang="en-US" sz="1500" b="1" i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500" b="1" i="1" dirty="0" smtClean="0">
                          <a:solidFill>
                            <a:schemeClr val="tx1"/>
                          </a:solidFill>
                        </a:rPr>
                        <a:t>            System.out.println("You are a minor.");</a:t>
                      </a:r>
                      <a:br>
                        <a:rPr lang="en-US" sz="1500" b="1" i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500" b="1" i="1" dirty="0" smtClean="0">
                          <a:solidFill>
                            <a:schemeClr val="tx1"/>
                          </a:solidFill>
                        </a:rPr>
                        <a:t>        }</a:t>
                      </a:r>
                      <a:br>
                        <a:rPr lang="en-US" sz="1500" b="1" i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500" b="1" i="1" dirty="0" smtClean="0">
                          <a:solidFill>
                            <a:schemeClr val="tx1"/>
                          </a:solidFill>
                        </a:rPr>
                        <a:t>    }</a:t>
                      </a:r>
                      <a:br>
                        <a:rPr lang="en-US" sz="1500" b="1" i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500" b="1" i="1" dirty="0" smtClean="0">
                          <a:solidFill>
                            <a:schemeClr val="tx1"/>
                          </a:solidFill>
                        </a:rPr>
                        <a:t>}</a:t>
                      </a:r>
                      <a:endParaRPr lang="en-US" sz="1500" i="1" dirty="0" smtClean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646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136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500" dirty="0" smtClean="0">
                <a:solidFill>
                  <a:srgbClr val="C00000"/>
                </a:solidFill>
              </a:rPr>
              <a:t>Nested </a:t>
            </a:r>
            <a:r>
              <a:rPr lang="en-US" sz="4500" dirty="0">
                <a:solidFill>
                  <a:srgbClr val="C00000"/>
                </a:solidFill>
              </a:rPr>
              <a:t>If </a:t>
            </a:r>
            <a:r>
              <a:rPr lang="en-US" sz="4500" dirty="0">
                <a:solidFill>
                  <a:srgbClr val="C00000"/>
                </a:solidFill>
              </a:rPr>
              <a:t>Statement</a:t>
            </a:r>
            <a:endParaRPr lang="en-US" sz="45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An </a:t>
            </a:r>
            <a:r>
              <a:rPr lang="en-US" dirty="0"/>
              <a:t>if inside another if.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008461"/>
              </p:ext>
            </p:extLst>
          </p:nvPr>
        </p:nvGraphicFramePr>
        <p:xfrm>
          <a:off x="1134794" y="2394638"/>
          <a:ext cx="812800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41268910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class </a:t>
                      </a:r>
                      <a:r>
                        <a:rPr lang="en-US" sz="1500" b="1" i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NestedIfExample</a:t>
                      </a:r>
                      <a: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{</a:t>
                      </a:r>
                      <a:b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public static void main(String[] </a:t>
                      </a:r>
                      <a:r>
                        <a:rPr lang="en-US" sz="1500" b="1" i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args</a:t>
                      </a:r>
                      <a: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{</a:t>
                      </a:r>
                      <a:b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</a:t>
                      </a:r>
                      <a:r>
                        <a:rPr lang="en-US" sz="1500" b="1" i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number = 10;</a:t>
                      </a:r>
                      <a:b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if(number &gt; 0) {</a:t>
                      </a:r>
                      <a:b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 if(number % 2 == 0) {</a:t>
                      </a:r>
                      <a:b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     System.out.println("Positive even number");</a:t>
                      </a:r>
                      <a:b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 }</a:t>
                      </a:r>
                      <a:b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}</a:t>
                      </a:r>
                      <a:b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}</a:t>
                      </a:r>
                      <a:b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646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6001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500" dirty="0" smtClean="0">
                <a:solidFill>
                  <a:srgbClr val="C00000"/>
                </a:solidFill>
              </a:rPr>
              <a:t>If-Else-If </a:t>
            </a:r>
            <a:r>
              <a:rPr lang="en-US" sz="4500" dirty="0">
                <a:solidFill>
                  <a:srgbClr val="C00000"/>
                </a:solidFill>
              </a:rPr>
              <a:t>Statement</a:t>
            </a:r>
            <a:endParaRPr lang="en-US" sz="45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Used </a:t>
            </a:r>
            <a:r>
              <a:rPr lang="en-US" dirty="0"/>
              <a:t>for multiple conditions</a:t>
            </a:r>
            <a:r>
              <a:rPr lang="en-US" dirty="0" smtClean="0"/>
              <a:t>.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9491026"/>
              </p:ext>
            </p:extLst>
          </p:nvPr>
        </p:nvGraphicFramePr>
        <p:xfrm>
          <a:off x="1219200" y="2362200"/>
          <a:ext cx="81280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4126891091"/>
                    </a:ext>
                  </a:extLst>
                </a:gridCol>
              </a:tblGrid>
              <a:tr h="34766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1" dirty="0" smtClean="0">
                          <a:solidFill>
                            <a:schemeClr val="tx1"/>
                          </a:solidFill>
                        </a:rPr>
                        <a:t>class </a:t>
                      </a:r>
                      <a:r>
                        <a:rPr lang="en-US" sz="1400" b="1" i="1" dirty="0" err="1" smtClean="0">
                          <a:solidFill>
                            <a:schemeClr val="tx1"/>
                          </a:solidFill>
                        </a:rPr>
                        <a:t>IfElseIfExample</a:t>
                      </a:r>
                      <a:r>
                        <a:rPr lang="en-US" sz="1400" b="1" i="1" dirty="0" smtClean="0">
                          <a:solidFill>
                            <a:schemeClr val="tx1"/>
                          </a:solidFill>
                        </a:rPr>
                        <a:t> {</a:t>
                      </a:r>
                      <a:br>
                        <a:rPr lang="en-US" sz="1400" b="1" i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400" b="1" i="1" dirty="0" smtClean="0">
                          <a:solidFill>
                            <a:schemeClr val="tx1"/>
                          </a:solidFill>
                        </a:rPr>
                        <a:t>    public static void main(String[] </a:t>
                      </a:r>
                      <a:r>
                        <a:rPr lang="en-US" sz="1400" b="1" i="1" dirty="0" err="1" smtClean="0">
                          <a:solidFill>
                            <a:schemeClr val="tx1"/>
                          </a:solidFill>
                        </a:rPr>
                        <a:t>args</a:t>
                      </a:r>
                      <a:r>
                        <a:rPr lang="en-US" sz="1400" b="1" i="1" dirty="0" smtClean="0">
                          <a:solidFill>
                            <a:schemeClr val="tx1"/>
                          </a:solidFill>
                        </a:rPr>
                        <a:t>) {</a:t>
                      </a:r>
                      <a:br>
                        <a:rPr lang="en-US" sz="1400" b="1" i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400" b="1" i="1" dirty="0" smtClean="0">
                          <a:solidFill>
                            <a:schemeClr val="tx1"/>
                          </a:solidFill>
                        </a:rPr>
                        <a:t>        </a:t>
                      </a:r>
                      <a:r>
                        <a:rPr lang="en-US" sz="1400" b="1" i="1" dirty="0" err="1" smtClean="0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400" b="1" i="1" dirty="0" smtClean="0">
                          <a:solidFill>
                            <a:schemeClr val="tx1"/>
                          </a:solidFill>
                        </a:rPr>
                        <a:t> marks = 75;</a:t>
                      </a:r>
                      <a:br>
                        <a:rPr lang="en-US" sz="1400" b="1" i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400" b="1" i="1" dirty="0" smtClean="0">
                          <a:solidFill>
                            <a:schemeClr val="tx1"/>
                          </a:solidFill>
                        </a:rPr>
                        <a:t>        if(marks &gt;= 90) {</a:t>
                      </a:r>
                      <a:br>
                        <a:rPr lang="en-US" sz="1400" b="1" i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400" b="1" i="1" dirty="0" smtClean="0">
                          <a:solidFill>
                            <a:schemeClr val="tx1"/>
                          </a:solidFill>
                        </a:rPr>
                        <a:t>            System.out.println("Grade A");</a:t>
                      </a:r>
                      <a:br>
                        <a:rPr lang="en-US" sz="1400" b="1" i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400" b="1" i="1" dirty="0" smtClean="0">
                          <a:solidFill>
                            <a:schemeClr val="tx1"/>
                          </a:solidFill>
                        </a:rPr>
                        <a:t>        } else if(marks &gt;= 60) {</a:t>
                      </a:r>
                      <a:br>
                        <a:rPr lang="en-US" sz="1400" b="1" i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400" b="1" i="1" dirty="0" smtClean="0">
                          <a:solidFill>
                            <a:schemeClr val="tx1"/>
                          </a:solidFill>
                        </a:rPr>
                        <a:t>            System.out.println("Grade B");</a:t>
                      </a:r>
                      <a:br>
                        <a:rPr lang="en-US" sz="1400" b="1" i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400" b="1" i="1" dirty="0" smtClean="0">
                          <a:solidFill>
                            <a:schemeClr val="tx1"/>
                          </a:solidFill>
                        </a:rPr>
                        <a:t>        } else {</a:t>
                      </a:r>
                      <a:br>
                        <a:rPr lang="en-US" sz="1400" b="1" i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400" b="1" i="1" dirty="0" smtClean="0">
                          <a:solidFill>
                            <a:schemeClr val="tx1"/>
                          </a:solidFill>
                        </a:rPr>
                        <a:t>            System.out.println("Grade C");</a:t>
                      </a:r>
                      <a:br>
                        <a:rPr lang="en-US" sz="1400" b="1" i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400" b="1" i="1" dirty="0" smtClean="0">
                          <a:solidFill>
                            <a:schemeClr val="tx1"/>
                          </a:solidFill>
                        </a:rPr>
                        <a:t>        }</a:t>
                      </a:r>
                      <a:br>
                        <a:rPr lang="en-US" sz="1400" b="1" i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400" b="1" i="1" dirty="0" smtClean="0">
                          <a:solidFill>
                            <a:schemeClr val="tx1"/>
                          </a:solidFill>
                        </a:rPr>
                        <a:t>    }</a:t>
                      </a:r>
                      <a:br>
                        <a:rPr lang="en-US" sz="1400" b="1" i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400" b="1" i="1" dirty="0" smtClean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646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0227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500" dirty="0" smtClean="0">
                <a:solidFill>
                  <a:srgbClr val="C00000"/>
                </a:solidFill>
              </a:rPr>
              <a:t>Switch </a:t>
            </a:r>
            <a:r>
              <a:rPr lang="en-US" sz="4500" dirty="0">
                <a:solidFill>
                  <a:srgbClr val="C00000"/>
                </a:solidFill>
              </a:rPr>
              <a:t>Statement</a:t>
            </a:r>
            <a:endParaRPr lang="en-US" sz="45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0573"/>
          </a:xfrm>
        </p:spPr>
        <p:txBody>
          <a:bodyPr>
            <a:normAutofit/>
          </a:bodyPr>
          <a:lstStyle/>
          <a:p>
            <a:r>
              <a:rPr lang="en-US" dirty="0" smtClean="0"/>
              <a:t>Selects </a:t>
            </a:r>
            <a:r>
              <a:rPr lang="en-US" dirty="0"/>
              <a:t>one block of code based on a value</a:t>
            </a:r>
            <a:r>
              <a:rPr lang="en-US" dirty="0" smtClean="0"/>
              <a:t>.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370508"/>
              </p:ext>
            </p:extLst>
          </p:nvPr>
        </p:nvGraphicFramePr>
        <p:xfrm>
          <a:off x="1103142" y="2438400"/>
          <a:ext cx="8128000" cy="3863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4126891091"/>
                    </a:ext>
                  </a:extLst>
                </a:gridCol>
              </a:tblGrid>
              <a:tr h="3476678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class </a:t>
                      </a:r>
                      <a:r>
                        <a:rPr lang="en-US" sz="1500" b="1" i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SwitchExample</a:t>
                      </a:r>
                      <a: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{</a:t>
                      </a:r>
                      <a:b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public static void main(String[] </a:t>
                      </a:r>
                      <a:r>
                        <a:rPr lang="en-US" sz="1500" b="1" i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args</a:t>
                      </a:r>
                      <a: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{</a:t>
                      </a:r>
                      <a:b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</a:t>
                      </a:r>
                      <a:r>
                        <a:rPr lang="en-US" sz="1500" b="1" i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int</a:t>
                      </a:r>
                      <a: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day = 3;</a:t>
                      </a:r>
                      <a:b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switch(day) {</a:t>
                      </a:r>
                      <a:b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 case 1: System.out.println("Monday"); break;</a:t>
                      </a:r>
                      <a:b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 case 2: System.out.println("Tuesday"); break;</a:t>
                      </a:r>
                      <a:b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 case 3: System.out.println("Wednesday"); break;</a:t>
                      </a:r>
                      <a:b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    default: System.out.println("Other day");</a:t>
                      </a:r>
                      <a:b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  }</a:t>
                      </a:r>
                      <a:b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}</a:t>
                      </a:r>
                      <a:b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500" b="1" i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US" sz="1500" b="1" i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646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4758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94976"/>
            <a:ext cx="10439400" cy="1450757"/>
          </a:xfrm>
        </p:spPr>
        <p:txBody>
          <a:bodyPr>
            <a:normAutofit/>
          </a:bodyPr>
          <a:lstStyle/>
          <a:p>
            <a:r>
              <a:rPr lang="en-US" sz="4500" dirty="0" smtClean="0">
                <a:solidFill>
                  <a:srgbClr val="C00000"/>
                </a:solidFill>
              </a:rPr>
              <a:t>Looping </a:t>
            </a:r>
            <a:r>
              <a:rPr lang="en-US" sz="4500" dirty="0">
                <a:solidFill>
                  <a:srgbClr val="C00000"/>
                </a:solidFill>
              </a:rPr>
              <a:t>Structures</a:t>
            </a:r>
            <a:endParaRPr lang="en-US" sz="45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845733"/>
            <a:ext cx="10439400" cy="44205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i="1" dirty="0" smtClean="0"/>
              <a:t>Looping</a:t>
            </a:r>
            <a:r>
              <a:rPr lang="en-US" sz="2400" dirty="0" smtClean="0"/>
              <a:t> </a:t>
            </a:r>
            <a:r>
              <a:rPr lang="en-US" sz="2400" dirty="0"/>
              <a:t>means </a:t>
            </a:r>
            <a:r>
              <a:rPr lang="en-US" sz="2400" b="1" dirty="0"/>
              <a:t>repeating a block of code multiple times</a:t>
            </a:r>
            <a:r>
              <a:rPr lang="en-US" sz="2400" dirty="0"/>
              <a:t> until a condition is met.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smtClean="0"/>
              <a:t>Types </a:t>
            </a:r>
            <a:r>
              <a:rPr lang="en-US" sz="2400" dirty="0"/>
              <a:t>of Loops in Java</a:t>
            </a:r>
            <a:r>
              <a:rPr lang="en-US" sz="2400" dirty="0" smtClean="0"/>
              <a:t>:</a:t>
            </a:r>
            <a:endParaRPr lang="en-US" sz="24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C00000"/>
                </a:solidFill>
              </a:rPr>
              <a:t>For Loop → </a:t>
            </a:r>
            <a:r>
              <a:rPr lang="en-US" sz="2000" dirty="0"/>
              <a:t>repeats a fixed number of times.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C00000"/>
                </a:solidFill>
              </a:rPr>
              <a:t>For-each </a:t>
            </a:r>
            <a:r>
              <a:rPr lang="en-US" sz="2000" dirty="0">
                <a:solidFill>
                  <a:srgbClr val="C00000"/>
                </a:solidFill>
              </a:rPr>
              <a:t>Loop → </a:t>
            </a:r>
            <a:r>
              <a:rPr lang="en-US" sz="2000" dirty="0"/>
              <a:t>used with arrays/collections.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C00000"/>
                </a:solidFill>
              </a:rPr>
              <a:t>While </a:t>
            </a:r>
            <a:r>
              <a:rPr lang="en-US" sz="2000" dirty="0">
                <a:solidFill>
                  <a:srgbClr val="C00000"/>
                </a:solidFill>
              </a:rPr>
              <a:t>Loop → </a:t>
            </a:r>
            <a:r>
              <a:rPr lang="en-US" sz="2000" dirty="0"/>
              <a:t>repeats while a condition is true.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C00000"/>
                </a:solidFill>
              </a:rPr>
              <a:t>Do-while </a:t>
            </a:r>
            <a:r>
              <a:rPr lang="en-US" sz="2000" dirty="0">
                <a:solidFill>
                  <a:srgbClr val="C00000"/>
                </a:solidFill>
              </a:rPr>
              <a:t>Loop → </a:t>
            </a:r>
            <a:r>
              <a:rPr lang="en-US" sz="2000" dirty="0"/>
              <a:t>executes at least once, even if condition is false.</a:t>
            </a:r>
          </a:p>
        </p:txBody>
      </p:sp>
    </p:spTree>
    <p:extLst>
      <p:ext uri="{BB962C8B-B14F-4D97-AF65-F5344CB8AC3E}">
        <p14:creationId xmlns:p14="http://schemas.microsoft.com/office/powerpoint/2010/main" val="469972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500" dirty="0" smtClean="0">
                <a:solidFill>
                  <a:srgbClr val="C00000"/>
                </a:solidFill>
              </a:rPr>
              <a:t>For </a:t>
            </a:r>
            <a:r>
              <a:rPr lang="en-US" sz="4500" dirty="0">
                <a:solidFill>
                  <a:srgbClr val="C00000"/>
                </a:solidFill>
              </a:rPr>
              <a:t>Loop</a:t>
            </a:r>
            <a:endParaRPr lang="en-US" sz="45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0573"/>
          </a:xfrm>
        </p:spPr>
        <p:txBody>
          <a:bodyPr>
            <a:normAutofit/>
          </a:bodyPr>
          <a:lstStyle/>
          <a:p>
            <a:r>
              <a:rPr lang="en-US" dirty="0" smtClean="0"/>
              <a:t>Repeats </a:t>
            </a:r>
            <a:r>
              <a:rPr lang="en-US" dirty="0"/>
              <a:t>a block of code a fixed number of times</a:t>
            </a:r>
            <a:r>
              <a:rPr lang="en-US" dirty="0" smtClean="0"/>
              <a:t>.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5490884"/>
              </p:ext>
            </p:extLst>
          </p:nvPr>
        </p:nvGraphicFramePr>
        <p:xfrm>
          <a:off x="1097280" y="2514600"/>
          <a:ext cx="81280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4126891091"/>
                    </a:ext>
                  </a:extLst>
                </a:gridCol>
              </a:tblGrid>
              <a:tr h="1905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public class </a:t>
                      </a:r>
                      <a:r>
                        <a:rPr lang="en-US" sz="1600" dirty="0" err="1" smtClean="0">
                          <a:solidFill>
                            <a:schemeClr val="tx1"/>
                          </a:solidFill>
                        </a:rPr>
                        <a:t>ForLoopDemo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 {</a:t>
                      </a:r>
                      <a:br>
                        <a:rPr lang="en-US" sz="160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    public static void main(String[] </a:t>
                      </a:r>
                      <a:r>
                        <a:rPr lang="en-US" sz="1600" dirty="0" err="1" smtClean="0">
                          <a:solidFill>
                            <a:schemeClr val="tx1"/>
                          </a:solidFill>
                        </a:rPr>
                        <a:t>args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) {</a:t>
                      </a:r>
                      <a:br>
                        <a:rPr lang="en-US" sz="160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        for(</a:t>
                      </a:r>
                      <a:r>
                        <a:rPr lang="en-US" sz="1600" dirty="0" err="1" smtClean="0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=1; </a:t>
                      </a:r>
                      <a:r>
                        <a:rPr lang="en-US" sz="1600" dirty="0" err="1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&lt;=5; </a:t>
                      </a:r>
                      <a:r>
                        <a:rPr lang="en-US" sz="1600" dirty="0" err="1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++) System.out.println("</a:t>
                      </a:r>
                      <a:r>
                        <a:rPr lang="en-US" sz="1600" dirty="0" err="1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 = " + </a:t>
                      </a:r>
                      <a:r>
                        <a:rPr lang="en-US" sz="1600" dirty="0" err="1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);</a:t>
                      </a:r>
                      <a:br>
                        <a:rPr lang="en-US" sz="160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    }</a:t>
                      </a:r>
                      <a:br>
                        <a:rPr lang="en-US" sz="160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}</a:t>
                      </a:r>
                      <a:endParaRPr lang="en-US" sz="1500" b="1" i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646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914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For-each </a:t>
            </a:r>
            <a:r>
              <a:rPr lang="en-US" dirty="0">
                <a:solidFill>
                  <a:srgbClr val="C00000"/>
                </a:solidFill>
              </a:rPr>
              <a:t>Loop </a:t>
            </a:r>
            <a:endParaRPr lang="en-US" sz="45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057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Collection </a:t>
            </a:r>
            <a:r>
              <a:rPr lang="en-US" dirty="0"/>
              <a:t>based for loop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Special </a:t>
            </a:r>
            <a:r>
              <a:rPr lang="en-US" dirty="0"/>
              <a:t>loop to </a:t>
            </a:r>
            <a:r>
              <a:rPr lang="en-US" dirty="0"/>
              <a:t>go through arrays or collections without using index.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0660273"/>
              </p:ext>
            </p:extLst>
          </p:nvPr>
        </p:nvGraphicFramePr>
        <p:xfrm>
          <a:off x="1121898" y="3040126"/>
          <a:ext cx="81280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4126891091"/>
                    </a:ext>
                  </a:extLst>
                </a:gridCol>
              </a:tblGrid>
              <a:tr h="1905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class </a:t>
                      </a:r>
                      <a:r>
                        <a:rPr lang="en-US" sz="1600" dirty="0" err="1" smtClean="0">
                          <a:solidFill>
                            <a:schemeClr val="tx1"/>
                          </a:solidFill>
                        </a:rPr>
                        <a:t>ForEachExample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 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    public static void main(String[] </a:t>
                      </a:r>
                      <a:r>
                        <a:rPr lang="en-US" sz="1600" dirty="0" err="1" smtClean="0">
                          <a:solidFill>
                            <a:schemeClr val="tx1"/>
                          </a:solidFill>
                        </a:rPr>
                        <a:t>args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) 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        </a:t>
                      </a:r>
                      <a:r>
                        <a:rPr lang="en-US" sz="1600" dirty="0" err="1" smtClean="0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[] numbers = {10, 20, 30, 40, 50};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        for(</a:t>
                      </a:r>
                      <a:r>
                        <a:rPr lang="en-US" sz="1600" dirty="0" err="1" smtClean="0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 n : numbers) {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            System.out.println("Value: " + n);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        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    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646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4060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While </a:t>
            </a:r>
            <a:r>
              <a:rPr lang="en-US" dirty="0">
                <a:solidFill>
                  <a:srgbClr val="C00000"/>
                </a:solidFill>
              </a:rPr>
              <a:t>Loop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0573"/>
          </a:xfrm>
        </p:spPr>
        <p:txBody>
          <a:bodyPr>
            <a:normAutofit/>
          </a:bodyPr>
          <a:lstStyle/>
          <a:p>
            <a:r>
              <a:rPr lang="en-US" dirty="0" smtClean="0"/>
              <a:t>Repeats </a:t>
            </a:r>
            <a:r>
              <a:rPr lang="en-US" dirty="0"/>
              <a:t>a block while condition is true</a:t>
            </a:r>
            <a:r>
              <a:rPr lang="en-US" dirty="0" smtClean="0"/>
              <a:t>.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4355440"/>
              </p:ext>
            </p:extLst>
          </p:nvPr>
        </p:nvGraphicFramePr>
        <p:xfrm>
          <a:off x="1097280" y="2383302"/>
          <a:ext cx="81280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4126891091"/>
                    </a:ext>
                  </a:extLst>
                </a:gridCol>
              </a:tblGrid>
              <a:tr h="19050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public class </a:t>
                      </a:r>
                      <a:r>
                        <a:rPr lang="en-US" sz="1600" dirty="0" err="1" smtClean="0">
                          <a:solidFill>
                            <a:schemeClr val="tx1"/>
                          </a:solidFill>
                        </a:rPr>
                        <a:t>WhileLoopDemo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 {</a:t>
                      </a:r>
                      <a:br>
                        <a:rPr lang="en-US" sz="160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    public static void main(String[] </a:t>
                      </a:r>
                      <a:r>
                        <a:rPr lang="en-US" sz="1600" dirty="0" err="1" smtClean="0">
                          <a:solidFill>
                            <a:schemeClr val="tx1"/>
                          </a:solidFill>
                        </a:rPr>
                        <a:t>args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) {</a:t>
                      </a:r>
                      <a:br>
                        <a:rPr lang="en-US" sz="160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        </a:t>
                      </a:r>
                      <a:r>
                        <a:rPr lang="en-US" sz="1600" dirty="0" err="1" smtClean="0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600" dirty="0" err="1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 = 1;</a:t>
                      </a:r>
                      <a:br>
                        <a:rPr lang="en-US" sz="160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        while(</a:t>
                      </a:r>
                      <a:r>
                        <a:rPr lang="en-US" sz="1600" dirty="0" err="1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 &lt;= 3) {</a:t>
                      </a:r>
                      <a:br>
                        <a:rPr lang="en-US" sz="160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            System.out.println("</a:t>
                      </a:r>
                      <a:r>
                        <a:rPr lang="en-US" sz="1600" dirty="0" err="1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 = " + </a:t>
                      </a:r>
                      <a:r>
                        <a:rPr lang="en-US" sz="1600" dirty="0" err="1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);</a:t>
                      </a:r>
                      <a:br>
                        <a:rPr lang="en-US" sz="160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            </a:t>
                      </a:r>
                      <a:r>
                        <a:rPr lang="en-US" sz="1600" dirty="0" err="1" smtClean="0">
                          <a:solidFill>
                            <a:schemeClr val="tx1"/>
                          </a:solidFill>
                        </a:rPr>
                        <a:t>i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++;</a:t>
                      </a:r>
                      <a:br>
                        <a:rPr lang="en-US" sz="160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        }</a:t>
                      </a:r>
                      <a:br>
                        <a:rPr lang="en-US" sz="160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    }</a:t>
                      </a:r>
                      <a:br>
                        <a:rPr lang="en-US" sz="160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646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1789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Do-while </a:t>
            </a:r>
            <a:r>
              <a:rPr lang="en-US" dirty="0">
                <a:solidFill>
                  <a:srgbClr val="C00000"/>
                </a:solidFill>
              </a:rPr>
              <a:t>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0573"/>
          </a:xfrm>
        </p:spPr>
        <p:txBody>
          <a:bodyPr>
            <a:normAutofit/>
          </a:bodyPr>
          <a:lstStyle/>
          <a:p>
            <a:r>
              <a:rPr lang="en-US" dirty="0" smtClean="0"/>
              <a:t>Executes </a:t>
            </a:r>
            <a:r>
              <a:rPr lang="en-US" dirty="0"/>
              <a:t>block at least once, then repeats while condition is true</a:t>
            </a:r>
            <a:r>
              <a:rPr lang="en-US" dirty="0" smtClean="0"/>
              <a:t>.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015810"/>
              </p:ext>
            </p:extLst>
          </p:nvPr>
        </p:nvGraphicFramePr>
        <p:xfrm>
          <a:off x="1097280" y="2383302"/>
          <a:ext cx="812800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4126891091"/>
                    </a:ext>
                  </a:extLst>
                </a:gridCol>
              </a:tblGrid>
              <a:tr h="1905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public class </a:t>
                      </a:r>
                      <a:r>
                        <a:rPr lang="en-US" sz="1600" dirty="0" err="1" smtClean="0">
                          <a:solidFill>
                            <a:schemeClr val="tx1"/>
                          </a:solidFill>
                        </a:rPr>
                        <a:t>DoWhileLoopDemo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 {</a:t>
                      </a:r>
                      <a:br>
                        <a:rPr lang="en-US" sz="160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    public static void main(String[] </a:t>
                      </a:r>
                      <a:r>
                        <a:rPr lang="en-US" sz="1600" dirty="0" err="1" smtClean="0">
                          <a:solidFill>
                            <a:schemeClr val="tx1"/>
                          </a:solidFill>
                        </a:rPr>
                        <a:t>args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) {</a:t>
                      </a:r>
                      <a:br>
                        <a:rPr lang="en-US" sz="160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        </a:t>
                      </a:r>
                      <a:r>
                        <a:rPr lang="en-US" sz="1600" dirty="0" err="1" smtClean="0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 j = 1;</a:t>
                      </a:r>
                      <a:br>
                        <a:rPr lang="en-US" sz="160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        do {</a:t>
                      </a:r>
                      <a:br>
                        <a:rPr lang="en-US" sz="160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            System.out.println("j = " + j);</a:t>
                      </a:r>
                      <a:br>
                        <a:rPr lang="en-US" sz="160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            </a:t>
                      </a:r>
                      <a:r>
                        <a:rPr lang="en-US" sz="1600" dirty="0" err="1" smtClean="0">
                          <a:solidFill>
                            <a:schemeClr val="tx1"/>
                          </a:solidFill>
                        </a:rPr>
                        <a:t>j++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;</a:t>
                      </a:r>
                      <a:br>
                        <a:rPr lang="en-US" sz="160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        }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       while(j &lt;= 3);</a:t>
                      </a:r>
                      <a:br>
                        <a:rPr lang="en-US" sz="160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    }</a:t>
                      </a:r>
                      <a:br>
                        <a:rPr lang="en-US" sz="160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600" dirty="0" smtClean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646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152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Methods </a:t>
            </a:r>
            <a:r>
              <a:rPr lang="en-US" dirty="0">
                <a:solidFill>
                  <a:srgbClr val="C00000"/>
                </a:solidFill>
              </a:rPr>
              <a:t>in </a:t>
            </a:r>
            <a:r>
              <a:rPr lang="en-US" dirty="0">
                <a:solidFill>
                  <a:srgbClr val="C00000"/>
                </a:solidFill>
              </a:rPr>
              <a:t>Java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05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/>
              <a:t>A </a:t>
            </a:r>
            <a:r>
              <a:rPr lang="en-US" sz="2400" b="1" dirty="0">
                <a:solidFill>
                  <a:srgbClr val="C00000"/>
                </a:solidFill>
              </a:rPr>
              <a:t>method</a:t>
            </a:r>
            <a:r>
              <a:rPr lang="en-US" sz="2400" dirty="0"/>
              <a:t> in Java is like a function — a block of code with a name that performs a specific </a:t>
            </a:r>
            <a:r>
              <a:rPr lang="en-US" sz="2400" dirty="0" smtClean="0"/>
              <a:t>task.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Helps </a:t>
            </a:r>
            <a:r>
              <a:rPr lang="en-US" sz="2000" dirty="0"/>
              <a:t>in reusing code (write once, use many times</a:t>
            </a:r>
            <a:r>
              <a:rPr lang="en-US" sz="2000" dirty="0" smtClean="0"/>
              <a:t>).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Makes </a:t>
            </a:r>
            <a:r>
              <a:rPr lang="en-US" sz="2000" dirty="0"/>
              <a:t>programs more organized and </a:t>
            </a:r>
            <a:r>
              <a:rPr lang="en-US" sz="2000" dirty="0" smtClean="0"/>
              <a:t>readable.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Can </a:t>
            </a:r>
            <a:r>
              <a:rPr lang="en-US" sz="2000" dirty="0"/>
              <a:t>take inputs (parameters) and can also return outputs.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98473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Method </a:t>
            </a:r>
            <a:r>
              <a:rPr lang="en-US" dirty="0">
                <a:solidFill>
                  <a:srgbClr val="C00000"/>
                </a:solidFill>
              </a:rPr>
              <a:t>Parameters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0573"/>
          </a:xfrm>
        </p:spPr>
        <p:txBody>
          <a:bodyPr>
            <a:normAutofit/>
          </a:bodyPr>
          <a:lstStyle/>
          <a:p>
            <a:r>
              <a:rPr lang="en-US" dirty="0" smtClean="0"/>
              <a:t>Methods </a:t>
            </a:r>
            <a:r>
              <a:rPr lang="en-US" dirty="0"/>
              <a:t>can take inputs</a:t>
            </a:r>
            <a:r>
              <a:rPr lang="en-US" dirty="0" smtClean="0"/>
              <a:t>.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262010"/>
              </p:ext>
            </p:extLst>
          </p:nvPr>
        </p:nvGraphicFramePr>
        <p:xfrm>
          <a:off x="1116037" y="2362200"/>
          <a:ext cx="8128000" cy="2979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4126891091"/>
                    </a:ext>
                  </a:extLst>
                </a:gridCol>
              </a:tblGrid>
              <a:tr h="19050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b="1" i="1" dirty="0" smtClean="0">
                          <a:solidFill>
                            <a:schemeClr val="tx1"/>
                          </a:solidFill>
                        </a:rPr>
                        <a:t>class </a:t>
                      </a:r>
                      <a:r>
                        <a:rPr lang="en-US" sz="1600" b="1" i="1" dirty="0" err="1" smtClean="0">
                          <a:solidFill>
                            <a:schemeClr val="tx1"/>
                          </a:solidFill>
                        </a:rPr>
                        <a:t>MethodParameterExample</a:t>
                      </a:r>
                      <a:r>
                        <a:rPr lang="en-US" sz="1600" b="1" i="1" dirty="0" smtClean="0">
                          <a:solidFill>
                            <a:schemeClr val="tx1"/>
                          </a:solidFill>
                        </a:rPr>
                        <a:t> {</a:t>
                      </a:r>
                      <a:br>
                        <a:rPr lang="en-US" sz="1600" b="1" i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600" b="1" i="1" dirty="0" smtClean="0">
                          <a:solidFill>
                            <a:schemeClr val="tx1"/>
                          </a:solidFill>
                        </a:rPr>
                        <a:t>    static void greet(String name) {</a:t>
                      </a:r>
                      <a:br>
                        <a:rPr lang="en-US" sz="1600" b="1" i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600" b="1" i="1" dirty="0" smtClean="0">
                          <a:solidFill>
                            <a:schemeClr val="tx1"/>
                          </a:solidFill>
                        </a:rPr>
                        <a:t>        System.out.println("Hello, " + name);</a:t>
                      </a:r>
                      <a:br>
                        <a:rPr lang="en-US" sz="1600" b="1" i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600" b="1" i="1" dirty="0" smtClean="0">
                          <a:solidFill>
                            <a:schemeClr val="tx1"/>
                          </a:solidFill>
                        </a:rPr>
                        <a:t>    }</a:t>
                      </a:r>
                      <a:br>
                        <a:rPr lang="en-US" sz="1600" b="1" i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600" b="1" i="1" dirty="0" smtClean="0">
                          <a:solidFill>
                            <a:schemeClr val="tx1"/>
                          </a:solidFill>
                        </a:rPr>
                        <a:t>    public static void main(String[] </a:t>
                      </a:r>
                      <a:r>
                        <a:rPr lang="en-US" sz="1600" b="1" i="1" dirty="0" err="1" smtClean="0">
                          <a:solidFill>
                            <a:schemeClr val="tx1"/>
                          </a:solidFill>
                        </a:rPr>
                        <a:t>args</a:t>
                      </a:r>
                      <a:r>
                        <a:rPr lang="en-US" sz="1600" b="1" i="1" dirty="0" smtClean="0">
                          <a:solidFill>
                            <a:schemeClr val="tx1"/>
                          </a:solidFill>
                        </a:rPr>
                        <a:t>) {</a:t>
                      </a:r>
                      <a:br>
                        <a:rPr lang="en-US" sz="1600" b="1" i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600" b="1" i="1" dirty="0" smtClean="0">
                          <a:solidFill>
                            <a:schemeClr val="tx1"/>
                          </a:solidFill>
                        </a:rPr>
                        <a:t>        greet("Ali");</a:t>
                      </a:r>
                      <a:br>
                        <a:rPr lang="en-US" sz="1600" b="1" i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600" b="1" i="1" dirty="0" smtClean="0">
                          <a:solidFill>
                            <a:schemeClr val="tx1"/>
                          </a:solidFill>
                        </a:rPr>
                        <a:t>    }</a:t>
                      </a:r>
                      <a:br>
                        <a:rPr lang="en-US" sz="1600" b="1" i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600" b="1" i="1" dirty="0" smtClean="0">
                          <a:solidFill>
                            <a:schemeClr val="tx1"/>
                          </a:solidFill>
                        </a:rPr>
                        <a:t>}</a:t>
                      </a:r>
                      <a:endParaRPr lang="en-US" sz="1600" b="1" i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646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47205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Method </a:t>
            </a:r>
            <a:r>
              <a:rPr lang="en-US" dirty="0">
                <a:solidFill>
                  <a:srgbClr val="C00000"/>
                </a:solidFill>
              </a:rPr>
              <a:t>Overloading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20573"/>
          </a:xfrm>
        </p:spPr>
        <p:txBody>
          <a:bodyPr>
            <a:normAutofit/>
          </a:bodyPr>
          <a:lstStyle/>
          <a:p>
            <a:r>
              <a:rPr lang="en-US" dirty="0" smtClean="0"/>
              <a:t>Same </a:t>
            </a:r>
            <a:r>
              <a:rPr lang="en-US" dirty="0"/>
              <a:t>method name, but different parameters</a:t>
            </a:r>
            <a:r>
              <a:rPr lang="en-US" dirty="0" smtClean="0"/>
              <a:t>.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231095"/>
              </p:ext>
            </p:extLst>
          </p:nvPr>
        </p:nvGraphicFramePr>
        <p:xfrm>
          <a:off x="1104314" y="2286000"/>
          <a:ext cx="819912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99120">
                  <a:extLst>
                    <a:ext uri="{9D8B030D-6E8A-4147-A177-3AD203B41FA5}">
                      <a16:colId xmlns:a16="http://schemas.microsoft.com/office/drawing/2014/main" val="4126891091"/>
                    </a:ext>
                  </a:extLst>
                </a:gridCol>
              </a:tblGrid>
              <a:tr h="3728781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50" b="1" i="1" dirty="0" smtClean="0">
                          <a:solidFill>
                            <a:schemeClr val="tx1"/>
                          </a:solidFill>
                        </a:rPr>
                        <a:t>class </a:t>
                      </a:r>
                      <a:r>
                        <a:rPr lang="en-US" sz="1450" b="1" i="1" dirty="0" err="1" smtClean="0">
                          <a:solidFill>
                            <a:schemeClr val="tx1"/>
                          </a:solidFill>
                        </a:rPr>
                        <a:t>MethodOverloadingExample</a:t>
                      </a:r>
                      <a:r>
                        <a:rPr lang="en-US" sz="1450" b="1" i="1" dirty="0" smtClean="0">
                          <a:solidFill>
                            <a:schemeClr val="tx1"/>
                          </a:solidFill>
                        </a:rPr>
                        <a:t> {</a:t>
                      </a:r>
                      <a:br>
                        <a:rPr lang="en-US" sz="1450" b="1" i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450" b="1" i="1" dirty="0" smtClean="0">
                          <a:solidFill>
                            <a:schemeClr val="tx1"/>
                          </a:solidFill>
                        </a:rPr>
                        <a:t>    static </a:t>
                      </a:r>
                      <a:r>
                        <a:rPr lang="en-US" sz="1450" b="1" i="1" dirty="0" err="1" smtClean="0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450" b="1" i="1" dirty="0" smtClean="0">
                          <a:solidFill>
                            <a:schemeClr val="tx1"/>
                          </a:solidFill>
                        </a:rPr>
                        <a:t> add(</a:t>
                      </a:r>
                      <a:r>
                        <a:rPr lang="en-US" sz="1450" b="1" i="1" dirty="0" err="1" smtClean="0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450" b="1" i="1" dirty="0" smtClean="0">
                          <a:solidFill>
                            <a:schemeClr val="tx1"/>
                          </a:solidFill>
                        </a:rPr>
                        <a:t> a, </a:t>
                      </a:r>
                      <a:r>
                        <a:rPr lang="en-US" sz="1450" b="1" i="1" dirty="0" err="1" smtClean="0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sz="1450" b="1" i="1" dirty="0" smtClean="0">
                          <a:solidFill>
                            <a:schemeClr val="tx1"/>
                          </a:solidFill>
                        </a:rPr>
                        <a:t> b) {</a:t>
                      </a:r>
                      <a:br>
                        <a:rPr lang="en-US" sz="1450" b="1" i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450" b="1" i="1" dirty="0" smtClean="0">
                          <a:solidFill>
                            <a:schemeClr val="tx1"/>
                          </a:solidFill>
                        </a:rPr>
                        <a:t>        return a + b;</a:t>
                      </a:r>
                      <a:br>
                        <a:rPr lang="en-US" sz="1450" b="1" i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450" b="1" i="1" dirty="0" smtClean="0">
                          <a:solidFill>
                            <a:schemeClr val="tx1"/>
                          </a:solidFill>
                        </a:rPr>
                        <a:t>    }</a:t>
                      </a:r>
                      <a:br>
                        <a:rPr lang="en-US" sz="1450" b="1" i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450" b="1" i="1" dirty="0" smtClean="0">
                          <a:solidFill>
                            <a:schemeClr val="tx1"/>
                          </a:solidFill>
                        </a:rPr>
                        <a:t>    static double add(double a, double b) {</a:t>
                      </a:r>
                      <a:br>
                        <a:rPr lang="en-US" sz="1450" b="1" i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450" b="1" i="1" dirty="0" smtClean="0">
                          <a:solidFill>
                            <a:schemeClr val="tx1"/>
                          </a:solidFill>
                        </a:rPr>
                        <a:t>        return a + b;</a:t>
                      </a:r>
                      <a:br>
                        <a:rPr lang="en-US" sz="1450" b="1" i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450" b="1" i="1" dirty="0" smtClean="0">
                          <a:solidFill>
                            <a:schemeClr val="tx1"/>
                          </a:solidFill>
                        </a:rPr>
                        <a:t>    }</a:t>
                      </a:r>
                      <a:br>
                        <a:rPr lang="en-US" sz="1450" b="1" i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450" b="1" i="1" dirty="0" smtClean="0">
                          <a:solidFill>
                            <a:schemeClr val="tx1"/>
                          </a:solidFill>
                        </a:rPr>
                        <a:t>    public static void main(String[] </a:t>
                      </a:r>
                      <a:r>
                        <a:rPr lang="en-US" sz="1450" b="1" i="1" dirty="0" err="1" smtClean="0">
                          <a:solidFill>
                            <a:schemeClr val="tx1"/>
                          </a:solidFill>
                        </a:rPr>
                        <a:t>args</a:t>
                      </a:r>
                      <a:r>
                        <a:rPr lang="en-US" sz="1450" b="1" i="1" dirty="0" smtClean="0">
                          <a:solidFill>
                            <a:schemeClr val="tx1"/>
                          </a:solidFill>
                        </a:rPr>
                        <a:t>) {</a:t>
                      </a:r>
                      <a:br>
                        <a:rPr lang="en-US" sz="1450" b="1" i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450" b="1" i="1" dirty="0" smtClean="0">
                          <a:solidFill>
                            <a:schemeClr val="tx1"/>
                          </a:solidFill>
                        </a:rPr>
                        <a:t>        System.out.println(add(5, 10));</a:t>
                      </a:r>
                      <a:br>
                        <a:rPr lang="en-US" sz="1450" b="1" i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450" b="1" i="1" dirty="0" smtClean="0">
                          <a:solidFill>
                            <a:schemeClr val="tx1"/>
                          </a:solidFill>
                        </a:rPr>
                        <a:t>        System.out.println(add(2.5, 3.5));</a:t>
                      </a:r>
                      <a:br>
                        <a:rPr lang="en-US" sz="1450" b="1" i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450" b="1" i="1" dirty="0" smtClean="0">
                          <a:solidFill>
                            <a:schemeClr val="tx1"/>
                          </a:solidFill>
                        </a:rPr>
                        <a:t>    }</a:t>
                      </a:r>
                      <a:br>
                        <a:rPr lang="en-US" sz="1450" b="1" i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450" b="1" i="1" dirty="0" smtClean="0">
                          <a:solidFill>
                            <a:schemeClr val="tx1"/>
                          </a:solidFill>
                        </a:rPr>
                        <a:t>}</a:t>
                      </a:r>
                      <a:endParaRPr lang="en-US" sz="1450" b="1" i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646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0469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576887"/>
          </a:xfrm>
        </p:spPr>
        <p:txBody>
          <a:bodyPr>
            <a:noAutofit/>
          </a:bodyPr>
          <a:lstStyle/>
          <a:p>
            <a:pPr algn="ctr"/>
            <a:r>
              <a:rPr lang="en-US" sz="11500" dirty="0">
                <a:latin typeface="Arial" panose="020B0604020202020204" pitchFamily="34" charset="0"/>
                <a:cs typeface="Arial" panose="020B0604020202020204" pitchFamily="34" charset="0"/>
              </a:rPr>
              <a:t>Thanks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514600"/>
            <a:ext cx="8229600" cy="2209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1500" dirty="0">
                <a:latin typeface="Arial" panose="020B0604020202020204" pitchFamily="34" charset="0"/>
                <a:cs typeface="Arial" panose="020B0604020202020204" pitchFamily="34" charset="0"/>
              </a:rPr>
              <a:t>...?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96294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19930</TotalTime>
  <Words>929</Words>
  <Application>Microsoft Office PowerPoint</Application>
  <PresentationFormat>Widescreen</PresentationFormat>
  <Paragraphs>74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Consolas</vt:lpstr>
      <vt:lpstr>Wingdings</vt:lpstr>
      <vt:lpstr>Retrospect</vt:lpstr>
      <vt:lpstr>Fundamental programming structure in java</vt:lpstr>
      <vt:lpstr>Contents</vt:lpstr>
      <vt:lpstr>Control structures </vt:lpstr>
      <vt:lpstr>If Statement</vt:lpstr>
      <vt:lpstr>If-Else Statement</vt:lpstr>
      <vt:lpstr>Nested If Statement</vt:lpstr>
      <vt:lpstr>If-Else-If Statement</vt:lpstr>
      <vt:lpstr>Switch Statement</vt:lpstr>
      <vt:lpstr>Looping Structures</vt:lpstr>
      <vt:lpstr>For Loop</vt:lpstr>
      <vt:lpstr>For-each Loop </vt:lpstr>
      <vt:lpstr>While Loop</vt:lpstr>
      <vt:lpstr>Do-while Loop</vt:lpstr>
      <vt:lpstr>Methods in Java</vt:lpstr>
      <vt:lpstr>Method Parameters</vt:lpstr>
      <vt:lpstr>Method Overloading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CS2053 - Discrete Structures  (Discrete Mathematics) Spring 2025</dc:title>
  <cp:lastModifiedBy>Sharif  Hussain</cp:lastModifiedBy>
  <cp:revision>323</cp:revision>
  <cp:lastPrinted>2012-09-04T14:09:35Z</cp:lastPrinted>
  <dcterms:created xsi:type="dcterms:W3CDTF">2012-08-29T04:16:05Z</dcterms:created>
  <dcterms:modified xsi:type="dcterms:W3CDTF">2025-10-01T07:08:03Z</dcterms:modified>
</cp:coreProperties>
</file>
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notesMasterIdLst>
    <p:notesMasterId r:id="rId15"/>
  </p:notesMasterIdLst>
  <p:handoutMasterIdLst>
    <p:handoutMasterId r:id="rId16"/>
  </p:handoutMasterIdLst>
  <p:sldIdLst>
    <p:sldId id="256" r:id="rId2"/>
    <p:sldId id="308" r:id="rId3"/>
    <p:sldId id="335" r:id="rId4"/>
    <p:sldId id="370" r:id="rId5"/>
    <p:sldId id="369" r:id="rId6"/>
    <p:sldId id="371" r:id="rId7"/>
    <p:sldId id="372" r:id="rId8"/>
    <p:sldId id="373" r:id="rId9"/>
    <p:sldId id="374" r:id="rId10"/>
    <p:sldId id="375" r:id="rId11"/>
    <p:sldId id="377" r:id="rId12"/>
    <p:sldId id="376" r:id="rId13"/>
    <p:sldId id="313" r:id="rId1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743D03-5BBA-44B0-A4E6-E48149041E6D}">
          <p14:sldIdLst>
            <p14:sldId id="256"/>
            <p14:sldId id="308"/>
            <p14:sldId id="335"/>
            <p14:sldId id="370"/>
            <p14:sldId id="369"/>
            <p14:sldId id="371"/>
            <p14:sldId id="372"/>
            <p14:sldId id="373"/>
            <p14:sldId id="374"/>
            <p14:sldId id="375"/>
            <p14:sldId id="377"/>
            <p14:sldId id="376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 autoAdjust="0"/>
    <p:restoredTop sz="94709" autoAdjust="0"/>
  </p:normalViewPr>
  <p:slideViewPr>
    <p:cSldViewPr>
      <p:cViewPr varScale="1">
        <p:scale>
          <a:sx n="68" d="100"/>
          <a:sy n="68" d="100"/>
        </p:scale>
        <p:origin x="79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F8751-8426-4E45-B653-996E53C24DF5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A0FD4-BBB1-4631-B792-13542183C7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484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F20A2-F648-49B6-B583-961A9B9E9422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C50C1-00A3-4435-BCEA-4901BC54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19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08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24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2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8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6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55B0FE-4AC0-4D7B-83B1-A18CD9CB8AEE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4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1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2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7908"/>
            <a:ext cx="10287000" cy="1360979"/>
          </a:xfrm>
        </p:spPr>
        <p:txBody>
          <a:bodyPr>
            <a:noAutofit/>
          </a:bodyPr>
          <a:lstStyle/>
          <a:p>
            <a:pPr algn="ctr"/>
            <a:r>
              <a:rPr lang="en-US" sz="4400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MVC </a:t>
            </a:r>
            <a:r>
              <a:rPr lang="en-US" sz="4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Java </a:t>
            </a:r>
            <a:r>
              <a:rPr lang="en-US" sz="4400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 </a:t>
            </a:r>
            <a:r>
              <a:rPr lang="en-US" sz="4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2795" y="3287010"/>
            <a:ext cx="8500403" cy="75660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 </a:t>
            </a:r>
            <a:r>
              <a:rPr lang="en-US" sz="2000" b="1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Construction &amp; Development</a:t>
            </a:r>
            <a:endParaRPr lang="en-US" sz="3200" b="1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4800600"/>
            <a:ext cx="7765366" cy="911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 Sharif Hussain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26798" y="1794727"/>
            <a:ext cx="7772400" cy="533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Week-05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991099" y="2800246"/>
            <a:ext cx="2243797" cy="482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 - 2025</a:t>
            </a:r>
          </a:p>
        </p:txBody>
      </p:sp>
    </p:spTree>
    <p:extLst>
      <p:ext uri="{BB962C8B-B14F-4D97-AF65-F5344CB8AC3E}">
        <p14:creationId xmlns:p14="http://schemas.microsoft.com/office/powerpoint/2010/main" val="207256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22" y="685800"/>
            <a:ext cx="10534358" cy="9325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22" y="1905000"/>
            <a:ext cx="10961077" cy="42672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+mj-lt"/>
              </a:rPr>
              <a:t>Model-view-controller MVC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Features Of MVC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Components of MVC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MVC Architecture Diagram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Java Spring Framework</a:t>
            </a:r>
          </a:p>
        </p:txBody>
      </p:sp>
    </p:spTree>
    <p:extLst>
      <p:ext uri="{BB962C8B-B14F-4D97-AF65-F5344CB8AC3E}">
        <p14:creationId xmlns:p14="http://schemas.microsoft.com/office/powerpoint/2010/main" val="113402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 dirty="0" smtClean="0">
                <a:solidFill>
                  <a:srgbClr val="C00000"/>
                </a:solidFill>
              </a:rPr>
              <a:t>MVC (Model-View-Controller)</a:t>
            </a:r>
            <a:endParaRPr lang="en-US" sz="4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 smtClean="0"/>
              <a:t>The </a:t>
            </a:r>
            <a:r>
              <a:rPr lang="en-US" sz="2600" dirty="0"/>
              <a:t>MVC (Model-View-Controller) is a software architectural pattern that divides an application into three components: Model, View, and Controller. Each component performs a specific role, making it ideal for web, desktop, and mobile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2931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00000"/>
                </a:solidFill>
              </a:rPr>
              <a:t>Features of </a:t>
            </a:r>
            <a:r>
              <a:rPr lang="en-US" sz="4000" dirty="0" smtClean="0">
                <a:solidFill>
                  <a:srgbClr val="C00000"/>
                </a:solidFill>
              </a:rPr>
              <a:t>MVC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b="1" dirty="0" smtClean="0">
                <a:solidFill>
                  <a:srgbClr val="C00000"/>
                </a:solidFill>
              </a:rPr>
              <a:t>Separation </a:t>
            </a:r>
            <a:r>
              <a:rPr lang="en-US" sz="2600" b="1" dirty="0">
                <a:solidFill>
                  <a:srgbClr val="C00000"/>
                </a:solidFill>
              </a:rPr>
              <a:t>of Concerns </a:t>
            </a:r>
            <a:r>
              <a:rPr lang="en-US" sz="26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</a:t>
            </a:r>
            <a:r>
              <a:rPr lang="en-US" sz="2600" b="1" dirty="0" smtClean="0">
                <a:solidFill>
                  <a:srgbClr val="C00000"/>
                </a:solidFill>
              </a:rPr>
              <a:t> </a:t>
            </a:r>
            <a:r>
              <a:rPr lang="en-US" sz="2600" dirty="0"/>
              <a:t>Divides app into Model, View, and Controller</a:t>
            </a:r>
            <a:r>
              <a:rPr lang="en-US" sz="2600" dirty="0" smtClean="0"/>
              <a:t>.</a:t>
            </a:r>
            <a:endParaRPr lang="en-US" sz="26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C00000"/>
                </a:solidFill>
              </a:rPr>
              <a:t>Reusability </a:t>
            </a:r>
            <a:r>
              <a:rPr lang="en-US" sz="2600" b="1" dirty="0">
                <a:solidFill>
                  <a:srgbClr val="C00000"/>
                </a:solidFill>
                <a:sym typeface="Wingdings" panose="05000000000000000000" pitchFamily="2" charset="2"/>
              </a:rPr>
              <a:t>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Components can be reused easily</a:t>
            </a:r>
            <a:r>
              <a:rPr lang="en-US" sz="2600" dirty="0" smtClean="0"/>
              <a:t>.</a:t>
            </a:r>
            <a:endParaRPr lang="en-US" sz="26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C00000"/>
                </a:solidFill>
              </a:rPr>
              <a:t>Maintainability </a:t>
            </a:r>
            <a:r>
              <a:rPr lang="en-US" sz="2600" b="1" dirty="0">
                <a:solidFill>
                  <a:srgbClr val="C00000"/>
                </a:solidFill>
                <a:sym typeface="Wingdings" panose="05000000000000000000" pitchFamily="2" charset="2"/>
              </a:rPr>
              <a:t></a:t>
            </a:r>
            <a:r>
              <a:rPr lang="en-US" sz="2600" dirty="0" smtClean="0"/>
              <a:t>Code </a:t>
            </a:r>
            <a:r>
              <a:rPr lang="en-US" sz="2600" dirty="0"/>
              <a:t>is simple to update and debug</a:t>
            </a:r>
            <a:r>
              <a:rPr lang="en-US" sz="2600" dirty="0" smtClean="0"/>
              <a:t>.</a:t>
            </a:r>
            <a:endParaRPr lang="en-US" sz="26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C00000"/>
                </a:solidFill>
              </a:rPr>
              <a:t>Scalability </a:t>
            </a:r>
            <a:r>
              <a:rPr lang="en-US" sz="2600" b="1" dirty="0">
                <a:solidFill>
                  <a:srgbClr val="C00000"/>
                </a:solidFill>
                <a:sym typeface="Wingdings" panose="05000000000000000000" pitchFamily="2" charset="2"/>
              </a:rPr>
              <a:t></a:t>
            </a:r>
            <a:r>
              <a:rPr lang="en-US" sz="2600" dirty="0" smtClean="0"/>
              <a:t>Easy </a:t>
            </a:r>
            <a:r>
              <a:rPr lang="en-US" sz="2600" dirty="0"/>
              <a:t>to expand and modify the application</a:t>
            </a:r>
            <a:r>
              <a:rPr lang="en-US" sz="2600" dirty="0" smtClean="0"/>
              <a:t>.</a:t>
            </a:r>
            <a:endParaRPr lang="en-US" sz="26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C00000"/>
                </a:solidFill>
              </a:rPr>
              <a:t>Parallel Development </a:t>
            </a:r>
            <a:r>
              <a:rPr lang="en-US" sz="26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</a:t>
            </a:r>
            <a:r>
              <a:rPr lang="en-US" sz="2600" dirty="0" smtClean="0"/>
              <a:t>Developers </a:t>
            </a:r>
            <a:r>
              <a:rPr lang="en-US" sz="2600" dirty="0"/>
              <a:t>can work on different parts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77187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DFA2-919C-D8EA-FE2A-8D571B4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AC5-8E1E-F01E-C8EE-19567C8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Components </a:t>
            </a:r>
            <a:r>
              <a:rPr lang="en-US" sz="4000" dirty="0">
                <a:solidFill>
                  <a:srgbClr val="C00000"/>
                </a:solidFill>
              </a:rPr>
              <a:t>of </a:t>
            </a:r>
            <a:r>
              <a:rPr lang="en-US" sz="4000" dirty="0" smtClean="0">
                <a:solidFill>
                  <a:srgbClr val="C00000"/>
                </a:solidFill>
              </a:rPr>
              <a:t>MVC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8177-0865-2BE7-E754-B0C18AE87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accent2"/>
                </a:solidFill>
              </a:rPr>
              <a:t>Model</a:t>
            </a:r>
            <a:r>
              <a:rPr lang="en-US" sz="2400" b="1" dirty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represents </a:t>
            </a:r>
            <a:r>
              <a:rPr lang="en-US" sz="2400" dirty="0"/>
              <a:t>the data and business logic of the application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It manages data, rules, and operations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Updates the View whenever the data changes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Examples: Database handling, business rules, and data validation.</a:t>
            </a:r>
          </a:p>
        </p:txBody>
      </p:sp>
    </p:spTree>
    <p:extLst>
      <p:ext uri="{BB962C8B-B14F-4D97-AF65-F5344CB8AC3E}">
        <p14:creationId xmlns:p14="http://schemas.microsoft.com/office/powerpoint/2010/main" val="58432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DFA2-919C-D8EA-FE2A-8D571B4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AC5-8E1E-F01E-C8EE-19567C8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Components </a:t>
            </a:r>
            <a:r>
              <a:rPr lang="en-US" sz="4000" dirty="0">
                <a:solidFill>
                  <a:srgbClr val="C00000"/>
                </a:solidFill>
              </a:rPr>
              <a:t>of </a:t>
            </a:r>
            <a:r>
              <a:rPr lang="en-US" sz="4000" dirty="0" smtClean="0">
                <a:solidFill>
                  <a:srgbClr val="C00000"/>
                </a:solidFill>
              </a:rPr>
              <a:t>MVC (Cont.)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8177-0865-2BE7-E754-B0C18AE87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accent2"/>
                </a:solidFill>
              </a:rPr>
              <a:t>View</a:t>
            </a:r>
            <a:r>
              <a:rPr lang="en-US" sz="2400" dirty="0" smtClean="0"/>
              <a:t> is </a:t>
            </a:r>
            <a:r>
              <a:rPr lang="en-US" sz="2400" dirty="0"/>
              <a:t>the user interface of the application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Displays data provided by the Model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Sends user actions (like clicks or input) to the Controller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Examples: Web pages, forms, dashboards, or UI elements.</a:t>
            </a:r>
          </a:p>
        </p:txBody>
      </p:sp>
    </p:spTree>
    <p:extLst>
      <p:ext uri="{BB962C8B-B14F-4D97-AF65-F5344CB8AC3E}">
        <p14:creationId xmlns:p14="http://schemas.microsoft.com/office/powerpoint/2010/main" val="37381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DFA2-919C-D8EA-FE2A-8D571B4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AC5-8E1E-F01E-C8EE-19567C8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Components </a:t>
            </a:r>
            <a:r>
              <a:rPr lang="en-US" sz="4000" dirty="0">
                <a:solidFill>
                  <a:srgbClr val="C00000"/>
                </a:solidFill>
              </a:rPr>
              <a:t>of </a:t>
            </a:r>
            <a:r>
              <a:rPr lang="en-US" sz="4000" dirty="0" smtClean="0">
                <a:solidFill>
                  <a:srgbClr val="C00000"/>
                </a:solidFill>
              </a:rPr>
              <a:t>MVC (Cont.)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8177-0865-2BE7-E754-B0C18AE87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accent2"/>
                </a:solidFill>
              </a:rPr>
              <a:t>Controller</a:t>
            </a:r>
            <a:r>
              <a:rPr lang="en-US" sz="2400" dirty="0" smtClean="0"/>
              <a:t> </a:t>
            </a:r>
            <a:r>
              <a:rPr lang="en-US" sz="2400" dirty="0"/>
              <a:t>acts as a bridge between the Model and the View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Handles user input and interprets it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Updates the Model or changes the View based on user actions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Examples: Input handling logic, routing, or event control.</a:t>
            </a:r>
          </a:p>
        </p:txBody>
      </p:sp>
    </p:spTree>
    <p:extLst>
      <p:ext uri="{BB962C8B-B14F-4D97-AF65-F5344CB8AC3E}">
        <p14:creationId xmlns:p14="http://schemas.microsoft.com/office/powerpoint/2010/main" val="259445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DFA2-919C-D8EA-FE2A-8D571B4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AC5-8E1E-F01E-C8EE-19567C8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4000" dirty="0" smtClean="0">
                <a:solidFill>
                  <a:srgbClr val="C00000"/>
                </a:solidFill>
              </a:rPr>
              <a:t>MVC </a:t>
            </a:r>
            <a:r>
              <a:rPr lang="en-US" sz="4000" dirty="0">
                <a:solidFill>
                  <a:srgbClr val="C00000"/>
                </a:solidFill>
              </a:rPr>
              <a:t>Architecture Diagram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371" y="1828800"/>
            <a:ext cx="8178217" cy="5029200"/>
          </a:xfrm>
        </p:spPr>
      </p:pic>
    </p:spTree>
    <p:extLst>
      <p:ext uri="{BB962C8B-B14F-4D97-AF65-F5344CB8AC3E}">
        <p14:creationId xmlns:p14="http://schemas.microsoft.com/office/powerpoint/2010/main" val="218375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DFA2-919C-D8EA-FE2A-8D571B4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AC5-8E1E-F01E-C8EE-19567C8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Java </a:t>
            </a:r>
            <a:r>
              <a:rPr lang="en-US" sz="4000" dirty="0">
                <a:solidFill>
                  <a:srgbClr val="C00000"/>
                </a:solidFill>
              </a:rPr>
              <a:t>Spring Framework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8177-0865-2BE7-E754-B0C18AE87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 smtClean="0"/>
              <a:t>A </a:t>
            </a:r>
            <a:r>
              <a:rPr lang="en-US" sz="2300" b="1" dirty="0">
                <a:solidFill>
                  <a:schemeClr val="accent2"/>
                </a:solidFill>
              </a:rPr>
              <a:t>framework</a:t>
            </a:r>
            <a:r>
              <a:rPr lang="en-US" sz="2300" dirty="0"/>
              <a:t> is a predefined software structure that provides ready-made tools and libraries to help developers build applications efficiently. It defines a standard way to organize and write code, making development more consistent, scalable, and easy to maintain</a:t>
            </a:r>
            <a:r>
              <a:rPr lang="en-US" sz="23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chemeClr val="accent2"/>
                </a:solidFill>
              </a:rPr>
              <a:t>Example: </a:t>
            </a:r>
            <a:r>
              <a:rPr lang="en-US" sz="2300" dirty="0"/>
              <a:t>Django (Python), Laravel (PHP), Angular (JavaScript), and Spring (Java).</a:t>
            </a:r>
          </a:p>
        </p:txBody>
      </p:sp>
    </p:spTree>
    <p:extLst>
      <p:ext uri="{BB962C8B-B14F-4D97-AF65-F5344CB8AC3E}">
        <p14:creationId xmlns:p14="http://schemas.microsoft.com/office/powerpoint/2010/main" val="19167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DFA2-919C-D8EA-FE2A-8D571B4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AC5-8E1E-F01E-C8EE-19567C8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Java </a:t>
            </a:r>
            <a:r>
              <a:rPr lang="en-US" sz="4000" dirty="0">
                <a:solidFill>
                  <a:srgbClr val="C00000"/>
                </a:solidFill>
              </a:rPr>
              <a:t>Spring </a:t>
            </a:r>
            <a:r>
              <a:rPr lang="en-US" sz="4000" dirty="0" smtClean="0">
                <a:solidFill>
                  <a:srgbClr val="C00000"/>
                </a:solidFill>
              </a:rPr>
              <a:t>Framework (Cont.)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8177-0865-2BE7-E754-B0C18AE87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b="1" dirty="0">
                <a:solidFill>
                  <a:schemeClr val="accent2"/>
                </a:solidFill>
              </a:rPr>
              <a:t>Spring Framework </a:t>
            </a:r>
            <a:r>
              <a:rPr lang="en-US" sz="2400" dirty="0"/>
              <a:t>is a </a:t>
            </a:r>
            <a:r>
              <a:rPr lang="en-US" sz="2400" b="1" dirty="0"/>
              <a:t>powerful and popular open-source framework</a:t>
            </a:r>
            <a:r>
              <a:rPr lang="en-US" sz="2400" dirty="0"/>
              <a:t> for </a:t>
            </a:r>
            <a:r>
              <a:rPr lang="en-US" sz="2400" b="1" dirty="0"/>
              <a:t>Java</a:t>
            </a:r>
            <a:r>
              <a:rPr lang="en-US" sz="2400" dirty="0"/>
              <a:t> application </a:t>
            </a:r>
            <a:r>
              <a:rPr lang="en-US" sz="2400" dirty="0" smtClean="0"/>
              <a:t>development.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It </a:t>
            </a:r>
            <a:r>
              <a:rPr lang="en-US" sz="2400" dirty="0"/>
              <a:t>is designed to simplify the </a:t>
            </a:r>
            <a:r>
              <a:rPr lang="en-US" sz="2400" b="1" dirty="0"/>
              <a:t>creation of enterprise-level applications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294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DFA2-919C-D8EA-FE2A-8D571B4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AC5-8E1E-F01E-C8EE-19567C8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Java </a:t>
            </a:r>
            <a:r>
              <a:rPr lang="en-US" sz="4000" dirty="0">
                <a:solidFill>
                  <a:srgbClr val="C00000"/>
                </a:solidFill>
              </a:rPr>
              <a:t>Spring </a:t>
            </a:r>
            <a:r>
              <a:rPr lang="en-US" sz="4000" dirty="0" smtClean="0">
                <a:solidFill>
                  <a:srgbClr val="C00000"/>
                </a:solidFill>
              </a:rPr>
              <a:t>Framework (Cont.)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8177-0865-2BE7-E754-B0C18AE87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88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accent2"/>
                </a:solidFill>
              </a:rPr>
              <a:t>MVC </a:t>
            </a:r>
            <a:r>
              <a:rPr lang="en-US" sz="2400" b="1" dirty="0">
                <a:solidFill>
                  <a:schemeClr val="accent2"/>
                </a:solidFill>
              </a:rPr>
              <a:t>in Java Enterprise Application </a:t>
            </a:r>
            <a:r>
              <a:rPr lang="en-US" sz="2400" b="1" dirty="0" smtClean="0">
                <a:solidFill>
                  <a:schemeClr val="accent2"/>
                </a:solidFill>
              </a:rPr>
              <a:t>Development:</a:t>
            </a:r>
            <a:endParaRPr lang="en-US" sz="24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030" y="3124200"/>
            <a:ext cx="6728899" cy="280035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0003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1DFA2-919C-D8EA-FE2A-8D571B4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AC5-8E1E-F01E-C8EE-19567C8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Key </a:t>
            </a:r>
            <a:r>
              <a:rPr lang="en-US" sz="4000" dirty="0">
                <a:solidFill>
                  <a:srgbClr val="C00000"/>
                </a:solidFill>
              </a:rPr>
              <a:t>Features of Spring Framework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8177-0865-2BE7-E754-B0C18AE87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Dependency </a:t>
            </a:r>
            <a:r>
              <a:rPr lang="en-US" sz="2400" b="1" dirty="0"/>
              <a:t>Injection (DI):</a:t>
            </a:r>
            <a:r>
              <a:rPr lang="en-US" sz="2400" dirty="0"/>
              <a:t> Automatically manages object </a:t>
            </a:r>
            <a:r>
              <a:rPr lang="en-US" sz="2400" dirty="0" smtClean="0"/>
              <a:t>dependencies.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Inversion </a:t>
            </a:r>
            <a:r>
              <a:rPr lang="en-US" sz="2400" b="1" dirty="0"/>
              <a:t>of Control (</a:t>
            </a:r>
            <a:r>
              <a:rPr lang="en-US" sz="2400" b="1" dirty="0" err="1"/>
              <a:t>IoC</a:t>
            </a:r>
            <a:r>
              <a:rPr lang="en-US" sz="2400" b="1" dirty="0"/>
              <a:t>):</a:t>
            </a:r>
            <a:r>
              <a:rPr lang="en-US" sz="2400" dirty="0"/>
              <a:t> The framework controls object creation and </a:t>
            </a:r>
            <a:r>
              <a:rPr lang="en-US" sz="2400" dirty="0" smtClean="0"/>
              <a:t>management.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Modularity</a:t>
            </a:r>
            <a:r>
              <a:rPr lang="en-US" sz="2400" b="1" dirty="0"/>
              <a:t>:</a:t>
            </a:r>
            <a:r>
              <a:rPr lang="en-US" sz="2400" dirty="0"/>
              <a:t> Developers can use only the needed components (Spring Core, Spring MVC, Spring Boot, etc</a:t>
            </a:r>
            <a:r>
              <a:rPr lang="en-US" sz="2400" dirty="0" smtClean="0"/>
              <a:t>.).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Spring </a:t>
            </a:r>
            <a:r>
              <a:rPr lang="en-US" sz="2400" b="1" dirty="0"/>
              <a:t>MVC:</a:t>
            </a:r>
            <a:r>
              <a:rPr lang="en-US" sz="2400" dirty="0"/>
              <a:t> Provides a structured way to build web applications using the Model-View-Controller </a:t>
            </a:r>
            <a:r>
              <a:rPr lang="en-US" sz="2400" dirty="0" smtClean="0"/>
              <a:t>pattern.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Integration</a:t>
            </a:r>
            <a:r>
              <a:rPr lang="en-US" sz="2400" b="1" dirty="0"/>
              <a:t>:</a:t>
            </a:r>
            <a:r>
              <a:rPr lang="en-US" sz="2400" dirty="0"/>
              <a:t> Works well with databases, web services, and other Java technologies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805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576887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514600"/>
            <a:ext cx="8229600" cy="2209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...?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6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20445</TotalTime>
  <Words>476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Retrospect</vt:lpstr>
      <vt:lpstr>MVC and Java Spring Framework</vt:lpstr>
      <vt:lpstr>Contents</vt:lpstr>
      <vt:lpstr>MVC (Model-View-Controller)</vt:lpstr>
      <vt:lpstr>Features of MVC</vt:lpstr>
      <vt:lpstr>Components of MVC</vt:lpstr>
      <vt:lpstr>Components of MVC (Cont.)</vt:lpstr>
      <vt:lpstr>Components of MVC (Cont.)</vt:lpstr>
      <vt:lpstr>MVC Architecture Diagram</vt:lpstr>
      <vt:lpstr>Java Spring Framework</vt:lpstr>
      <vt:lpstr>Java Spring Framework (Cont.)</vt:lpstr>
      <vt:lpstr>Java Spring Framework (Cont.)</vt:lpstr>
      <vt:lpstr>Key Features of Spring Framework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CS2053 - Discrete Structures  (Discrete Mathematics) Spring 2025</dc:title>
  <cp:lastModifiedBy>HP</cp:lastModifiedBy>
  <cp:revision>429</cp:revision>
  <cp:lastPrinted>2012-09-04T14:09:35Z</cp:lastPrinted>
  <dcterms:created xsi:type="dcterms:W3CDTF">2012-08-29T04:16:05Z</dcterms:created>
  <dcterms:modified xsi:type="dcterms:W3CDTF">2025-10-19T11:52:24Z</dcterms:modified>
</cp:coreProperties>
</file>
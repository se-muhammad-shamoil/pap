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8" r:id="rId3"/>
    <p:sldId id="334" r:id="rId4"/>
    <p:sldId id="335" r:id="rId5"/>
    <p:sldId id="337" r:id="rId6"/>
    <p:sldId id="336" r:id="rId7"/>
    <p:sldId id="341" r:id="rId8"/>
    <p:sldId id="338" r:id="rId9"/>
    <p:sldId id="339" r:id="rId10"/>
    <p:sldId id="340" r:id="rId11"/>
    <p:sldId id="342" r:id="rId12"/>
    <p:sldId id="344" r:id="rId13"/>
    <p:sldId id="345" r:id="rId14"/>
    <p:sldId id="346" r:id="rId15"/>
    <p:sldId id="347" r:id="rId16"/>
    <p:sldId id="313" r:id="rId17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743D03-5BBA-44B0-A4E6-E48149041E6D}">
          <p14:sldIdLst>
            <p14:sldId id="256"/>
            <p14:sldId id="308"/>
            <p14:sldId id="334"/>
            <p14:sldId id="335"/>
            <p14:sldId id="337"/>
            <p14:sldId id="336"/>
            <p14:sldId id="341"/>
            <p14:sldId id="338"/>
            <p14:sldId id="339"/>
            <p14:sldId id="340"/>
            <p14:sldId id="342"/>
            <p14:sldId id="344"/>
            <p14:sldId id="345"/>
            <p14:sldId id="346"/>
            <p14:sldId id="347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4709" autoAdjust="0"/>
  </p:normalViewPr>
  <p:slideViewPr>
    <p:cSldViewPr>
      <p:cViewPr varScale="1">
        <p:scale>
          <a:sx n="68" d="100"/>
          <a:sy n="68" d="100"/>
        </p:scale>
        <p:origin x="79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F8751-8426-4E45-B653-996E53C24DF5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0FD4-BBB1-4631-B792-13542183C7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84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F20A2-F648-49B6-B583-961A9B9E9422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C50C1-00A3-4435-BCEA-4901BC54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9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8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4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55B0FE-4AC0-4D7B-83B1-A18CD9CB8AEE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2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406767"/>
            <a:ext cx="8382000" cy="1106612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Java Programming</a:t>
            </a:r>
            <a:endParaRPr lang="en-US" sz="4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2797" y="3326719"/>
            <a:ext cx="8500403" cy="75660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</a:t>
            </a:r>
            <a:r>
              <a:rPr lang="en-US" sz="3200" b="1" cap="none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b="1" cap="none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Construction &amp; Development</a:t>
            </a:r>
            <a:endParaRPr lang="en-US" sz="3200" b="1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4800600"/>
            <a:ext cx="7765366" cy="911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 Sharif Hussain</a:t>
            </a:r>
          </a:p>
          <a:p>
            <a:pPr>
              <a:buFont typeface="Arial" pitchFamily="34" charset="0"/>
              <a:buNone/>
              <a:defRPr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C-Block  5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Floor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26798" y="1868141"/>
            <a:ext cx="7772400" cy="533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Week-2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050301" y="2778962"/>
            <a:ext cx="2243797" cy="482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- 2025</a:t>
            </a:r>
          </a:p>
        </p:txBody>
      </p:sp>
    </p:spTree>
    <p:extLst>
      <p:ext uri="{BB962C8B-B14F-4D97-AF65-F5344CB8AC3E}">
        <p14:creationId xmlns:p14="http://schemas.microsoft.com/office/powerpoint/2010/main" val="207256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22" y="685800"/>
            <a:ext cx="10534358" cy="9325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22" y="1905000"/>
            <a:ext cx="10961077" cy="426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Introduction to Java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Key Characteristics of </a:t>
            </a:r>
            <a:r>
              <a:rPr lang="en-US" sz="2400" dirty="0">
                <a:latin typeface="+mj-lt"/>
              </a:rPr>
              <a:t>Java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Java Environment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Fundamental programming structure in java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Java syntax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+mj-lt"/>
              </a:rPr>
              <a:t>Java Data Types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+mj-lt"/>
              </a:rPr>
              <a:t>Number Systems In </a:t>
            </a:r>
            <a:r>
              <a:rPr lang="en-US" altLang="en-US" sz="2400" dirty="0">
                <a:latin typeface="+mj-lt"/>
              </a:rPr>
              <a:t>Java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Logical operators</a:t>
            </a:r>
            <a:r>
              <a:rPr lang="en-US" altLang="en-US" sz="2400" dirty="0">
                <a:latin typeface="+mj-lt"/>
              </a:rPr>
              <a:t> In Java 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402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Key Introduction to </a:t>
            </a:r>
            <a:r>
              <a:rPr lang="en-US" sz="4500" dirty="0">
                <a:solidFill>
                  <a:srgbClr val="C00000"/>
                </a:solidFill>
              </a:rPr>
              <a:t>Java 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rgbClr val="C00000"/>
                </a:solidFill>
              </a:rPr>
              <a:t>Java</a:t>
            </a:r>
            <a:r>
              <a:rPr lang="en-US" sz="2400" dirty="0" smtClean="0"/>
              <a:t> </a:t>
            </a:r>
            <a:r>
              <a:rPr lang="en-US" sz="2400" dirty="0"/>
              <a:t>is a high-level, object-oriented language released in 1995 by Sun Microsystems, now owned by Oracle. It is known for its “Write Once, Run Anywhere” feature, allowing programs to run on any device with a Java Virtual Machine (JVM).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7690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Key </a:t>
            </a:r>
            <a:r>
              <a:rPr lang="en-US" sz="4500" dirty="0">
                <a:solidFill>
                  <a:srgbClr val="C00000"/>
                </a:solidFill>
              </a:rPr>
              <a:t>Characteristics </a:t>
            </a:r>
            <a:r>
              <a:rPr lang="en-US" sz="4500" dirty="0">
                <a:solidFill>
                  <a:srgbClr val="C00000"/>
                </a:solidFill>
              </a:rPr>
              <a:t>of </a:t>
            </a:r>
            <a:r>
              <a:rPr lang="en-US" sz="4500" dirty="0" smtClean="0">
                <a:solidFill>
                  <a:srgbClr val="C00000"/>
                </a:solidFill>
              </a:rPr>
              <a:t>Java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Object-Oriented</a:t>
            </a:r>
            <a:r>
              <a:rPr lang="en-US" sz="2400" b="1" dirty="0"/>
              <a:t>: </a:t>
            </a:r>
            <a:r>
              <a:rPr lang="en-US" sz="2400" dirty="0"/>
              <a:t>Uses objects and classes for easy coding and reuse.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Platform </a:t>
            </a:r>
            <a:r>
              <a:rPr lang="en-US" sz="2400" b="1" dirty="0"/>
              <a:t>Independent: </a:t>
            </a:r>
            <a:r>
              <a:rPr lang="en-US" sz="2400" dirty="0"/>
              <a:t>Runs on any device with JVM.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Robust</a:t>
            </a:r>
            <a:r>
              <a:rPr lang="en-US" sz="2400" b="1" dirty="0"/>
              <a:t>: </a:t>
            </a:r>
            <a:r>
              <a:rPr lang="en-US" sz="2400" dirty="0"/>
              <a:t>Strong error checking and memory management.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Secure</a:t>
            </a:r>
            <a:r>
              <a:rPr lang="en-US" sz="2400" b="1" dirty="0"/>
              <a:t>: </a:t>
            </a:r>
            <a:r>
              <a:rPr lang="en-US" sz="2400" dirty="0"/>
              <a:t>Provides built-in security features.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Multithreaded</a:t>
            </a:r>
            <a:r>
              <a:rPr lang="en-US" sz="2400" b="1" dirty="0"/>
              <a:t>: </a:t>
            </a:r>
            <a:r>
              <a:rPr lang="en-US" sz="2400" dirty="0"/>
              <a:t>Runs many tasks at the same time.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High </a:t>
            </a:r>
            <a:r>
              <a:rPr lang="en-US" sz="2400" b="1" dirty="0"/>
              <a:t>Performance: </a:t>
            </a:r>
            <a:r>
              <a:rPr lang="en-US" sz="2400" dirty="0"/>
              <a:t>JIT (Just-In-Time </a:t>
            </a:r>
            <a:r>
              <a:rPr lang="en-US" sz="2400" dirty="0" smtClean="0"/>
              <a:t>compiler) compiler </a:t>
            </a:r>
            <a:r>
              <a:rPr lang="en-US" sz="2400" dirty="0"/>
              <a:t>makes programs run faster.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5335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Java </a:t>
            </a:r>
            <a:r>
              <a:rPr lang="en-US" sz="4100" dirty="0">
                <a:solidFill>
                  <a:srgbClr val="C00000"/>
                </a:solidFill>
              </a:rPr>
              <a:t>E</a:t>
            </a:r>
            <a:r>
              <a:rPr lang="en-US" sz="4100" dirty="0" smtClean="0">
                <a:solidFill>
                  <a:srgbClr val="C00000"/>
                </a:solidFill>
              </a:rPr>
              <a:t>nvironment 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Java environment is the complete setup required to develop and run Java programs. It consists of: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JDK </a:t>
            </a:r>
            <a:r>
              <a:rPr lang="en-US" sz="2400" b="1" dirty="0"/>
              <a:t>(Java Development Kit): </a:t>
            </a:r>
            <a:r>
              <a:rPr lang="en-US" sz="2400" dirty="0"/>
              <a:t>Provides tools to write, compile, and run Java programs.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JRE </a:t>
            </a:r>
            <a:r>
              <a:rPr lang="en-US" sz="2400" b="1" dirty="0"/>
              <a:t>(Java Runtime Environment): </a:t>
            </a:r>
            <a:r>
              <a:rPr lang="en-US" sz="2400" dirty="0"/>
              <a:t>Contains libraries and the JVM to run Java programs.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JVM </a:t>
            </a:r>
            <a:r>
              <a:rPr lang="en-US" sz="2400" b="1" dirty="0"/>
              <a:t>(Java Virtual Machine): </a:t>
            </a:r>
            <a:r>
              <a:rPr lang="en-US" sz="2400" dirty="0"/>
              <a:t>Executes Java bytecode on any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291267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Popular </a:t>
            </a:r>
            <a:r>
              <a:rPr lang="en-US" sz="4500" dirty="0">
                <a:solidFill>
                  <a:srgbClr val="C00000"/>
                </a:solidFill>
              </a:rPr>
              <a:t>Java </a:t>
            </a:r>
            <a:r>
              <a:rPr lang="en-US" sz="4500" dirty="0" smtClean="0">
                <a:solidFill>
                  <a:srgbClr val="C00000"/>
                </a:solidFill>
              </a:rPr>
              <a:t>IDEs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IntelliJ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IDEA → </a:t>
            </a:r>
            <a:r>
              <a:rPr lang="en-US" sz="2400" dirty="0"/>
              <a:t>Most powerful IDE, widely used in industry.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Eclipse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sz="2400" dirty="0"/>
              <a:t>Free and open-source, best for large projects.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NetBeans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sz="2400" dirty="0"/>
              <a:t>Beginner-friendly with built-in features.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BlueJ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sz="2400" dirty="0"/>
              <a:t>Lightweight and simple, ideal for students.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JDeveloper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sz="2400" dirty="0"/>
              <a:t>Oracle’s official IDE, best for enterprise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7511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Fundamental </a:t>
            </a:r>
            <a:r>
              <a:rPr lang="en-US" sz="4100" dirty="0">
                <a:solidFill>
                  <a:srgbClr val="C00000"/>
                </a:solidFill>
              </a:rPr>
              <a:t>programming structure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Variables </a:t>
            </a:r>
            <a:r>
              <a:rPr lang="en-US" sz="2400" b="1" dirty="0"/>
              <a:t>&amp; Data Types – </a:t>
            </a:r>
            <a:r>
              <a:rPr lang="en-US" sz="2400" dirty="0"/>
              <a:t>Used to store and manage data (e.g., </a:t>
            </a:r>
            <a:r>
              <a:rPr lang="en-US" sz="2400" dirty="0" err="1"/>
              <a:t>int</a:t>
            </a:r>
            <a:r>
              <a:rPr lang="en-US" sz="2400" dirty="0"/>
              <a:t>, float, String).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Operators </a:t>
            </a:r>
            <a:r>
              <a:rPr lang="en-US" sz="2400" b="1" dirty="0"/>
              <a:t>– </a:t>
            </a:r>
            <a:r>
              <a:rPr lang="en-US" sz="2400" dirty="0"/>
              <a:t>Symbols that perform operations (e.g., +, -, *, /).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Control </a:t>
            </a:r>
            <a:r>
              <a:rPr lang="en-US" sz="2400" b="1" dirty="0"/>
              <a:t>Statements – </a:t>
            </a:r>
            <a:r>
              <a:rPr lang="en-US" sz="2400" dirty="0"/>
              <a:t>Decide the flow of a program (e.g., if-else, switch).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Loops </a:t>
            </a:r>
            <a:r>
              <a:rPr lang="en-US" sz="2400" b="1" dirty="0"/>
              <a:t>– </a:t>
            </a:r>
            <a:r>
              <a:rPr lang="en-US" sz="2400" dirty="0"/>
              <a:t>Repeat tasks (e.g., for, while, do-while).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Methods </a:t>
            </a:r>
            <a:r>
              <a:rPr lang="en-US" sz="2400" b="1" dirty="0"/>
              <a:t>– </a:t>
            </a:r>
            <a:r>
              <a:rPr lang="en-US" sz="2400" dirty="0"/>
              <a:t>Blocks of code that perform specific tasks and can be reused.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Classes </a:t>
            </a:r>
            <a:r>
              <a:rPr lang="en-US" sz="2400" b="1" dirty="0"/>
              <a:t>&amp; Objects – </a:t>
            </a:r>
            <a:r>
              <a:rPr lang="en-US" sz="2400" dirty="0"/>
              <a:t>Core part of OOP; a class is a blueprint, and objects are created from it.</a:t>
            </a:r>
          </a:p>
        </p:txBody>
      </p:sp>
    </p:spTree>
    <p:extLst>
      <p:ext uri="{BB962C8B-B14F-4D97-AF65-F5344CB8AC3E}">
        <p14:creationId xmlns:p14="http://schemas.microsoft.com/office/powerpoint/2010/main" val="129223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Java </a:t>
            </a:r>
            <a:r>
              <a:rPr lang="en-US" altLang="en-US" sz="4100" dirty="0">
                <a:solidFill>
                  <a:srgbClr val="C00000"/>
                </a:solidFill>
              </a:rPr>
              <a:t>syntax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Java </a:t>
            </a:r>
            <a:r>
              <a:rPr lang="en-US" altLang="en-US" sz="2200" dirty="0"/>
              <a:t>syntax is the set of rules that define how Java code must be written and structured, such as using classes, methods, semicolons, curly braces {}, and proper keywords. </a:t>
            </a:r>
            <a:endParaRPr lang="en-US" altLang="en-US" sz="2200" dirty="0" smtClean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rgbClr val="C00000"/>
                </a:solidFill>
              </a:rPr>
              <a:t>Example :-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27" y="3581400"/>
            <a:ext cx="6303506" cy="213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2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Java syntax (Cont.)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 sz="24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400" dirty="0">
                <a:solidFill>
                  <a:schemeClr val="tx1"/>
                </a:solidFill>
              </a:rPr>
              <a:t>Makes the class or method accessible </a:t>
            </a:r>
            <a:r>
              <a:rPr lang="en-US" altLang="en-US" sz="2400" dirty="0" smtClean="0">
                <a:solidFill>
                  <a:schemeClr val="tx1"/>
                </a:solidFill>
              </a:rPr>
              <a:t>anywhere.</a:t>
            </a:r>
            <a:endParaRPr lang="en-US" altLang="en-US" sz="4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Class Main </a:t>
            </a:r>
            <a:r>
              <a:rPr lang="en-US" alt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400" dirty="0">
                <a:solidFill>
                  <a:schemeClr val="tx1"/>
                </a:solidFill>
              </a:rPr>
              <a:t>Defines a class named Main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  <a:endParaRPr lang="en-US" altLang="en-US" sz="4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{ </a:t>
            </a:r>
            <a:r>
              <a:rPr lang="en-US" alt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} → </a:t>
            </a:r>
            <a:r>
              <a:rPr lang="en-US" altLang="en-US" sz="2400" dirty="0">
                <a:solidFill>
                  <a:schemeClr val="tx1"/>
                </a:solidFill>
              </a:rPr>
              <a:t>Encloses the body of class or </a:t>
            </a:r>
            <a:r>
              <a:rPr lang="en-US" altLang="en-US" sz="2400" dirty="0" smtClean="0">
                <a:solidFill>
                  <a:schemeClr val="tx1"/>
                </a:solidFill>
              </a:rPr>
              <a:t>method.</a:t>
            </a:r>
            <a:endParaRPr lang="en-US" altLang="en-US" sz="4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Public static </a:t>
            </a:r>
            <a:r>
              <a:rPr lang="en-US" alt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void main(String[] </a:t>
            </a:r>
            <a:r>
              <a:rPr lang="en-US" alt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) → </a:t>
            </a:r>
            <a:r>
              <a:rPr lang="en-US" altLang="en-US" sz="2400" dirty="0">
                <a:solidFill>
                  <a:schemeClr val="tx1"/>
                </a:solidFill>
              </a:rPr>
              <a:t>Starting point of the </a:t>
            </a:r>
            <a:r>
              <a:rPr lang="en-US" altLang="en-US" sz="2400" dirty="0" smtClean="0">
                <a:solidFill>
                  <a:schemeClr val="tx1"/>
                </a:solidFill>
              </a:rPr>
              <a:t>program.</a:t>
            </a:r>
            <a:endParaRPr lang="en-US" altLang="en-US" sz="4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200" dirty="0">
                <a:solidFill>
                  <a:schemeClr val="tx1"/>
                </a:solidFill>
              </a:rPr>
              <a:t>Main method is accessible </a:t>
            </a:r>
            <a:r>
              <a:rPr lang="en-US" altLang="en-US" sz="2200" dirty="0" smtClean="0">
                <a:solidFill>
                  <a:schemeClr val="tx1"/>
                </a:solidFill>
              </a:rPr>
              <a:t>everywhere.</a:t>
            </a:r>
            <a:endParaRPr lang="en-US" altLang="en-US" sz="38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200" dirty="0">
                <a:solidFill>
                  <a:schemeClr val="tx1"/>
                </a:solidFill>
              </a:rPr>
              <a:t>Runs without creating an </a:t>
            </a:r>
            <a:r>
              <a:rPr lang="en-US" altLang="en-US" sz="2200" dirty="0" smtClean="0">
                <a:solidFill>
                  <a:schemeClr val="tx1"/>
                </a:solidFill>
              </a:rPr>
              <a:t>object.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void </a:t>
            </a:r>
            <a:r>
              <a:rPr lang="en-US" alt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200" dirty="0">
                <a:solidFill>
                  <a:schemeClr val="tx1"/>
                </a:solidFill>
              </a:rPr>
              <a:t>Method returns nothing</a:t>
            </a:r>
            <a:r>
              <a:rPr lang="en-US" altLang="en-US" sz="2200" dirty="0" smtClean="0">
                <a:solidFill>
                  <a:schemeClr val="tx1"/>
                </a:solidFill>
              </a:rPr>
              <a:t>.</a:t>
            </a:r>
            <a:endParaRPr lang="en-US" altLang="en-US" sz="3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7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Java syntax (Cont.)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String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[] </a:t>
            </a:r>
            <a:r>
              <a:rPr lang="en-US" alt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 → </a:t>
            </a:r>
            <a:r>
              <a:rPr lang="en-US" altLang="en-US" sz="2800" dirty="0">
                <a:solidFill>
                  <a:schemeClr val="tx1"/>
                </a:solidFill>
              </a:rPr>
              <a:t>Stores command-line </a:t>
            </a:r>
            <a:r>
              <a:rPr lang="en-US" altLang="en-US" sz="2800" dirty="0" smtClean="0">
                <a:solidFill>
                  <a:schemeClr val="tx1"/>
                </a:solidFill>
              </a:rPr>
              <a:t>input.</a:t>
            </a:r>
            <a:endParaRPr lang="en-US" altLang="en-US" sz="44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("Hello, Java!"); → </a:t>
            </a:r>
            <a:r>
              <a:rPr lang="en-US" altLang="en-US" sz="2800" dirty="0">
                <a:solidFill>
                  <a:schemeClr val="tx1"/>
                </a:solidFill>
              </a:rPr>
              <a:t>Prints text on </a:t>
            </a:r>
            <a:r>
              <a:rPr lang="en-US" altLang="en-US" sz="2800" dirty="0" smtClean="0">
                <a:solidFill>
                  <a:schemeClr val="tx1"/>
                </a:solidFill>
              </a:rPr>
              <a:t>screen.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System 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400" dirty="0">
                <a:solidFill>
                  <a:schemeClr val="tx1"/>
                </a:solidFill>
              </a:rPr>
              <a:t>A built-in Java </a:t>
            </a:r>
            <a:r>
              <a:rPr lang="en-US" altLang="en-US" sz="2400" dirty="0" smtClean="0">
                <a:solidFill>
                  <a:schemeClr val="tx1"/>
                </a:solidFill>
              </a:rPr>
              <a:t>class.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out 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400" dirty="0">
                <a:solidFill>
                  <a:schemeClr val="tx1"/>
                </a:solidFill>
              </a:rPr>
              <a:t>Output object of </a:t>
            </a:r>
            <a:r>
              <a:rPr lang="en-US" altLang="en-US" sz="2400" dirty="0" smtClean="0">
                <a:solidFill>
                  <a:schemeClr val="tx1"/>
                </a:solidFill>
              </a:rPr>
              <a:t>System.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 err="1">
                <a:solidFill>
                  <a:schemeClr val="tx1"/>
                </a:solidFill>
                <a:latin typeface="Consolas" panose="020B0609020204030204" pitchFamily="49" charset="0"/>
              </a:rPr>
              <a:t>println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400" dirty="0">
                <a:solidFill>
                  <a:schemeClr val="tx1"/>
                </a:solidFill>
              </a:rPr>
              <a:t>Prints text with a new line.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800" dirty="0">
                <a:solidFill>
                  <a:schemeClr val="tx1"/>
                </a:solidFill>
              </a:rPr>
              <a:t>Ends the statement</a:t>
            </a:r>
            <a:r>
              <a:rPr lang="en-US" altLang="en-US" sz="2800" dirty="0" smtClean="0">
                <a:solidFill>
                  <a:schemeClr val="tx1"/>
                </a:solidFill>
              </a:rPr>
              <a:t>.</a:t>
            </a:r>
            <a:endParaRPr lang="en-US" altLang="en-US" sz="4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46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Java Data </a:t>
            </a:r>
            <a:r>
              <a:rPr lang="en-US" altLang="en-US" sz="4100" dirty="0">
                <a:solidFill>
                  <a:srgbClr val="C00000"/>
                </a:solidFill>
              </a:rPr>
              <a:t>Types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dirty="0" smtClean="0">
                <a:solidFill>
                  <a:schemeClr val="tx1"/>
                </a:solidFill>
              </a:rPr>
              <a:t>Data types </a:t>
            </a:r>
            <a:r>
              <a:rPr lang="en-US" altLang="en-US" sz="2800" dirty="0">
                <a:solidFill>
                  <a:schemeClr val="tx1"/>
                </a:solidFill>
              </a:rPr>
              <a:t>define what kind of data a variable can store.</a:t>
            </a:r>
          </a:p>
          <a:p>
            <a:pPr marL="806958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600" dirty="0">
                <a:solidFill>
                  <a:schemeClr val="tx1"/>
                </a:solidFill>
              </a:rPr>
              <a:t>Primitive Data Types</a:t>
            </a:r>
          </a:p>
          <a:p>
            <a:pPr marL="806958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600" dirty="0">
                <a:solidFill>
                  <a:schemeClr val="tx1"/>
                </a:solidFill>
              </a:rPr>
              <a:t>Non-Primitive (Reference) Data Types</a:t>
            </a:r>
            <a:endParaRPr lang="en-US" altLang="en-US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615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Java </a:t>
            </a:r>
            <a:r>
              <a:rPr lang="en-US" altLang="en-US" sz="4100" dirty="0">
                <a:solidFill>
                  <a:srgbClr val="C00000"/>
                </a:solidFill>
              </a:rPr>
              <a:t>Data </a:t>
            </a:r>
            <a:r>
              <a:rPr lang="en-US" altLang="en-US" sz="4100" dirty="0" smtClean="0">
                <a:solidFill>
                  <a:srgbClr val="C00000"/>
                </a:solidFill>
              </a:rPr>
              <a:t>Types (Cont.)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dirty="0" smtClean="0">
                <a:solidFill>
                  <a:schemeClr val="tx1"/>
                </a:solidFill>
              </a:rPr>
              <a:t>Primitive </a:t>
            </a:r>
            <a:r>
              <a:rPr lang="en-US" altLang="en-US" sz="2800" b="1" dirty="0">
                <a:solidFill>
                  <a:schemeClr val="tx1"/>
                </a:solidFill>
              </a:rPr>
              <a:t>Data Types (built-in, 8 types):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 smtClean="0">
                <a:solidFill>
                  <a:srgbClr val="C00000"/>
                </a:solidFill>
                <a:latin typeface="Consolas" panose="020B0609020204030204" pitchFamily="49" charset="0"/>
              </a:rPr>
              <a:t>byte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1 byte, stores small numbers (–128 to 127).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short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2 bytes, stores medium numbers (–32,768 to 32,767).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4 bytes, stores whole numbers (–2 billion to 2 billion).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long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8 bytes, stores very large numbers.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float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4 bytes, stores decimal numbers (up to 7 digits).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double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8 bytes, stores decimal numbers (up to 15 digits).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char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2 bytes, stores a single character (e.g., 'A', 'b').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boolean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600" b="1" dirty="0">
                <a:solidFill>
                  <a:srgbClr val="C00000"/>
                </a:solidFill>
                <a:latin typeface="Consolas" panose="020B0609020204030204" pitchFamily="49" charset="0"/>
              </a:rPr>
              <a:t>→ </a:t>
            </a:r>
            <a:r>
              <a:rPr lang="en-US" altLang="en-US" sz="2600" dirty="0">
                <a:solidFill>
                  <a:schemeClr val="tx1"/>
                </a:solidFill>
              </a:rPr>
              <a:t>1 bit, stores true or false</a:t>
            </a:r>
            <a:r>
              <a:rPr lang="en-US" altLang="en-US" sz="2600" dirty="0" smtClean="0">
                <a:solidFill>
                  <a:schemeClr val="tx1"/>
                </a:solidFill>
              </a:rPr>
              <a:t>.</a:t>
            </a:r>
            <a:endParaRPr lang="en-US" altLang="en-US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988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Java </a:t>
            </a:r>
            <a:r>
              <a:rPr lang="en-US" altLang="en-US" sz="4100" dirty="0">
                <a:solidFill>
                  <a:srgbClr val="C00000"/>
                </a:solidFill>
              </a:rPr>
              <a:t>Data </a:t>
            </a:r>
            <a:r>
              <a:rPr lang="en-US" altLang="en-US" sz="4100" dirty="0" smtClean="0">
                <a:solidFill>
                  <a:srgbClr val="C00000"/>
                </a:solidFill>
              </a:rPr>
              <a:t>Types (Cont.)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100" b="1" dirty="0">
                <a:solidFill>
                  <a:schemeClr val="tx1"/>
                </a:solidFill>
              </a:rPr>
              <a:t>Non-Primitive (Reference) Data Types</a:t>
            </a:r>
            <a:r>
              <a:rPr lang="en-US" altLang="en-US" sz="3100" b="1" dirty="0" smtClean="0">
                <a:solidFill>
                  <a:schemeClr val="tx1"/>
                </a:solidFill>
              </a:rPr>
              <a:t>:</a:t>
            </a:r>
            <a:endParaRPr lang="en-US" altLang="en-US" sz="3100" b="1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900" dirty="0">
                <a:solidFill>
                  <a:schemeClr val="tx1"/>
                </a:solidFill>
              </a:rPr>
              <a:t>Includes String, Arrays, Classes, Interfaces, Objects.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900" dirty="0">
                <a:solidFill>
                  <a:schemeClr val="tx1"/>
                </a:solidFill>
              </a:rPr>
              <a:t>Used </a:t>
            </a:r>
            <a:r>
              <a:rPr lang="en-US" altLang="en-US" sz="2900" dirty="0">
                <a:solidFill>
                  <a:schemeClr val="tx1"/>
                </a:solidFill>
              </a:rPr>
              <a:t>to store complex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2418921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4100" dirty="0" smtClean="0">
                <a:solidFill>
                  <a:srgbClr val="C00000"/>
                </a:solidFill>
              </a:rPr>
              <a:t>Number Systems In Java 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800" dirty="0" smtClean="0">
                <a:solidFill>
                  <a:schemeClr val="tx1"/>
                </a:solidFill>
              </a:rPr>
              <a:t>Java </a:t>
            </a:r>
            <a:r>
              <a:rPr lang="en-US" altLang="en-US" sz="2800" dirty="0">
                <a:solidFill>
                  <a:schemeClr val="tx1"/>
                </a:solidFill>
              </a:rPr>
              <a:t>supports different number systems: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600" b="1" dirty="0" smtClean="0">
                <a:solidFill>
                  <a:srgbClr val="C00000"/>
                </a:solidFill>
              </a:rPr>
              <a:t>Decimal </a:t>
            </a:r>
            <a:r>
              <a:rPr lang="en-US" altLang="en-US" sz="2600" b="1" dirty="0">
                <a:solidFill>
                  <a:srgbClr val="C00000"/>
                </a:solidFill>
              </a:rPr>
              <a:t>(base 10) → </a:t>
            </a:r>
            <a:r>
              <a:rPr lang="en-US" altLang="en-US" sz="2600" dirty="0">
                <a:solidFill>
                  <a:schemeClr val="tx1"/>
                </a:solidFill>
              </a:rPr>
              <a:t>normal numbers (e.g., </a:t>
            </a:r>
            <a:r>
              <a:rPr lang="en-US" altLang="en-US" sz="2600" dirty="0" smtClean="0">
                <a:solidFill>
                  <a:schemeClr val="tx1"/>
                </a:solidFill>
              </a:rPr>
              <a:t>100)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600" b="1" dirty="0">
                <a:solidFill>
                  <a:srgbClr val="C00000"/>
                </a:solidFill>
              </a:rPr>
              <a:t>Binary </a:t>
            </a:r>
            <a:r>
              <a:rPr lang="en-US" altLang="en-US" sz="2600" b="1" dirty="0">
                <a:solidFill>
                  <a:srgbClr val="C00000"/>
                </a:solidFill>
              </a:rPr>
              <a:t>(base 2) → </a:t>
            </a:r>
            <a:r>
              <a:rPr lang="en-US" altLang="en-US" sz="2600" dirty="0">
                <a:solidFill>
                  <a:schemeClr val="tx1"/>
                </a:solidFill>
              </a:rPr>
              <a:t>prefix 0b (e.g., </a:t>
            </a:r>
            <a:r>
              <a:rPr lang="en-US" altLang="en-US" sz="2600" dirty="0" smtClean="0">
                <a:solidFill>
                  <a:schemeClr val="tx1"/>
                </a:solidFill>
              </a:rPr>
              <a:t>0b1010)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600" b="1" dirty="0">
                <a:solidFill>
                  <a:srgbClr val="C00000"/>
                </a:solidFill>
              </a:rPr>
              <a:t>Octal </a:t>
            </a:r>
            <a:r>
              <a:rPr lang="en-US" altLang="en-US" sz="2600" b="1" dirty="0">
                <a:solidFill>
                  <a:srgbClr val="C00000"/>
                </a:solidFill>
              </a:rPr>
              <a:t>(base 8) → </a:t>
            </a:r>
            <a:r>
              <a:rPr lang="en-US" altLang="en-US" sz="2600" dirty="0">
                <a:solidFill>
                  <a:schemeClr val="tx1"/>
                </a:solidFill>
              </a:rPr>
              <a:t>prefix 0 (e.g., </a:t>
            </a:r>
            <a:r>
              <a:rPr lang="en-US" altLang="en-US" sz="2600" dirty="0" smtClean="0">
                <a:solidFill>
                  <a:schemeClr val="tx1"/>
                </a:solidFill>
              </a:rPr>
              <a:t>075)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600" b="1" dirty="0">
                <a:solidFill>
                  <a:srgbClr val="C00000"/>
                </a:solidFill>
              </a:rPr>
              <a:t>Hexadecimal </a:t>
            </a:r>
            <a:r>
              <a:rPr lang="en-US" altLang="en-US" sz="2600" b="1" dirty="0">
                <a:solidFill>
                  <a:srgbClr val="C00000"/>
                </a:solidFill>
              </a:rPr>
              <a:t>(base 16) → </a:t>
            </a:r>
            <a:r>
              <a:rPr lang="en-US" altLang="en-US" sz="2600" dirty="0">
                <a:solidFill>
                  <a:schemeClr val="tx1"/>
                </a:solidFill>
              </a:rPr>
              <a:t>prefix 0x (e.g., 0x1A)</a:t>
            </a:r>
          </a:p>
        </p:txBody>
      </p:sp>
    </p:spTree>
    <p:extLst>
      <p:ext uri="{BB962C8B-B14F-4D97-AF65-F5344CB8AC3E}">
        <p14:creationId xmlns:p14="http://schemas.microsoft.com/office/powerpoint/2010/main" val="661854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Logical </a:t>
            </a:r>
            <a:r>
              <a:rPr lang="en-US" sz="4100" dirty="0">
                <a:solidFill>
                  <a:srgbClr val="C00000"/>
                </a:solidFill>
              </a:rPr>
              <a:t>operators</a:t>
            </a:r>
            <a:r>
              <a:rPr lang="en-US" altLang="en-US" sz="4100" dirty="0">
                <a:solidFill>
                  <a:srgbClr val="C00000"/>
                </a:solidFill>
              </a:rPr>
              <a:t> In </a:t>
            </a:r>
            <a:r>
              <a:rPr lang="en-US" altLang="en-US" sz="4100" dirty="0" smtClean="0">
                <a:solidFill>
                  <a:srgbClr val="C00000"/>
                </a:solidFill>
              </a:rPr>
              <a:t>Java 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dirty="0">
                <a:solidFill>
                  <a:schemeClr val="tx1"/>
                </a:solidFill>
              </a:rPr>
              <a:t>Logical </a:t>
            </a:r>
            <a:r>
              <a:rPr lang="en-US" sz="2400" dirty="0">
                <a:solidFill>
                  <a:schemeClr val="tx1"/>
                </a:solidFill>
              </a:rPr>
              <a:t>operators are used to combine or compare </a:t>
            </a:r>
            <a:r>
              <a:rPr lang="en-US" sz="2400" dirty="0" err="1">
                <a:solidFill>
                  <a:schemeClr val="tx1"/>
                </a:solidFill>
              </a:rPr>
              <a:t>boolean</a:t>
            </a:r>
            <a:r>
              <a:rPr lang="en-US" sz="2400" dirty="0">
                <a:solidFill>
                  <a:schemeClr val="tx1"/>
                </a:solidFill>
              </a:rPr>
              <a:t> (true/false) values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C00000"/>
                </a:solidFill>
              </a:rPr>
              <a:t>AND (&amp;&amp;) → </a:t>
            </a:r>
            <a:r>
              <a:rPr lang="en-US" altLang="en-US" sz="2400" dirty="0">
                <a:solidFill>
                  <a:schemeClr val="tx1"/>
                </a:solidFill>
              </a:rPr>
              <a:t>true only if both conditions are true.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C00000"/>
                </a:solidFill>
              </a:rPr>
              <a:t>OR </a:t>
            </a:r>
            <a:r>
              <a:rPr lang="en-US" altLang="en-US" sz="2400" b="1" dirty="0">
                <a:solidFill>
                  <a:srgbClr val="C00000"/>
                </a:solidFill>
              </a:rPr>
              <a:t>(||) → </a:t>
            </a:r>
            <a:r>
              <a:rPr lang="en-US" altLang="en-US" sz="2400" dirty="0">
                <a:solidFill>
                  <a:schemeClr val="tx1"/>
                </a:solidFill>
              </a:rPr>
              <a:t>true if at least one condition is true.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C00000"/>
                </a:solidFill>
              </a:rPr>
              <a:t>NOT </a:t>
            </a:r>
            <a:r>
              <a:rPr lang="en-US" altLang="en-US" sz="2400" b="1" dirty="0">
                <a:solidFill>
                  <a:srgbClr val="C00000"/>
                </a:solidFill>
              </a:rPr>
              <a:t>(!) → </a:t>
            </a:r>
            <a:r>
              <a:rPr lang="en-US" altLang="en-US" sz="2400" dirty="0">
                <a:solidFill>
                  <a:schemeClr val="tx1"/>
                </a:solidFill>
              </a:rPr>
              <a:t>reverses the value (true becomes false, </a:t>
            </a:r>
            <a:r>
              <a:rPr lang="en-US" altLang="en-US" sz="2400" dirty="0" smtClean="0">
                <a:solidFill>
                  <a:schemeClr val="tx1"/>
                </a:solidFill>
              </a:rPr>
              <a:t>false </a:t>
            </a:r>
            <a:r>
              <a:rPr lang="en-US" altLang="en-US" sz="2400" dirty="0">
                <a:solidFill>
                  <a:schemeClr val="tx1"/>
                </a:solidFill>
              </a:rPr>
              <a:t>becomes true</a:t>
            </a:r>
            <a:r>
              <a:rPr lang="en-US" altLang="en-US" sz="2400" dirty="0" smtClean="0">
                <a:solidFill>
                  <a:schemeClr val="tx1"/>
                </a:solidFill>
              </a:rPr>
              <a:t>).</a:t>
            </a:r>
          </a:p>
          <a:p>
            <a:pPr marL="20116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solidFill>
                  <a:schemeClr val="tx1"/>
                </a:solidFill>
              </a:rPr>
              <a:t>Example: 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713" b="10721"/>
          <a:stretch/>
        </p:blipFill>
        <p:spPr>
          <a:xfrm>
            <a:off x="2819400" y="4135186"/>
            <a:ext cx="7607570" cy="211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39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576887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14600"/>
            <a:ext cx="8229600" cy="2209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...?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629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19802</TotalTime>
  <Words>858</Words>
  <Application>Microsoft Office PowerPoint</Application>
  <PresentationFormat>Widescreen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Wingdings</vt:lpstr>
      <vt:lpstr>Retrospect</vt:lpstr>
      <vt:lpstr>Introduction To Java Programming</vt:lpstr>
      <vt:lpstr>Contents</vt:lpstr>
      <vt:lpstr>Key Introduction to Java </vt:lpstr>
      <vt:lpstr>Key Characteristics of Java</vt:lpstr>
      <vt:lpstr>Java Environment </vt:lpstr>
      <vt:lpstr>Popular Java IDEs</vt:lpstr>
      <vt:lpstr>Fundamental programming structure in java</vt:lpstr>
      <vt:lpstr>Java syntax</vt:lpstr>
      <vt:lpstr>Java syntax (Cont.)</vt:lpstr>
      <vt:lpstr>Java syntax (Cont.)</vt:lpstr>
      <vt:lpstr>Java Data Types</vt:lpstr>
      <vt:lpstr>Java Data Types (Cont.)</vt:lpstr>
      <vt:lpstr>Java Data Types (Cont.)</vt:lpstr>
      <vt:lpstr>Number Systems In Java </vt:lpstr>
      <vt:lpstr>Logical operators In Java 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CS2053 - Discrete Structures  (Discrete Mathematics) Spring 2025</dc:title>
  <cp:lastModifiedBy>Sharif  Hussain</cp:lastModifiedBy>
  <cp:revision>280</cp:revision>
  <cp:lastPrinted>2012-09-04T14:09:35Z</cp:lastPrinted>
  <dcterms:created xsi:type="dcterms:W3CDTF">2012-08-29T04:16:05Z</dcterms:created>
  <dcterms:modified xsi:type="dcterms:W3CDTF">2025-09-24T07:38:52Z</dcterms:modified>
</cp:coreProperties>
</file>